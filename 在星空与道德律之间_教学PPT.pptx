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theme/theme2.xml" ContentType="application/vnd.openxmlformats-officedocument.theme+xml"/>
  <Override PartName="/ppt/slides/slide14.xml" ContentType="application/vnd.openxmlformats-officedocument.presentationml.slide+xml"/>
  <Override PartName="/ppt/slides/slide47.xml" ContentType="application/vnd.openxmlformats-officedocument.presentationml.slide+xml"/>
  <Override PartName="/ppt/slides/slide11.xml" ContentType="application/vnd.openxmlformats-officedocument.presentationml.slide+xml"/>
  <Override PartName="/ppt/slides/slide27.xml" ContentType="application/vnd.openxmlformats-officedocument.presentationml.slide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slides/slide51.xml" ContentType="application/vnd.openxmlformats-officedocument.presentationml.slide+xml"/>
  <Override PartName="/ppt/slides/slide30.xml" ContentType="application/vnd.openxmlformats-officedocument.presentationml.slide+xml"/>
  <Override PartName="/ppt/slides/slide21.xml" ContentType="application/vnd.openxmlformats-officedocument.presentationml.slide+xml"/>
  <Override PartName="/ppt/slides/slide17.xml" ContentType="application/vnd.openxmlformats-officedocument.presentationml.slide+xml"/>
  <Override PartName="/ppt/slides/slide15.xml" ContentType="application/vnd.openxmlformats-officedocument.presentationml.slide+xml"/>
  <Override PartName="/ppt/slides/slide4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25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34.xml" ContentType="application/vnd.openxmlformats-officedocument.presentationml.slide+xml"/>
  <Override PartName="/ppt/slides/slide41.xml" ContentType="application/vnd.openxmlformats-officedocument.presentationml.slide+xml"/>
  <Override PartName="/ppt/slides/slide24.xml" ContentType="application/vnd.openxmlformats-officedocument.presentationml.slide+xml"/>
  <Override PartName="/ppt/slides/slide45.xml" ContentType="application/vnd.openxmlformats-officedocument.presentationml.slide+xml"/>
  <Override PartName="/ppt/slides/slide10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56.xml" ContentType="application/vnd.openxmlformats-officedocument.presentationml.slide+xml"/>
  <Override PartName="/ppt/slides/slide23.xml" ContentType="application/vnd.openxmlformats-officedocument.presentationml.slide+xml"/>
  <Override PartName="/ppt/slides/slide36.xml" ContentType="application/vnd.openxmlformats-officedocument.presentationml.slide+xml"/>
  <Override PartName="/ppt/slides/slide19.xml" ContentType="application/vnd.openxmlformats-officedocument.presentationml.slide+xml"/>
  <Override PartName="/ppt/slides/slide35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33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2.xml" ContentType="application/vnd.openxmlformats-officedocument.presentationml.slide+xml"/>
  <Override PartName="/ppt/slides/slide6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38.xml" ContentType="application/vnd.openxmlformats-officedocument.presentationml.slide+xml"/>
  <Override PartName="/ppt/slides/slide49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53.xml" ContentType="application/vnd.openxmlformats-officedocument.presentationml.slide+xml"/>
  <Override PartName="/ppt/slides/slide55.xml" ContentType="application/vnd.openxmlformats-officedocument.presentationml.slide+xml"/>
  <Override PartName="/ppt/slides/slide22.xml" ContentType="application/vnd.openxmlformats-officedocument.presentationml.slide+xml"/>
  <Override PartName="/ppt/slides/slide26.xml" ContentType="application/vnd.openxmlformats-officedocument.presentationml.slide+xml"/>
  <Override PartName="/ppt/slides/slide44.xml" ContentType="application/vnd.openxmlformats-officedocument.presentationml.slide+xml"/>
  <Override PartName="/ppt/slides/slide28.xml" ContentType="application/vnd.openxmlformats-officedocument.presentationml.slide+xml"/>
  <Override PartName="/ppt/slides/slide54.xml" ContentType="application/vnd.openxmlformats-officedocument.presentationml.slide+xml"/>
  <Override PartName="/ppt/slides/slide58.xml" ContentType="application/vnd.openxmlformats-officedocument.presentationml.slide+xml"/>
  <Override PartName="/ppt/slides/slide50.xml" ContentType="application/vnd.openxmlformats-officedocument.presentationml.slide+xml"/>
  <Override PartName="/ppt/slides/slide29.xml" ContentType="application/vnd.openxmlformats-officedocument.presentationml.slide+xml"/>
  <Override PartName="/ppt/slides/slide6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32.xml" ContentType="application/vnd.openxmlformats-officedocument.presentationml.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31.xml" ContentType="application/vnd.openxmlformats-officedocument.presentationml.slide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slides/slide59.xml" ContentType="application/vnd.openxmlformats-officedocument.presentationml.slide+xml"/>
  <Override PartName="/docProps/core.xml" ContentType="application/vnd.openxmlformats-package.core-properties+xml"/>
  <Override PartName="/ppt/slides/slide57.xml" ContentType="application/vnd.openxmlformats-officedocument.presentationml.slide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6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64" Type="http://schemas.openxmlformats.org/officeDocument/2006/relationships/viewProps" Target="viewProps.xml" /><Relationship Id="rId62" Type="http://schemas.openxmlformats.org/officeDocument/2006/relationships/presProps" Target="presProps.xml" /><Relationship Id="rId61" Type="http://schemas.openxmlformats.org/officeDocument/2006/relationships/notesMaster" Target="notesMasters/notesMaster1.xml" /><Relationship Id="rId6" Type="http://schemas.openxmlformats.org/officeDocument/2006/relationships/slide" Target="slides/slide6.xml" /><Relationship Id="rId58" Type="http://schemas.openxmlformats.org/officeDocument/2006/relationships/slide" Target="slides/slide58.xml" /><Relationship Id="rId57" Type="http://schemas.openxmlformats.org/officeDocument/2006/relationships/slide" Target="slides/slide57.xml" /><Relationship Id="rId56" Type="http://schemas.openxmlformats.org/officeDocument/2006/relationships/slide" Target="slides/slide56.xml" /><Relationship Id="rId55" Type="http://schemas.openxmlformats.org/officeDocument/2006/relationships/slide" Target="slides/slide55.xml" /><Relationship Id="rId54" Type="http://schemas.openxmlformats.org/officeDocument/2006/relationships/slide" Target="slides/slide54.xml" /><Relationship Id="rId53" Type="http://schemas.openxmlformats.org/officeDocument/2006/relationships/slide" Target="slides/slide53.xml" /><Relationship Id="rId52" Type="http://schemas.openxmlformats.org/officeDocument/2006/relationships/slide" Target="slides/slide52.xml" /><Relationship Id="rId22" Type="http://schemas.openxmlformats.org/officeDocument/2006/relationships/slide" Target="slides/slide22.xml" /><Relationship Id="rId5" Type="http://schemas.openxmlformats.org/officeDocument/2006/relationships/slide" Target="slides/slide5.xml" /><Relationship Id="rId49" Type="http://schemas.openxmlformats.org/officeDocument/2006/relationships/slide" Target="slides/slide49.xml" /><Relationship Id="rId60" Type="http://schemas.openxmlformats.org/officeDocument/2006/relationships/slide" Target="slides/slide60.xml" /><Relationship Id="rId50" Type="http://schemas.openxmlformats.org/officeDocument/2006/relationships/slide" Target="slides/slide50.xml" /><Relationship Id="rId46" Type="http://schemas.openxmlformats.org/officeDocument/2006/relationships/slide" Target="slides/slide46.xml" /><Relationship Id="rId4" Type="http://schemas.openxmlformats.org/officeDocument/2006/relationships/slide" Target="slides/slide4.xml" /><Relationship Id="rId44" Type="http://schemas.openxmlformats.org/officeDocument/2006/relationships/slide" Target="slides/slide44.xml" /><Relationship Id="rId37" Type="http://schemas.openxmlformats.org/officeDocument/2006/relationships/slide" Target="slides/slide37.xml" /><Relationship Id="rId43" Type="http://schemas.openxmlformats.org/officeDocument/2006/relationships/slide" Target="slides/slide43.xml" /><Relationship Id="rId40" Type="http://schemas.openxmlformats.org/officeDocument/2006/relationships/slide" Target="slides/slide40.xml" /><Relationship Id="rId38" Type="http://schemas.openxmlformats.org/officeDocument/2006/relationships/slide" Target="slides/slide38.xml" /><Relationship Id="rId39" Type="http://schemas.openxmlformats.org/officeDocument/2006/relationships/slide" Target="slides/slide39.xml" /><Relationship Id="rId35" Type="http://schemas.openxmlformats.org/officeDocument/2006/relationships/slide" Target="slides/slide35.xml" /><Relationship Id="rId59" Type="http://schemas.openxmlformats.org/officeDocument/2006/relationships/slide" Target="slides/slide59.xml" /><Relationship Id="rId19" Type="http://schemas.openxmlformats.org/officeDocument/2006/relationships/slide" Target="slides/slide19.xml" /><Relationship Id="rId34" Type="http://schemas.openxmlformats.org/officeDocument/2006/relationships/slide" Target="slides/slide34.xml" /><Relationship Id="rId32" Type="http://schemas.openxmlformats.org/officeDocument/2006/relationships/slide" Target="slides/slide32.xml" /><Relationship Id="rId36" Type="http://schemas.openxmlformats.org/officeDocument/2006/relationships/slide" Target="slides/slide36.xml" /><Relationship Id="rId23" Type="http://schemas.openxmlformats.org/officeDocument/2006/relationships/slide" Target="slides/slide23.xml" /><Relationship Id="rId3" Type="http://schemas.openxmlformats.org/officeDocument/2006/relationships/slide" Target="slides/slide3.xml" /><Relationship Id="rId2" Type="http://schemas.openxmlformats.org/officeDocument/2006/relationships/slide" Target="slides/slide2.xml" /><Relationship Id="rId29" Type="http://schemas.openxmlformats.org/officeDocument/2006/relationships/slide" Target="slides/slide29.xml" /><Relationship Id="rId45" Type="http://schemas.openxmlformats.org/officeDocument/2006/relationships/slide" Target="slides/slide45.xml" /><Relationship Id="rId42" Type="http://schemas.openxmlformats.org/officeDocument/2006/relationships/slide" Target="slides/slide42.xml" /><Relationship Id="rId41" Type="http://schemas.openxmlformats.org/officeDocument/2006/relationships/slide" Target="slides/slide41.xml" /><Relationship Id="rId28" Type="http://schemas.openxmlformats.org/officeDocument/2006/relationships/slide" Target="slides/slide28.xml" /><Relationship Id="rId33" Type="http://schemas.openxmlformats.org/officeDocument/2006/relationships/slide" Target="slides/slide33.xml" /><Relationship Id="rId24" Type="http://schemas.openxmlformats.org/officeDocument/2006/relationships/slide" Target="slides/slide24.xml" /><Relationship Id="rId20" Type="http://schemas.openxmlformats.org/officeDocument/2006/relationships/slide" Target="slides/slide20.xml" /><Relationship Id="rId18" Type="http://schemas.openxmlformats.org/officeDocument/2006/relationships/slide" Target="slides/slide18.xml" /><Relationship Id="rId25" Type="http://schemas.openxmlformats.org/officeDocument/2006/relationships/slide" Target="slides/slide25.xml" /><Relationship Id="rId7" Type="http://schemas.openxmlformats.org/officeDocument/2006/relationships/slide" Target="slides/slide7.xml" /><Relationship Id="rId1" Type="http://schemas.openxmlformats.org/officeDocument/2006/relationships/slide" Target="slides/slide1.xml" /><Relationship Id="rId16" Type="http://schemas.openxmlformats.org/officeDocument/2006/relationships/slide" Target="slides/slide16.xml" /><Relationship Id="rId15" Type="http://schemas.openxmlformats.org/officeDocument/2006/relationships/slide" Target="slides/slide15.xml" /><Relationship Id="rId17" Type="http://schemas.openxmlformats.org/officeDocument/2006/relationships/slide" Target="slides/slide17.xml" /><Relationship Id="rId21" Type="http://schemas.openxmlformats.org/officeDocument/2006/relationships/slide" Target="slides/slide21.xml" /><Relationship Id="rId48" Type="http://schemas.openxmlformats.org/officeDocument/2006/relationships/slide" Target="slides/slide48.xml" /><Relationship Id="rId30" Type="http://schemas.openxmlformats.org/officeDocument/2006/relationships/slide" Target="slides/slide30.xml" /><Relationship Id="rId0" Type="http://schemas.openxmlformats.org/officeDocument/2006/relationships/slideMaster" Target="slideMasters/slideMaster1.xml" /><Relationship Id="rId51" Type="http://schemas.openxmlformats.org/officeDocument/2006/relationships/slide" Target="slides/slide51.xml" /><Relationship Id="rId26" Type="http://schemas.openxmlformats.org/officeDocument/2006/relationships/slide" Target="slides/slide26.xml" /><Relationship Id="rId63" Type="http://schemas.openxmlformats.org/officeDocument/2006/relationships/tableStyles" Target="tableStyles.xml" /><Relationship Id="rId10" Type="http://schemas.openxmlformats.org/officeDocument/2006/relationships/slide" Target="slides/slide10.xml" /><Relationship Id="rId31" Type="http://schemas.openxmlformats.org/officeDocument/2006/relationships/slide" Target="slides/slide31.xml" /><Relationship Id="rId13" Type="http://schemas.openxmlformats.org/officeDocument/2006/relationships/slide" Target="slides/slide13.xml" /><Relationship Id="rId27" Type="http://schemas.openxmlformats.org/officeDocument/2006/relationships/slide" Target="slides/slide27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47" Type="http://schemas.openxmlformats.org/officeDocument/2006/relationships/slide" Target="slides/slide47.xml" /><Relationship Id="rId14" Type="http://schemas.openxmlformats.org/officeDocument/2006/relationships/slide" Target="slides/slide14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C1411"/>
          </a:solidFill>
          <a:ln/>
        </p:spPr>
        <p:txBody>
          <a:bodyPr/>
          <a:p>
            <a:pPr/>
            <a:endParaRPr/>
          </a:p>
        </p:txBody>
      </p:sp>
      <p:sp>
        <p:nvSpPr>
          <p:cNvPr id="3" name=""/>
          <p:cNvSpPr/>
          <p:nvPr/>
        </p:nvSpPr>
        <p:spPr>
          <a:xfrm rot="0" flipH="0" flipV="0">
            <a:off x="8763000" y="0"/>
            <a:ext cx="3429000" cy="6858000"/>
          </a:xfrm>
          <a:prstGeom prst="rect">
            <a:avLst/>
          </a:prstGeom>
          <a:solidFill>
            <a:srgbClr val="241C19"/>
          </a:solidFill>
          <a:ln/>
        </p:spPr>
        <p:txBody>
          <a:bodyPr/>
          <a:p>
            <a:pPr/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85800" y="1381125"/>
            <a:ext cx="10820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BBB0AD"/>
                </a:solidFill>
                <a:latin typeface="思源黑体"/>
                <a:ea typeface="思源黑体"/>
              </a:rPr>
              <a:t>通识课讲义</a:t>
            </a:r>
            <a:r>
              <a:rPr lang="en-US" sz="1350">
                <a:solidFill>
                  <a:srgbClr val="BBB0AD"/>
                </a:solidFill>
                <a:latin typeface="思源黑体"/>
                <a:ea typeface="思源黑体"/>
              </a:rPr>
              <a:t> · 60 </a:t>
            </a:r>
            <a:r>
              <a:rPr lang="zh-CN" sz="1350">
                <a:solidFill>
                  <a:srgbClr val="BBB0AD"/>
                </a:solidFill>
                <a:latin typeface="思源黑体"/>
                <a:ea typeface="思源黑体"/>
              </a:rPr>
              <a:t>页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85800" y="1819275"/>
            <a:ext cx="10820400" cy="19812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5400" b="1">
                <a:solidFill>
                  <a:srgbClr val="FEFCF8"/>
                </a:solidFill>
                <a:latin typeface="霞鹜文楷"/>
                <a:ea typeface="霞鹜文楷"/>
              </a:rPr>
              <a:t>在星空与</a:t>
            </a:r>
            <a:endParaRPr/>
          </a:p>
          <a:p>
            <a:pPr>
              <a:lnSpc>
                <a:spcPct val="120000"/>
              </a:lnSpc>
            </a:pPr>
            <a:r>
              <a:rPr lang="zh-CN" sz="5400" b="1">
                <a:solidFill>
                  <a:srgbClr val="FEFCF8"/>
                </a:solidFill>
                <a:latin typeface="霞鹜文楷"/>
                <a:ea typeface="霞鹜文楷"/>
              </a:rPr>
              <a:t>道德律之间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85800" y="4029075"/>
            <a:ext cx="108204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BBB0AD"/>
                </a:solidFill>
                <a:latin typeface="霞鹜文楷"/>
                <a:ea typeface="霞鹜文楷"/>
              </a:rPr>
              <a:t>一部有趣的哲学史</a:t>
            </a:r>
            <a:r>
              <a:rPr lang="en-US" sz="1950">
                <a:solidFill>
                  <a:srgbClr val="BBB0AD"/>
                </a:solidFill>
                <a:latin typeface="霞鹜文楷"/>
                <a:ea typeface="霞鹜文楷"/>
              </a:rPr>
              <a:t> · </a:t>
            </a:r>
            <a:r>
              <a:rPr lang="zh-CN" sz="1950">
                <a:solidFill>
                  <a:srgbClr val="BBB0AD"/>
                </a:solidFill>
                <a:latin typeface="霞鹜文楷"/>
                <a:ea typeface="霞鹜文楷"/>
              </a:rPr>
              <a:t>教学课件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85800" y="4448175"/>
            <a:ext cx="10820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FA8A5"/>
                </a:solidFill>
                <a:latin typeface="霞鹜文楷"/>
                <a:ea typeface="霞鹜文楷"/>
              </a:rPr>
              <a:t>从孔子、苏格拉底到维特根斯坦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85800" y="5286375"/>
            <a:ext cx="10820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E8581"/>
                </a:solidFill>
                <a:latin typeface="思源黑体"/>
                <a:ea typeface="思源黑体"/>
              </a:rPr>
              <a:t>配合《在星空与道德律之间》扩写增订版使用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2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28575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800" b="1">
                <a:solidFill>
                  <a:srgbClr val="33241F"/>
                </a:solidFill>
                <a:latin typeface="霞鹜文楷"/>
                <a:ea typeface="霞鹜文楷"/>
              </a:rPr>
              <a:t>目录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571500" y="1419225"/>
            <a:ext cx="285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8E8581"/>
                </a:solidFill>
                <a:latin typeface="思源黑体"/>
                <a:ea typeface="思源黑体"/>
              </a:rPr>
              <a:t>CONTENTS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571500" y="1857375"/>
            <a:ext cx="685800" cy="19050"/>
          </a:xfrm>
          <a:prstGeom prst="rect">
            <a:avLst/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3962400" y="114300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684F48"/>
                </a:solidFill>
                <a:latin typeface="思源黑体"/>
                <a:ea typeface="思源黑体"/>
              </a:rPr>
              <a:t>01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4476750" y="1152525"/>
            <a:ext cx="6629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33241F"/>
                </a:solidFill>
                <a:latin typeface="霞鹜文楷"/>
                <a:ea typeface="霞鹜文楷"/>
              </a:rPr>
              <a:t>导论：当一只蝙蝠倒挂在哲学系门口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11239500" y="1152525"/>
            <a:ext cx="381000" cy="2095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350">
                <a:solidFill>
                  <a:srgbClr val="8E8581"/>
                </a:solidFill>
                <a:latin typeface="思源黑体"/>
                <a:ea typeface="思源黑体"/>
              </a:rPr>
              <a:t>6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3962400" y="150495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684F48"/>
                </a:solidFill>
                <a:latin typeface="思源黑体"/>
                <a:ea typeface="思源黑体"/>
              </a:rPr>
              <a:t>02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4476750" y="1514475"/>
            <a:ext cx="6629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33241F"/>
                </a:solidFill>
                <a:latin typeface="霞鹜文楷"/>
                <a:ea typeface="霞鹜文楷"/>
              </a:rPr>
              <a:t>先秦诸子：礼崩乐坏中开出的一树繁花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11239500" y="1514475"/>
            <a:ext cx="381000" cy="2095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350">
                <a:solidFill>
                  <a:srgbClr val="8E8581"/>
                </a:solidFill>
                <a:latin typeface="思源黑体"/>
                <a:ea typeface="思源黑体"/>
              </a:rPr>
              <a:t>10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3962400" y="186690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684F48"/>
                </a:solidFill>
                <a:latin typeface="思源黑体"/>
                <a:ea typeface="思源黑体"/>
              </a:rPr>
              <a:t>03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4476750" y="1876425"/>
            <a:ext cx="6629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33241F"/>
                </a:solidFill>
                <a:latin typeface="霞鹜文楷"/>
                <a:ea typeface="霞鹜文楷"/>
              </a:rPr>
              <a:t>印度与波斯：在苦难与火焰之间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11239500" y="1876425"/>
            <a:ext cx="381000" cy="2095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350">
                <a:solidFill>
                  <a:srgbClr val="8E8581"/>
                </a:solidFill>
                <a:latin typeface="思源黑体"/>
                <a:ea typeface="思源黑体"/>
              </a:rPr>
              <a:t>14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3962400" y="222885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684F48"/>
                </a:solidFill>
                <a:latin typeface="思源黑体"/>
                <a:ea typeface="思源黑体"/>
              </a:rPr>
              <a:t>04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4476750" y="2238375"/>
            <a:ext cx="6629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33241F"/>
                </a:solidFill>
                <a:latin typeface="霞鹜文楷"/>
                <a:ea typeface="霞鹜文楷"/>
              </a:rPr>
              <a:t>古希腊黎明：一群仰望星空的人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11239500" y="2238375"/>
            <a:ext cx="381000" cy="2095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350">
                <a:solidFill>
                  <a:srgbClr val="8E8581"/>
                </a:solidFill>
                <a:latin typeface="思源黑体"/>
                <a:ea typeface="思源黑体"/>
              </a:rPr>
              <a:t>18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3962400" y="259080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684F48"/>
                </a:solidFill>
                <a:latin typeface="思源黑体"/>
                <a:ea typeface="思源黑体"/>
              </a:rPr>
              <a:t>05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4476750" y="2600325"/>
            <a:ext cx="6629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33241F"/>
                </a:solidFill>
                <a:latin typeface="霞鹜文楷"/>
                <a:ea typeface="霞鹜文楷"/>
              </a:rPr>
              <a:t>柏拉图与亚里士多德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11239500" y="2600325"/>
            <a:ext cx="381000" cy="2095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350">
                <a:solidFill>
                  <a:srgbClr val="8E8581"/>
                </a:solidFill>
                <a:latin typeface="思源黑体"/>
                <a:ea typeface="思源黑体"/>
              </a:rPr>
              <a:t>22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3962400" y="295275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684F48"/>
                </a:solidFill>
                <a:latin typeface="思源黑体"/>
                <a:ea typeface="思源黑体"/>
              </a:rPr>
              <a:t>06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4476750" y="2962275"/>
            <a:ext cx="6629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33241F"/>
                </a:solidFill>
                <a:latin typeface="霞鹜文楷"/>
                <a:ea typeface="霞鹜文楷"/>
              </a:rPr>
              <a:t>希腊化与罗马：哲学成为避难所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11239500" y="2962275"/>
            <a:ext cx="381000" cy="2095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350">
                <a:solidFill>
                  <a:srgbClr val="8E8581"/>
                </a:solidFill>
                <a:latin typeface="思源黑体"/>
                <a:ea typeface="思源黑体"/>
              </a:rPr>
              <a:t>26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3962400" y="331470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684F48"/>
                </a:solidFill>
                <a:latin typeface="思源黑体"/>
                <a:ea typeface="思源黑体"/>
              </a:rPr>
              <a:t>07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4476750" y="3324225"/>
            <a:ext cx="6629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33241F"/>
                </a:solidFill>
                <a:latin typeface="霞鹜文楷"/>
                <a:ea typeface="霞鹜文楷"/>
              </a:rPr>
              <a:t>中世纪：当理性成为信仰的仆人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11239500" y="3324225"/>
            <a:ext cx="381000" cy="2095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350">
                <a:solidFill>
                  <a:srgbClr val="8E8581"/>
                </a:solidFill>
                <a:latin typeface="思源黑体"/>
                <a:ea typeface="思源黑体"/>
              </a:rPr>
              <a:t>30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3962400" y="367665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684F48"/>
                </a:solidFill>
                <a:latin typeface="思源黑体"/>
                <a:ea typeface="思源黑体"/>
              </a:rPr>
              <a:t>08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4476750" y="3686175"/>
            <a:ext cx="6629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33241F"/>
                </a:solidFill>
                <a:latin typeface="霞鹜文楷"/>
                <a:ea typeface="霞鹜文楷"/>
              </a:rPr>
              <a:t>近代觉醒：笛卡尔与理性主义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11239500" y="3686175"/>
            <a:ext cx="381000" cy="2095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350">
                <a:solidFill>
                  <a:srgbClr val="8E8581"/>
                </a:solidFill>
                <a:latin typeface="思源黑体"/>
                <a:ea typeface="思源黑体"/>
              </a:rPr>
              <a:t>34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3962400" y="403860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684F48"/>
                </a:solidFill>
                <a:latin typeface="思源黑体"/>
                <a:ea typeface="思源黑体"/>
              </a:rPr>
              <a:t>09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4476750" y="4048125"/>
            <a:ext cx="6629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33241F"/>
                </a:solidFill>
                <a:latin typeface="霞鹜文楷"/>
                <a:ea typeface="霞鹜文楷"/>
              </a:rPr>
              <a:t>经验主义与启蒙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11239500" y="4048125"/>
            <a:ext cx="381000" cy="2095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350">
                <a:solidFill>
                  <a:srgbClr val="8E8581"/>
                </a:solidFill>
                <a:latin typeface="思源黑体"/>
                <a:ea typeface="思源黑体"/>
              </a:rPr>
              <a:t>38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3962400" y="440055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684F48"/>
                </a:solidFill>
                <a:latin typeface="思源黑体"/>
                <a:ea typeface="思源黑体"/>
              </a:rPr>
              <a:t>10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4476750" y="4410075"/>
            <a:ext cx="6629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33241F"/>
                </a:solidFill>
                <a:latin typeface="霞鹜文楷"/>
                <a:ea typeface="霞鹜文楷"/>
              </a:rPr>
              <a:t>康德与德国古典哲学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11239500" y="4410075"/>
            <a:ext cx="381000" cy="2095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350">
                <a:solidFill>
                  <a:srgbClr val="8E8581"/>
                </a:solidFill>
                <a:latin typeface="思源黑体"/>
                <a:ea typeface="思源黑体"/>
              </a:rPr>
              <a:t>42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3962400" y="476250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684F48"/>
                </a:solidFill>
                <a:latin typeface="思源黑体"/>
                <a:ea typeface="思源黑体"/>
              </a:rPr>
              <a:t>11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4476750" y="4772025"/>
            <a:ext cx="6629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33241F"/>
                </a:solidFill>
                <a:latin typeface="霞鹜文楷"/>
                <a:ea typeface="霞鹜文楷"/>
              </a:rPr>
              <a:t>现代性的裂缝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11239500" y="4772025"/>
            <a:ext cx="381000" cy="2095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350">
                <a:solidFill>
                  <a:srgbClr val="8E8581"/>
                </a:solidFill>
                <a:latin typeface="思源黑体"/>
                <a:ea typeface="思源黑体"/>
              </a:rPr>
              <a:t>46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3962400" y="512445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684F48"/>
                </a:solidFill>
                <a:latin typeface="思源黑体"/>
                <a:ea typeface="思源黑体"/>
              </a:rPr>
              <a:t>12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4476750" y="5133975"/>
            <a:ext cx="6629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33241F"/>
                </a:solidFill>
                <a:latin typeface="霞鹜文楷"/>
                <a:ea typeface="霞鹜文楷"/>
              </a:rPr>
              <a:t>二十世纪：语言、权力与荒谬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11239500" y="5133975"/>
            <a:ext cx="381000" cy="2095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350">
                <a:solidFill>
                  <a:srgbClr val="8E8581"/>
                </a:solidFill>
                <a:latin typeface="思源黑体"/>
                <a:ea typeface="思源黑体"/>
              </a:rPr>
              <a:t>50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3962400" y="548640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684F48"/>
                </a:solidFill>
                <a:latin typeface="思源黑体"/>
                <a:ea typeface="思源黑体"/>
              </a:rPr>
              <a:t>13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4476750" y="5495925"/>
            <a:ext cx="6629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33241F"/>
                </a:solidFill>
                <a:latin typeface="霞鹜文楷"/>
                <a:ea typeface="霞鹜文楷"/>
              </a:rPr>
              <a:t>结语：哲学还活着吗？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11239500" y="5495925"/>
            <a:ext cx="381000" cy="2095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350">
                <a:solidFill>
                  <a:srgbClr val="8E8581"/>
                </a:solidFill>
                <a:latin typeface="思源黑体"/>
                <a:ea typeface="思源黑体"/>
              </a:rPr>
              <a:t>55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4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课程导言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571500" y="89535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33241F"/>
                </a:solidFill>
                <a:latin typeface="霞鹜文楷"/>
                <a:ea typeface="霞鹜文楷"/>
              </a:rPr>
              <a:t>哲学史不是名词表，是一部连续剧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571500" y="1495425"/>
            <a:ext cx="11049000" cy="9525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436" name=""/>
          <p:cNvSpPr/>
          <p:nvPr/>
        </p:nvSpPr>
        <p:spPr>
          <a:xfrm rot="0" flipH="0" flipV="0">
            <a:off x="571500" y="1752600"/>
            <a:ext cx="4000500" cy="2381250"/>
          </a:xfrm>
          <a:prstGeom prst="roundRect">
            <a:avLst>
              <a:gd name="adj" fmla="val 6400"/>
            </a:avLst>
          </a:prstGeom>
          <a:solidFill>
            <a:srgbClr val="1C1411"/>
          </a:solidFill>
          <a:ln/>
        </p:spPr>
        <p:txBody>
          <a:bodyPr/>
          <a:p>
            <a:pPr/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876300" y="2057400"/>
            <a:ext cx="3390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BB0AD"/>
                </a:solidFill>
                <a:latin typeface="思源黑体"/>
                <a:ea typeface="思源黑体"/>
              </a:rPr>
              <a:t>为什么要读哲学史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876300" y="2381250"/>
            <a:ext cx="3390900" cy="4286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EFCF8"/>
                </a:solidFill>
                <a:latin typeface="霞鹜文楷"/>
                <a:ea typeface="霞鹜文楷"/>
              </a:rPr>
              <a:t>哲学首先是动词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876300" y="2943225"/>
            <a:ext cx="33909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BBB0AD"/>
                </a:solidFill>
                <a:latin typeface="思源黑体"/>
                <a:ea typeface="思源黑体"/>
              </a:rPr>
              <a:t>它首先是「正在追问」这个动作本身，而不是一摞等着背诵的标准答案。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4953000" y="1752600"/>
            <a:ext cx="666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问题比答案耐久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4953000" y="2066925"/>
            <a:ext cx="6667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两千多年前的问题今天还在：我是什么？我该怎么活？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4953000" y="2628900"/>
            <a:ext cx="666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每个答案都是一次选择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4953000" y="2943225"/>
            <a:ext cx="6667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苏格拉底选择追问，佛陀选择止息，尼采选择重估。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4953000" y="3505200"/>
            <a:ext cx="666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读哲学史是为了定位自己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4953000" y="3819525"/>
            <a:ext cx="6667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看清今天的想法，是从哪一条旧路上走过来的。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在星空与道德律之间</a:t>
            </a: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教学课件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11087100" y="65055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课程导言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6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课程导言</a:t>
            </a:r>
            <a:endParaRPr/>
          </a:p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571500" y="89535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33241F"/>
                </a:solidFill>
                <a:latin typeface="霞鹜文楷"/>
                <a:ea typeface="霞鹜文楷"/>
              </a:rPr>
              <a:t>读哲学史的三条提醒</a:t>
            </a:r>
            <a:endParaRPr/>
          </a:p>
        </p:txBody>
      </p:sp>
      <p:sp>
        <p:nvSpPr>
          <p:cNvPr id="646" name=""/>
          <p:cNvSpPr/>
          <p:nvPr/>
        </p:nvSpPr>
        <p:spPr>
          <a:xfrm rot="0" flipH="0" flipV="0">
            <a:off x="571500" y="1495425"/>
            <a:ext cx="11049000" cy="9525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647" name=""/>
          <p:cNvSpPr/>
          <p:nvPr/>
        </p:nvSpPr>
        <p:spPr>
          <a:xfrm rot="0" flipH="0" flipV="0">
            <a:off x="571500" y="175260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704850" y="188595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01</a:t>
            </a:r>
            <a:endParaRPr/>
          </a:p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1295400" y="175260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先问问题，再记人名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1295400" y="206692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记住「他回答了什么」，比记住「他生于哪年」重要得多。</a:t>
            </a:r>
            <a:endParaRPr/>
          </a:p>
        </p:txBody>
      </p:sp>
      <p:sp>
        <p:nvSpPr>
          <p:cNvPr id="651" name=""/>
          <p:cNvSpPr/>
          <p:nvPr/>
        </p:nvSpPr>
        <p:spPr>
          <a:xfrm rot="0" flipH="0" flipV="0">
            <a:off x="571500" y="257175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704850" y="270510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02</a:t>
            </a:r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1295400" y="257175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把思想家放回他的困境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1295400" y="288607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礼崩乐坏才有孔子，城邦危机才有柏拉图。</a:t>
            </a:r>
            <a:endParaRPr/>
          </a:p>
        </p:txBody>
      </p:sp>
      <p:sp>
        <p:nvSpPr>
          <p:cNvPr id="655" name=""/>
          <p:cNvSpPr/>
          <p:nvPr/>
        </p:nvSpPr>
        <p:spPr>
          <a:xfrm rot="0" flipH="0" flipV="0">
            <a:off x="571500" y="339090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704850" y="352425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03</a:t>
            </a:r>
            <a:endParaRPr/>
          </a:p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1295400" y="339090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允许自己不同意</a:t>
            </a:r>
            <a:endParaRPr/>
          </a:p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1295400" y="370522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哲学史的规矩是接着往下问，不是照着背下来。</a:t>
            </a:r>
            <a:endParaRPr/>
          </a:p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在星空与道德律之间</a:t>
            </a: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教学课件</a:t>
            </a:r>
            <a:endParaRPr/>
          </a:p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11087100" y="65055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课程导言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8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C1411"/>
          </a:solidFill>
          <a:ln/>
        </p:spPr>
        <p:txBody>
          <a:bodyPr/>
          <a:p>
            <a:pPr/>
            <a:endParaRPr/>
          </a:p>
        </p:txBody>
      </p:sp>
      <p:sp>
        <p:nvSpPr>
          <p:cNvPr id="874" name="" descr="{&quot;isTemplate&quot;:true,&quot;type&quot;:&quot;text&quot;}"/>
          <p:cNvSpPr txBox="1"/>
          <p:nvPr/>
        </p:nvSpPr>
        <p:spPr>
          <a:xfrm rot="0" flipH="0" flipV="0">
            <a:off x="571500" y="1762125"/>
            <a:ext cx="5991225" cy="135255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zh-CN" sz="8400" b="1">
                <a:solidFill>
                  <a:srgbClr val="FEFCF8"/>
                </a:solidFill>
                <a:latin typeface="霞鹜文楷"/>
                <a:ea typeface="霞鹜文楷"/>
              </a:rPr>
              <a:t>前</a:t>
            </a:r>
            <a:r>
              <a:rPr lang="en-US" sz="8400" b="1">
                <a:solidFill>
                  <a:srgbClr val="FEFCF8"/>
                </a:solidFill>
                <a:latin typeface="霞鹜文楷"/>
                <a:ea typeface="霞鹜文楷"/>
              </a:rPr>
              <a:t> 800—200</a:t>
            </a:r>
            <a:endParaRPr/>
          </a:p>
        </p:txBody>
      </p:sp>
      <p:sp>
        <p:nvSpPr>
          <p:cNvPr id="875" name="" descr="{&quot;isTemplate&quot;:true,&quot;type&quot;:&quot;text&quot;}"/>
          <p:cNvSpPr txBox="1"/>
          <p:nvPr/>
        </p:nvSpPr>
        <p:spPr>
          <a:xfrm rot="0" flipH="0" flipV="0">
            <a:off x="6734175" y="2657475"/>
            <a:ext cx="2971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BBB0AD"/>
                </a:solidFill>
                <a:latin typeface="思源黑体"/>
                <a:ea typeface="思源黑体"/>
              </a:rPr>
              <a:t>雅斯贝尔斯的「轴心时代」</a:t>
            </a:r>
            <a:endParaRPr/>
          </a:p>
        </p:txBody>
      </p:sp>
      <p:sp>
        <p:nvSpPr>
          <p:cNvPr id="876" name=""/>
          <p:cNvSpPr/>
          <p:nvPr/>
        </p:nvSpPr>
        <p:spPr>
          <a:xfrm rot="0" flipH="0" flipV="0">
            <a:off x="571500" y="3381375"/>
            <a:ext cx="11049000" cy="9525"/>
          </a:xfrm>
          <a:prstGeom prst="rect">
            <a:avLst/>
          </a:prstGeom>
          <a:solidFill>
            <a:srgbClr val="8FA8A5"/>
          </a:solidFill>
          <a:ln/>
        </p:spPr>
        <p:txBody>
          <a:bodyPr/>
          <a:p>
            <a:pPr/>
            <a:endParaRPr/>
          </a:p>
        </p:txBody>
      </p:sp>
      <p:sp>
        <p:nvSpPr>
          <p:cNvPr id="877" name="" descr="{&quot;isTemplate&quot;:true,&quot;type&quot;:&quot;text&quot;}"/>
          <p:cNvSpPr txBox="1"/>
          <p:nvPr/>
        </p:nvSpPr>
        <p:spPr>
          <a:xfrm rot="0" flipH="0" flipV="0">
            <a:off x="571500" y="3657600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400" b="1">
                <a:solidFill>
                  <a:srgbClr val="FEFCF8"/>
                </a:solidFill>
                <a:latin typeface="霞鹜文楷"/>
                <a:ea typeface="霞鹜文楷"/>
              </a:rPr>
              <a:t>四个互不相通的文明，在同一段时间里同时醒来</a:t>
            </a:r>
            <a:endParaRPr/>
          </a:p>
        </p:txBody>
      </p:sp>
      <p:sp>
        <p:nvSpPr>
          <p:cNvPr id="878" name="" descr="{&quot;isTemplate&quot;:true,&quot;type&quot;:&quot;text&quot;}"/>
          <p:cNvSpPr txBox="1"/>
          <p:nvPr/>
        </p:nvSpPr>
        <p:spPr>
          <a:xfrm rot="0" flipH="0" flipV="0">
            <a:off x="571500" y="4343400"/>
            <a:ext cx="1104900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500">
                <a:solidFill>
                  <a:srgbClr val="BBB0AD"/>
                </a:solidFill>
                <a:latin typeface="思源黑体"/>
                <a:ea typeface="思源黑体"/>
              </a:rPr>
              <a:t>中国出孔子与老子，印度出佛陀与奥义书智者，波斯出琐罗亚斯德，希腊出泰勒斯与苏格拉底——雅斯贝尔斯把这几百年称为「轴心时代」：人类精神的地基，是在那几百年里一次性浇铸的。</a:t>
            </a:r>
            <a:endParaRPr/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0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C1411"/>
          </a:solidFill>
          <a:ln/>
        </p:spPr>
        <p:txBody>
          <a:bodyPr/>
          <a:p>
            <a:pPr/>
            <a:endParaRPr/>
          </a:p>
        </p:txBody>
      </p:sp>
      <p:sp>
        <p:nvSpPr>
          <p:cNvPr id="1062" name="" descr="{&quot;isTemplate&quot;:true,&quot;type&quot;:&quot;text&quot;}"/>
          <p:cNvSpPr txBox="1"/>
          <p:nvPr/>
        </p:nvSpPr>
        <p:spPr>
          <a:xfrm rot="0" flipH="0" flipV="0">
            <a:off x="571500" y="2571750"/>
            <a:ext cx="160020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BBB0AD"/>
                </a:solidFill>
                <a:latin typeface="霞鹜文楷"/>
                <a:ea typeface="霞鹜文楷"/>
              </a:rPr>
              <a:t>01</a:t>
            </a:r>
            <a:endParaRPr/>
          </a:p>
        </p:txBody>
      </p:sp>
      <p:sp>
        <p:nvSpPr>
          <p:cNvPr id="1063" name="" descr="{&quot;isTemplate&quot;:true,&quot;type&quot;:&quot;text&quot;}"/>
          <p:cNvSpPr txBox="1"/>
          <p:nvPr/>
        </p:nvSpPr>
        <p:spPr>
          <a:xfrm rot="0" flipH="0" flipV="0">
            <a:off x="2552700" y="2781300"/>
            <a:ext cx="9067800" cy="571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000" b="1">
                <a:solidFill>
                  <a:srgbClr val="FEFCF8"/>
                </a:solidFill>
                <a:latin typeface="霞鹜文楷"/>
                <a:ea typeface="霞鹜文楷"/>
              </a:rPr>
              <a:t>导论</a:t>
            </a:r>
            <a:r>
              <a:rPr lang="en-US" sz="3000" b="1">
                <a:solidFill>
                  <a:srgbClr val="FEFCF8"/>
                </a:solidFill>
                <a:latin typeface="霞鹜文楷"/>
                <a:ea typeface="霞鹜文楷"/>
              </a:rPr>
              <a:t> </a:t>
            </a:r>
            <a:r>
              <a:rPr lang="zh-CN" sz="3000" b="1">
                <a:solidFill>
                  <a:srgbClr val="FEFCF8"/>
                </a:solidFill>
                <a:latin typeface="霞鹜文楷"/>
                <a:ea typeface="霞鹜文楷"/>
              </a:rPr>
              <a:t>当一只蝙蝠倒挂在哲学系门口</a:t>
            </a:r>
            <a:endParaRPr/>
          </a:p>
        </p:txBody>
      </p:sp>
      <p:sp>
        <p:nvSpPr>
          <p:cNvPr id="1064" name=""/>
          <p:cNvSpPr/>
          <p:nvPr/>
        </p:nvSpPr>
        <p:spPr>
          <a:xfrm rot="0" flipH="0" flipV="0">
            <a:off x="2552700" y="3524250"/>
            <a:ext cx="838200" cy="19050"/>
          </a:xfrm>
          <a:prstGeom prst="rect">
            <a:avLst/>
          </a:prstGeom>
          <a:solidFill>
            <a:srgbClr val="8FA8A5"/>
          </a:solidFill>
          <a:ln/>
        </p:spPr>
        <p:txBody>
          <a:bodyPr/>
          <a:p>
            <a:pPr/>
            <a:endParaRPr/>
          </a:p>
        </p:txBody>
      </p:sp>
      <p:sp>
        <p:nvSpPr>
          <p:cNvPr id="1065" name="" descr="{&quot;isTemplate&quot;:true,&quot;type&quot;:&quot;text&quot;}"/>
          <p:cNvSpPr txBox="1"/>
          <p:nvPr/>
        </p:nvSpPr>
        <p:spPr>
          <a:xfrm rot="0" flipH="0" flipV="0">
            <a:off x="2552700" y="3714750"/>
            <a:ext cx="90678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BBB0AD"/>
                </a:solidFill>
                <a:latin typeface="思源黑体"/>
                <a:ea typeface="思源黑体"/>
              </a:rPr>
              <a:t>哲学不肯退休的理由：有些问题，科学的手电筒照不到</a:t>
            </a:r>
            <a:endParaRPr/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0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73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01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导论</a:t>
            </a: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 ·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核心命题</a:t>
            </a:r>
            <a:endParaRPr/>
          </a:p>
        </p:txBody>
      </p:sp>
      <p:sp>
        <p:nvSpPr>
          <p:cNvPr id="1074" name="" descr="{&quot;isTemplate&quot;:true,&quot;type&quot;:&quot;text&quot;}"/>
          <p:cNvSpPr txBox="1"/>
          <p:nvPr/>
        </p:nvSpPr>
        <p:spPr>
          <a:xfrm rot="0" flipH="0" flipV="0">
            <a:off x="571500" y="89535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33241F"/>
                </a:solidFill>
                <a:latin typeface="霞鹜文楷"/>
                <a:ea typeface="霞鹜文楷"/>
              </a:rPr>
              <a:t>哲学的第一特征：不肯将就</a:t>
            </a:r>
            <a:endParaRPr/>
          </a:p>
        </p:txBody>
      </p:sp>
      <p:sp>
        <p:nvSpPr>
          <p:cNvPr id="1075" name=""/>
          <p:cNvSpPr/>
          <p:nvPr/>
        </p:nvSpPr>
        <p:spPr>
          <a:xfrm rot="0" flipH="0" flipV="0">
            <a:off x="571500" y="1495425"/>
            <a:ext cx="11049000" cy="9525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1076" name=""/>
          <p:cNvSpPr/>
          <p:nvPr/>
        </p:nvSpPr>
        <p:spPr>
          <a:xfrm rot="0" flipH="0" flipV="0">
            <a:off x="571500" y="175260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77" name="" descr="{&quot;isTemplate&quot;:true,&quot;type&quot;:&quot;text&quot;}"/>
          <p:cNvSpPr txBox="1"/>
          <p:nvPr/>
        </p:nvSpPr>
        <p:spPr>
          <a:xfrm rot="0" flipH="0" flipV="0">
            <a:off x="704850" y="188595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01</a:t>
            </a:r>
            <a:endParaRPr/>
          </a:p>
        </p:txBody>
      </p:sp>
      <p:sp>
        <p:nvSpPr>
          <p:cNvPr id="1078" name="" descr="{&quot;isTemplate&quot;:true,&quot;type&quot;:&quot;text&quot;}"/>
          <p:cNvSpPr txBox="1"/>
          <p:nvPr/>
        </p:nvSpPr>
        <p:spPr>
          <a:xfrm rot="0" flipH="0" flipV="0">
            <a:off x="1295400" y="175260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蝙蝠之问</a:t>
            </a:r>
            <a:endParaRPr/>
          </a:p>
        </p:txBody>
      </p:sp>
      <p:sp>
        <p:nvSpPr>
          <p:cNvPr id="1079" name="" descr="{&quot;isTemplate&quot;:true,&quot;type&quot;:&quot;text&quot;}"/>
          <p:cNvSpPr txBox="1"/>
          <p:nvPr/>
        </p:nvSpPr>
        <p:spPr>
          <a:xfrm rot="0" flipH="0" flipV="0">
            <a:off x="1295400" y="206692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内格尔：科学能描述蝙蝠的声呐，却说不出「成为蝙蝠」是什么感觉。</a:t>
            </a:r>
            <a:endParaRPr/>
          </a:p>
        </p:txBody>
      </p:sp>
      <p:sp>
        <p:nvSpPr>
          <p:cNvPr id="1080" name=""/>
          <p:cNvSpPr/>
          <p:nvPr/>
        </p:nvSpPr>
        <p:spPr>
          <a:xfrm rot="0" flipH="0" flipV="0">
            <a:off x="571500" y="257175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81" name="" descr="{&quot;isTemplate&quot;:true,&quot;type&quot;:&quot;text&quot;}"/>
          <p:cNvSpPr txBox="1"/>
          <p:nvPr/>
        </p:nvSpPr>
        <p:spPr>
          <a:xfrm rot="0" flipH="0" flipV="0">
            <a:off x="704850" y="270510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02</a:t>
            </a:r>
            <a:endParaRPr/>
          </a:p>
        </p:txBody>
      </p:sp>
      <p:sp>
        <p:nvSpPr>
          <p:cNvPr id="1082" name="" descr="{&quot;isTemplate&quot;:true,&quot;type&quot;:&quot;text&quot;}"/>
          <p:cNvSpPr txBox="1"/>
          <p:nvPr/>
        </p:nvSpPr>
        <p:spPr>
          <a:xfrm rot="0" flipH="0" flipV="0">
            <a:off x="1295400" y="257175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缸中之脑</a:t>
            </a:r>
            <a:endParaRPr/>
          </a:p>
        </p:txBody>
      </p:sp>
      <p:sp>
        <p:nvSpPr>
          <p:cNvPr id="1083" name="" descr="{&quot;isTemplate&quot;:true,&quot;type&quot;:&quot;text&quot;}"/>
          <p:cNvSpPr txBox="1"/>
          <p:nvPr/>
        </p:nvSpPr>
        <p:spPr>
          <a:xfrm rot="0" flipH="0" flipV="0">
            <a:off x="1295400" y="288607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普特南：一切经验都可能是模拟信号，而你无法跳出系统去验证。</a:t>
            </a:r>
            <a:endParaRPr/>
          </a:p>
        </p:txBody>
      </p:sp>
      <p:sp>
        <p:nvSpPr>
          <p:cNvPr id="1084" name=""/>
          <p:cNvSpPr/>
          <p:nvPr/>
        </p:nvSpPr>
        <p:spPr>
          <a:xfrm rot="0" flipH="0" flipV="0">
            <a:off x="571500" y="339090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85" name="" descr="{&quot;isTemplate&quot;:true,&quot;type&quot;:&quot;text&quot;}"/>
          <p:cNvSpPr txBox="1"/>
          <p:nvPr/>
        </p:nvSpPr>
        <p:spPr>
          <a:xfrm rot="0" flipH="0" flipV="0">
            <a:off x="704850" y="352425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03</a:t>
            </a:r>
            <a:endParaRPr/>
          </a:p>
        </p:txBody>
      </p:sp>
      <p:sp>
        <p:nvSpPr>
          <p:cNvPr id="1086" name="" descr="{&quot;isTemplate&quot;:true,&quot;type&quot;:&quot;text&quot;}"/>
          <p:cNvSpPr txBox="1"/>
          <p:nvPr/>
        </p:nvSpPr>
        <p:spPr>
          <a:xfrm rot="0" flipH="0" flipV="0">
            <a:off x="1295400" y="339090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信息茧房</a:t>
            </a:r>
            <a:endParaRPr/>
          </a:p>
        </p:txBody>
      </p:sp>
      <p:sp>
        <p:nvSpPr>
          <p:cNvPr id="1087" name="" descr="{&quot;isTemplate&quot;:true,&quot;type&quot;:&quot;text&quot;}"/>
          <p:cNvSpPr txBox="1"/>
          <p:nvPr/>
        </p:nvSpPr>
        <p:spPr>
          <a:xfrm rot="0" flipH="0" flipV="0">
            <a:off x="1295400" y="370522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你以为看到的世界，可能只是推荐算法为你筛选过的版本。</a:t>
            </a:r>
            <a:endParaRPr/>
          </a:p>
        </p:txBody>
      </p:sp>
      <p:sp>
        <p:nvSpPr>
          <p:cNvPr id="1088" name=""/>
          <p:cNvSpPr/>
          <p:nvPr/>
        </p:nvSpPr>
        <p:spPr>
          <a:xfrm rot="0" flipH="0" flipV="0">
            <a:off x="571500" y="421005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89" name="" descr="{&quot;isTemplate&quot;:true,&quot;type&quot;:&quot;text&quot;}"/>
          <p:cNvSpPr txBox="1"/>
          <p:nvPr/>
        </p:nvSpPr>
        <p:spPr>
          <a:xfrm rot="0" flipH="0" flipV="0">
            <a:off x="704850" y="434340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04</a:t>
            </a:r>
            <a:endParaRPr/>
          </a:p>
        </p:txBody>
      </p:sp>
      <p:sp>
        <p:nvSpPr>
          <p:cNvPr id="1090" name="" descr="{&quot;isTemplate&quot;:true,&quot;type&quot;:&quot;text&quot;}"/>
          <p:cNvSpPr txBox="1"/>
          <p:nvPr/>
        </p:nvSpPr>
        <p:spPr>
          <a:xfrm rot="0" flipH="0" flipV="0">
            <a:off x="1295400" y="421005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共同的结构</a:t>
            </a:r>
            <a:endParaRPr/>
          </a:p>
        </p:txBody>
      </p:sp>
      <p:sp>
        <p:nvSpPr>
          <p:cNvPr id="1091" name="" descr="{&quot;isTemplate&quot;:true,&quot;type&quot;:&quot;text&quot;}"/>
          <p:cNvSpPr txBox="1"/>
          <p:nvPr/>
        </p:nvSpPr>
        <p:spPr>
          <a:xfrm rot="0" flipH="0" flipV="0">
            <a:off x="1295400" y="452437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技术换了，「我怎么知道这是真的」这个问题没有换。</a:t>
            </a:r>
            <a:endParaRPr/>
          </a:p>
        </p:txBody>
      </p:sp>
      <p:sp>
        <p:nvSpPr>
          <p:cNvPr id="1092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在星空与道德律之间</a:t>
            </a: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教学课件</a:t>
            </a:r>
            <a:endParaRPr/>
          </a:p>
        </p:txBody>
      </p:sp>
      <p:sp>
        <p:nvSpPr>
          <p:cNvPr id="1093" name="" descr="{&quot;isTemplate&quot;:true,&quot;type&quot;:&quot;text&quot;}"/>
          <p:cNvSpPr txBox="1"/>
          <p:nvPr/>
        </p:nvSpPr>
        <p:spPr>
          <a:xfrm rot="0" flipH="0" flipV="0">
            <a:off x="11087100" y="65055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01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导论</a:t>
            </a:r>
            <a:endParaRPr/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0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96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01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导论</a:t>
            </a: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 ·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边界</a:t>
            </a:r>
            <a:endParaRPr/>
          </a:p>
        </p:txBody>
      </p:sp>
      <p:sp>
        <p:nvSpPr>
          <p:cNvPr id="1097" name="" descr="{&quot;isTemplate&quot;:true,&quot;type&quot;:&quot;text&quot;}"/>
          <p:cNvSpPr txBox="1"/>
          <p:nvPr/>
        </p:nvSpPr>
        <p:spPr>
          <a:xfrm rot="0" flipH="0" flipV="0">
            <a:off x="571500" y="89535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33241F"/>
                </a:solidFill>
                <a:latin typeface="霞鹜文楷"/>
                <a:ea typeface="霞鹜文楷"/>
              </a:rPr>
              <a:t>哲学与科学：分工，不是谁取代谁</a:t>
            </a:r>
            <a:endParaRPr/>
          </a:p>
        </p:txBody>
      </p:sp>
      <p:sp>
        <p:nvSpPr>
          <p:cNvPr id="1098" name=""/>
          <p:cNvSpPr/>
          <p:nvPr/>
        </p:nvSpPr>
        <p:spPr>
          <a:xfrm rot="0" flipH="0" flipV="0">
            <a:off x="571500" y="1495425"/>
            <a:ext cx="11049000" cy="9525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1099" name=""/>
          <p:cNvSpPr/>
          <p:nvPr/>
        </p:nvSpPr>
        <p:spPr>
          <a:xfrm rot="0" flipH="0" flipV="0">
            <a:off x="571500" y="1752600"/>
            <a:ext cx="11049000" cy="2714625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E2DED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00" name=""/>
          <p:cNvSpPr/>
          <p:nvPr/>
        </p:nvSpPr>
        <p:spPr>
          <a:xfrm rot="0" flipH="0" flipV="0">
            <a:off x="762000" y="1943100"/>
            <a:ext cx="10668000" cy="390525"/>
          </a:xfrm>
          <a:prstGeom prst="roundRect">
            <a:avLst>
              <a:gd name="adj" fmla="val 19512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1101" name="" descr="{&quot;isTemplate&quot;:true,&quot;type&quot;:&quot;text&quot;}"/>
          <p:cNvSpPr txBox="1"/>
          <p:nvPr/>
        </p:nvSpPr>
        <p:spPr>
          <a:xfrm rot="0" flipH="0" flipV="0">
            <a:off x="857250" y="2038350"/>
            <a:ext cx="1524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EFCF8"/>
                </a:solidFill>
                <a:latin typeface="思源黑体"/>
                <a:ea typeface="思源黑体"/>
              </a:rPr>
              <a:t>层面</a:t>
            </a:r>
            <a:endParaRPr/>
          </a:p>
        </p:txBody>
      </p:sp>
      <p:sp>
        <p:nvSpPr>
          <p:cNvPr id="1102" name="" descr="{&quot;isTemplate&quot;:true,&quot;type&quot;:&quot;text&quot;}"/>
          <p:cNvSpPr txBox="1"/>
          <p:nvPr/>
        </p:nvSpPr>
        <p:spPr>
          <a:xfrm rot="0" flipH="0" flipV="0">
            <a:off x="2571750" y="2038350"/>
            <a:ext cx="3810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EFCF8"/>
                </a:solidFill>
                <a:latin typeface="思源黑体"/>
                <a:ea typeface="思源黑体"/>
              </a:rPr>
              <a:t>科学</a:t>
            </a:r>
            <a:endParaRPr/>
          </a:p>
        </p:txBody>
      </p:sp>
      <p:sp>
        <p:nvSpPr>
          <p:cNvPr id="1103" name="" descr="{&quot;isTemplate&quot;:true,&quot;type&quot;:&quot;text&quot;}"/>
          <p:cNvSpPr txBox="1"/>
          <p:nvPr/>
        </p:nvSpPr>
        <p:spPr>
          <a:xfrm rot="0" flipH="0" flipV="0">
            <a:off x="6572250" y="2038350"/>
            <a:ext cx="4762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EFCF8"/>
                </a:solidFill>
                <a:latin typeface="思源黑体"/>
                <a:ea typeface="思源黑体"/>
              </a:rPr>
              <a:t>哲学</a:t>
            </a:r>
            <a:endParaRPr/>
          </a:p>
        </p:txBody>
      </p:sp>
      <p:sp>
        <p:nvSpPr>
          <p:cNvPr id="1104" name=""/>
          <p:cNvSpPr/>
          <p:nvPr/>
        </p:nvSpPr>
        <p:spPr>
          <a:xfrm rot="0" flipH="0" flipV="0">
            <a:off x="762000" y="2343150"/>
            <a:ext cx="10668000" cy="4857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105" name=""/>
          <p:cNvSpPr/>
          <p:nvPr/>
        </p:nvSpPr>
        <p:spPr>
          <a:xfrm rot="0" flipH="0" flipV="0">
            <a:off x="762000" y="2333625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1106" name="" descr="{&quot;isTemplate&quot;:true,&quot;type&quot;:&quot;text&quot;}"/>
          <p:cNvSpPr txBox="1"/>
          <p:nvPr/>
        </p:nvSpPr>
        <p:spPr>
          <a:xfrm rot="0" flipH="0" flipV="0">
            <a:off x="857250" y="2438400"/>
            <a:ext cx="1524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事实</a:t>
            </a:r>
            <a:endParaRPr/>
          </a:p>
        </p:txBody>
      </p:sp>
      <p:sp>
        <p:nvSpPr>
          <p:cNvPr id="1107" name="" descr="{&quot;isTemplate&quot;:true,&quot;type&quot;:&quot;text&quot;}"/>
          <p:cNvSpPr txBox="1"/>
          <p:nvPr/>
        </p:nvSpPr>
        <p:spPr>
          <a:xfrm rot="0" flipH="0" flipV="0">
            <a:off x="2571750" y="2438400"/>
            <a:ext cx="3810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蝙蝠的神经系统如何工作</a:t>
            </a:r>
            <a:endParaRPr/>
          </a:p>
        </p:txBody>
      </p:sp>
      <p:sp>
        <p:nvSpPr>
          <p:cNvPr id="1108" name="" descr="{&quot;isTemplate&quot;:true,&quot;type&quot;:&quot;text&quot;}"/>
          <p:cNvSpPr txBox="1"/>
          <p:nvPr/>
        </p:nvSpPr>
        <p:spPr>
          <a:xfrm rot="0" flipH="0" flipV="0">
            <a:off x="6572250" y="2438400"/>
            <a:ext cx="4762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主观体验能否被还原为物理过程</a:t>
            </a:r>
            <a:endParaRPr/>
          </a:p>
        </p:txBody>
      </p:sp>
      <p:sp>
        <p:nvSpPr>
          <p:cNvPr id="1109" name=""/>
          <p:cNvSpPr/>
          <p:nvPr/>
        </p:nvSpPr>
        <p:spPr>
          <a:xfrm rot="0" flipH="0" flipV="0">
            <a:off x="762000" y="2828925"/>
            <a:ext cx="10668000" cy="485775"/>
          </a:xfrm>
          <a:prstGeom prst="rect">
            <a:avLst/>
          </a:prstGeom>
          <a:solidFill>
            <a:srgbClr val="F5F1EC"/>
          </a:solidFill>
          <a:ln/>
        </p:spPr>
        <p:txBody>
          <a:bodyPr/>
          <a:p>
            <a:pPr/>
            <a:endParaRPr/>
          </a:p>
        </p:txBody>
      </p:sp>
      <p:sp>
        <p:nvSpPr>
          <p:cNvPr id="1110" name=""/>
          <p:cNvSpPr/>
          <p:nvPr/>
        </p:nvSpPr>
        <p:spPr>
          <a:xfrm rot="0" flipH="0" flipV="0">
            <a:off x="762000" y="2819400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1111" name="" descr="{&quot;isTemplate&quot;:true,&quot;type&quot;:&quot;text&quot;}"/>
          <p:cNvSpPr txBox="1"/>
          <p:nvPr/>
        </p:nvSpPr>
        <p:spPr>
          <a:xfrm rot="0" flipH="0" flipV="0">
            <a:off x="857250" y="2924175"/>
            <a:ext cx="1524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方法</a:t>
            </a:r>
            <a:endParaRPr/>
          </a:p>
        </p:txBody>
      </p:sp>
      <p:sp>
        <p:nvSpPr>
          <p:cNvPr id="1112" name="" descr="{&quot;isTemplate&quot;:true,&quot;type&quot;:&quot;text&quot;}"/>
          <p:cNvSpPr txBox="1"/>
          <p:nvPr/>
        </p:nvSpPr>
        <p:spPr>
          <a:xfrm rot="0" flipH="0" flipV="0">
            <a:off x="2571750" y="2924175"/>
            <a:ext cx="3810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可重复实验、可量化验证</a:t>
            </a:r>
            <a:endParaRPr/>
          </a:p>
        </p:txBody>
      </p:sp>
      <p:sp>
        <p:nvSpPr>
          <p:cNvPr id="1113" name="" descr="{&quot;isTemplate&quot;:true,&quot;type&quot;:&quot;text&quot;}"/>
          <p:cNvSpPr txBox="1"/>
          <p:nvPr/>
        </p:nvSpPr>
        <p:spPr>
          <a:xfrm rot="0" flipH="0" flipV="0">
            <a:off x="6572250" y="2924175"/>
            <a:ext cx="4762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概念澄清、思想实验、论证分析</a:t>
            </a:r>
            <a:endParaRPr/>
          </a:p>
        </p:txBody>
      </p:sp>
      <p:sp>
        <p:nvSpPr>
          <p:cNvPr id="1114" name=""/>
          <p:cNvSpPr/>
          <p:nvPr/>
        </p:nvSpPr>
        <p:spPr>
          <a:xfrm rot="0" flipH="0" flipV="0">
            <a:off x="762000" y="3314700"/>
            <a:ext cx="10668000" cy="4857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115" name=""/>
          <p:cNvSpPr/>
          <p:nvPr/>
        </p:nvSpPr>
        <p:spPr>
          <a:xfrm rot="0" flipH="0" flipV="0">
            <a:off x="762000" y="3305175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1116" name="" descr="{&quot;isTemplate&quot;:true,&quot;type&quot;:&quot;text&quot;}"/>
          <p:cNvSpPr txBox="1"/>
          <p:nvPr/>
        </p:nvSpPr>
        <p:spPr>
          <a:xfrm rot="0" flipH="0" flipV="0">
            <a:off x="857250" y="3409950"/>
            <a:ext cx="1524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结果</a:t>
            </a:r>
            <a:endParaRPr/>
          </a:p>
        </p:txBody>
      </p:sp>
      <p:sp>
        <p:nvSpPr>
          <p:cNvPr id="1117" name="" descr="{&quot;isTemplate&quot;:true,&quot;type&quot;:&quot;text&quot;}"/>
          <p:cNvSpPr txBox="1"/>
          <p:nvPr/>
        </p:nvSpPr>
        <p:spPr>
          <a:xfrm rot="0" flipH="0" flipV="0">
            <a:off x="2571750" y="3409950"/>
            <a:ext cx="3810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累积式进步，旧答案被覆盖</a:t>
            </a:r>
            <a:endParaRPr/>
          </a:p>
        </p:txBody>
      </p:sp>
      <p:sp>
        <p:nvSpPr>
          <p:cNvPr id="1118" name="" descr="{&quot;isTemplate&quot;:true,&quot;type&quot;:&quot;text&quot;}"/>
          <p:cNvSpPr txBox="1"/>
          <p:nvPr/>
        </p:nvSpPr>
        <p:spPr>
          <a:xfrm rot="0" flipH="0" flipV="0">
            <a:off x="6572250" y="3409950"/>
            <a:ext cx="4762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问题常新，答案持续被重审</a:t>
            </a:r>
            <a:endParaRPr/>
          </a:p>
        </p:txBody>
      </p:sp>
      <p:sp>
        <p:nvSpPr>
          <p:cNvPr id="1119" name=""/>
          <p:cNvSpPr/>
          <p:nvPr/>
        </p:nvSpPr>
        <p:spPr>
          <a:xfrm rot="0" flipH="0" flipV="0">
            <a:off x="762000" y="3800475"/>
            <a:ext cx="10668000" cy="485775"/>
          </a:xfrm>
          <a:prstGeom prst="rect">
            <a:avLst/>
          </a:prstGeom>
          <a:solidFill>
            <a:srgbClr val="F5F1EC"/>
          </a:solidFill>
          <a:ln/>
        </p:spPr>
        <p:txBody>
          <a:bodyPr/>
          <a:p>
            <a:pPr/>
            <a:endParaRPr/>
          </a:p>
        </p:txBody>
      </p:sp>
      <p:sp>
        <p:nvSpPr>
          <p:cNvPr id="1120" name=""/>
          <p:cNvSpPr/>
          <p:nvPr/>
        </p:nvSpPr>
        <p:spPr>
          <a:xfrm rot="0" flipH="0" flipV="0">
            <a:off x="762000" y="3790950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1121" name="" descr="{&quot;isTemplate&quot;:true,&quot;type&quot;:&quot;text&quot;}"/>
          <p:cNvSpPr txBox="1"/>
          <p:nvPr/>
        </p:nvSpPr>
        <p:spPr>
          <a:xfrm rot="0" flipH="0" flipV="0">
            <a:off x="857250" y="3895725"/>
            <a:ext cx="1524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任务</a:t>
            </a:r>
            <a:endParaRPr/>
          </a:p>
        </p:txBody>
      </p:sp>
      <p:sp>
        <p:nvSpPr>
          <p:cNvPr id="1122" name="" descr="{&quot;isTemplate&quot;:true,&quot;type&quot;:&quot;text&quot;}"/>
          <p:cNvSpPr txBox="1"/>
          <p:nvPr/>
        </p:nvSpPr>
        <p:spPr>
          <a:xfrm rot="0" flipH="0" flipV="0">
            <a:off x="2571750" y="3895725"/>
            <a:ext cx="3810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回答「世界是怎样的」</a:t>
            </a:r>
            <a:endParaRPr/>
          </a:p>
        </p:txBody>
      </p:sp>
      <p:sp>
        <p:nvSpPr>
          <p:cNvPr id="1123" name="" descr="{&quot;isTemplate&quot;:true,&quot;type&quot;:&quot;text&quot;}"/>
          <p:cNvSpPr txBox="1"/>
          <p:nvPr/>
        </p:nvSpPr>
        <p:spPr>
          <a:xfrm rot="0" flipH="0" flipV="0">
            <a:off x="6572250" y="3895725"/>
            <a:ext cx="4762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追问「凭什么」以及「这意味着什么」</a:t>
            </a:r>
            <a:endParaRPr/>
          </a:p>
        </p:txBody>
      </p:sp>
      <p:sp>
        <p:nvSpPr>
          <p:cNvPr id="1124" name=""/>
          <p:cNvSpPr/>
          <p:nvPr/>
        </p:nvSpPr>
        <p:spPr>
          <a:xfrm rot="0" flipH="0" flipV="0">
            <a:off x="571500" y="4619625"/>
            <a:ext cx="11049000" cy="619125"/>
          </a:xfrm>
          <a:prstGeom prst="roundRect">
            <a:avLst>
              <a:gd name="adj" fmla="val 24615"/>
            </a:avLst>
          </a:prstGeom>
          <a:solidFill>
            <a:srgbClr val="E3EEF1"/>
          </a:solidFill>
          <a:ln/>
        </p:spPr>
        <p:txBody>
          <a:bodyPr/>
          <a:p>
            <a:pPr/>
            <a:endParaRPr/>
          </a:p>
        </p:txBody>
      </p:sp>
      <p:sp>
        <p:nvSpPr>
          <p:cNvPr id="1125" name="" descr="{&quot;isTemplate&quot;:true,&quot;type&quot;:&quot;text&quot;}"/>
          <p:cNvSpPr txBox="1"/>
          <p:nvPr/>
        </p:nvSpPr>
        <p:spPr>
          <a:xfrm rot="0" flipH="0" flipV="0">
            <a:off x="723900" y="4772025"/>
            <a:ext cx="10744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503C36"/>
                </a:solidFill>
                <a:latin typeface="思源黑体"/>
                <a:ea typeface="思源黑体"/>
              </a:rPr>
              <a:t>科学扩展我们能知道的边界，哲学守住我们还不知道、却必须决定的部分。</a:t>
            </a:r>
            <a:endParaRPr/>
          </a:p>
        </p:txBody>
      </p:sp>
      <p:sp>
        <p:nvSpPr>
          <p:cNvPr id="1126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在星空与道德律之间</a:t>
            </a: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教学课件</a:t>
            </a:r>
            <a:endParaRPr/>
          </a:p>
        </p:txBody>
      </p:sp>
      <p:sp>
        <p:nvSpPr>
          <p:cNvPr id="1127" name="" descr="{&quot;isTemplate&quot;:true,&quot;type&quot;:&quot;text&quot;}"/>
          <p:cNvSpPr txBox="1"/>
          <p:nvPr/>
        </p:nvSpPr>
        <p:spPr>
          <a:xfrm rot="0" flipH="0" flipV="0">
            <a:off x="11087100" y="65055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01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导论</a:t>
            </a:r>
            <a:endParaRPr/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1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130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01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导论</a:t>
            </a: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 ·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地图</a:t>
            </a:r>
            <a:endParaRPr/>
          </a:p>
        </p:txBody>
      </p:sp>
      <p:sp>
        <p:nvSpPr>
          <p:cNvPr id="1131" name="" descr="{&quot;isTemplate&quot;:true,&quot;type&quot;:&quot;text&quot;}"/>
          <p:cNvSpPr txBox="1"/>
          <p:nvPr/>
        </p:nvSpPr>
        <p:spPr>
          <a:xfrm rot="0" flipH="0" flipV="0">
            <a:off x="571500" y="89535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33241F"/>
                </a:solidFill>
                <a:latin typeface="霞鹜文楷"/>
                <a:ea typeface="霞鹜文楷"/>
              </a:rPr>
              <a:t>读哲学史的三条主线</a:t>
            </a:r>
            <a:endParaRPr/>
          </a:p>
        </p:txBody>
      </p:sp>
      <p:sp>
        <p:nvSpPr>
          <p:cNvPr id="1132" name=""/>
          <p:cNvSpPr/>
          <p:nvPr/>
        </p:nvSpPr>
        <p:spPr>
          <a:xfrm rot="0" flipH="0" flipV="0">
            <a:off x="571500" y="1495425"/>
            <a:ext cx="11049000" cy="9525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1133" name=""/>
          <p:cNvSpPr/>
          <p:nvPr/>
        </p:nvSpPr>
        <p:spPr>
          <a:xfrm rot="0" flipH="0" flipV="0">
            <a:off x="571500" y="1752600"/>
            <a:ext cx="5048250" cy="1838325"/>
          </a:xfrm>
          <a:prstGeom prst="roundRect">
            <a:avLst>
              <a:gd name="adj" fmla="val 8290"/>
            </a:avLst>
          </a:prstGeom>
          <a:solidFill>
            <a:srgbClr val="E3EEF1"/>
          </a:solidFill>
          <a:ln/>
        </p:spPr>
        <p:txBody>
          <a:bodyPr/>
          <a:p>
            <a:pPr/>
            <a:endParaRPr/>
          </a:p>
        </p:txBody>
      </p:sp>
      <p:sp>
        <p:nvSpPr>
          <p:cNvPr id="1134" name="" descr="{&quot;isTemplate&quot;:true,&quot;type&quot;:&quot;text&quot;}"/>
          <p:cNvSpPr txBox="1"/>
          <p:nvPr/>
        </p:nvSpPr>
        <p:spPr>
          <a:xfrm rot="0" flipH="0" flipV="0">
            <a:off x="838200" y="2019300"/>
            <a:ext cx="4514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追问什么：本体论</a:t>
            </a:r>
            <a:endParaRPr/>
          </a:p>
        </p:txBody>
      </p:sp>
      <p:sp>
        <p:nvSpPr>
          <p:cNvPr id="1135" name="" descr="{&quot;isTemplate&quot;:true,&quot;type&quot;:&quot;text&quot;}"/>
          <p:cNvSpPr txBox="1"/>
          <p:nvPr/>
        </p:nvSpPr>
        <p:spPr>
          <a:xfrm rot="0" flipH="0" flipV="0">
            <a:off x="838200" y="2390775"/>
            <a:ext cx="45148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世界最终由什么构成？水、火、原子、理念、意志——答案一直在换，问题没换。</a:t>
            </a:r>
            <a:endParaRPr/>
          </a:p>
        </p:txBody>
      </p:sp>
      <p:sp>
        <p:nvSpPr>
          <p:cNvPr id="1136" name=""/>
          <p:cNvSpPr/>
          <p:nvPr/>
        </p:nvSpPr>
        <p:spPr>
          <a:xfrm rot="0" flipH="0" flipV="0">
            <a:off x="5810250" y="1752600"/>
            <a:ext cx="3238500" cy="1838325"/>
          </a:xfrm>
          <a:prstGeom prst="roundRect">
            <a:avLst>
              <a:gd name="adj" fmla="val 8290"/>
            </a:avLst>
          </a:prstGeom>
          <a:solidFill>
            <a:srgbClr val="E3EEF1"/>
          </a:solidFill>
          <a:ln/>
        </p:spPr>
        <p:txBody>
          <a:bodyPr/>
          <a:p>
            <a:pPr/>
            <a:endParaRPr/>
          </a:p>
        </p:txBody>
      </p:sp>
      <p:sp>
        <p:nvSpPr>
          <p:cNvPr id="1137" name="" descr="{&quot;isTemplate&quot;:true,&quot;type&quot;:&quot;text&quot;}"/>
          <p:cNvSpPr txBox="1"/>
          <p:nvPr/>
        </p:nvSpPr>
        <p:spPr>
          <a:xfrm rot="0" flipH="0" flipV="0">
            <a:off x="6076950" y="2019300"/>
            <a:ext cx="270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怎么知道：认识论</a:t>
            </a:r>
            <a:endParaRPr/>
          </a:p>
        </p:txBody>
      </p:sp>
      <p:sp>
        <p:nvSpPr>
          <p:cNvPr id="1138" name="" descr="{&quot;isTemplate&quot;:true,&quot;type&quot;:&quot;text&quot;}"/>
          <p:cNvSpPr txBox="1"/>
          <p:nvPr/>
        </p:nvSpPr>
        <p:spPr>
          <a:xfrm rot="0" flipH="0" flipV="0">
            <a:off x="6076950" y="2390775"/>
            <a:ext cx="27051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感觉可靠吗？理性可靠吗？我们能认识到事物本身吗？</a:t>
            </a:r>
            <a:endParaRPr/>
          </a:p>
        </p:txBody>
      </p:sp>
      <p:sp>
        <p:nvSpPr>
          <p:cNvPr id="1139" name=""/>
          <p:cNvSpPr/>
          <p:nvPr/>
        </p:nvSpPr>
        <p:spPr>
          <a:xfrm rot="0" flipH="0" flipV="0">
            <a:off x="9239250" y="1752600"/>
            <a:ext cx="2381250" cy="1838325"/>
          </a:xfrm>
          <a:prstGeom prst="roundRect">
            <a:avLst>
              <a:gd name="adj" fmla="val 8290"/>
            </a:avLst>
          </a:prstGeom>
          <a:solidFill>
            <a:srgbClr val="E3EEF1"/>
          </a:solidFill>
          <a:ln/>
        </p:spPr>
        <p:txBody>
          <a:bodyPr/>
          <a:p>
            <a:pPr/>
            <a:endParaRPr/>
          </a:p>
        </p:txBody>
      </p:sp>
      <p:sp>
        <p:nvSpPr>
          <p:cNvPr id="1140" name="" descr="{&quot;isTemplate&quot;:true,&quot;type&quot;:&quot;text&quot;}"/>
          <p:cNvSpPr txBox="1"/>
          <p:nvPr/>
        </p:nvSpPr>
        <p:spPr>
          <a:xfrm rot="0" flipH="0" flipV="0">
            <a:off x="9505950" y="2019300"/>
            <a:ext cx="1847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如何生活：伦理学</a:t>
            </a:r>
            <a:endParaRPr/>
          </a:p>
        </p:txBody>
      </p:sp>
      <p:sp>
        <p:nvSpPr>
          <p:cNvPr id="1141" name="" descr="{&quot;isTemplate&quot;:true,&quot;type&quot;:&quot;text&quot;}"/>
          <p:cNvSpPr txBox="1"/>
          <p:nvPr/>
        </p:nvSpPr>
        <p:spPr>
          <a:xfrm rot="0" flipH="0" flipV="0">
            <a:off x="9505950" y="2390775"/>
            <a:ext cx="18478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看清世界之后，一个人应当怎样安排自己的一生？</a:t>
            </a:r>
            <a:endParaRPr/>
          </a:p>
        </p:txBody>
      </p:sp>
      <p:sp>
        <p:nvSpPr>
          <p:cNvPr id="1142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在星空与道德律之间</a:t>
            </a: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教学课件</a:t>
            </a:r>
            <a:endParaRPr/>
          </a:p>
        </p:txBody>
      </p:sp>
      <p:sp>
        <p:nvSpPr>
          <p:cNvPr id="1143" name="" descr="{&quot;isTemplate&quot;:true,&quot;type&quot;:&quot;text&quot;}"/>
          <p:cNvSpPr txBox="1"/>
          <p:nvPr/>
        </p:nvSpPr>
        <p:spPr>
          <a:xfrm rot="0" flipH="0" flipV="0">
            <a:off x="11087100" y="65055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01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导论</a:t>
            </a:r>
            <a:endParaRPr/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C1411"/>
          </a:solidFill>
          <a:ln/>
        </p:spPr>
        <p:txBody>
          <a:bodyPr/>
          <a:p>
            <a:pPr/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571500" y="2571750"/>
            <a:ext cx="160020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BBB0AD"/>
                </a:solidFill>
                <a:latin typeface="霞鹜文楷"/>
                <a:ea typeface="霞鹜文楷"/>
              </a:rPr>
              <a:t>02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2552700" y="2781300"/>
            <a:ext cx="9067800" cy="571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000" b="1">
                <a:solidFill>
                  <a:srgbClr val="FEFCF8"/>
                </a:solidFill>
                <a:latin typeface="霞鹜文楷"/>
                <a:ea typeface="霞鹜文楷"/>
              </a:rPr>
              <a:t>先秦诸子</a:t>
            </a:r>
            <a:r>
              <a:rPr lang="en-US" sz="3000" b="1">
                <a:solidFill>
                  <a:srgbClr val="FEFCF8"/>
                </a:solidFill>
                <a:latin typeface="霞鹜文楷"/>
                <a:ea typeface="霞鹜文楷"/>
              </a:rPr>
              <a:t> </a:t>
            </a:r>
            <a:r>
              <a:rPr lang="zh-CN" sz="3000" b="1">
                <a:solidFill>
                  <a:srgbClr val="FEFCF8"/>
                </a:solidFill>
                <a:latin typeface="霞鹜文楷"/>
                <a:ea typeface="霞鹜文楷"/>
              </a:rPr>
              <a:t>礼崩乐坏中开出的一树繁花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2552700" y="3524250"/>
            <a:ext cx="838200" cy="19050"/>
          </a:xfrm>
          <a:prstGeom prst="rect">
            <a:avLst/>
          </a:prstGeom>
          <a:solidFill>
            <a:srgbClr val="8FA8A5"/>
          </a:solidFill>
          <a:ln/>
        </p:spPr>
        <p:txBody>
          <a:bodyPr/>
          <a:p>
            <a:pPr/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2552700" y="3714750"/>
            <a:ext cx="90678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BBB0AD"/>
                </a:solidFill>
                <a:latin typeface="思源黑体"/>
                <a:ea typeface="思源黑体"/>
              </a:rPr>
              <a:t>公元前</a:t>
            </a:r>
            <a:r>
              <a:rPr lang="en-US" sz="1500">
                <a:solidFill>
                  <a:srgbClr val="BBB0AD"/>
                </a:solidFill>
                <a:latin typeface="思源黑体"/>
                <a:ea typeface="思源黑体"/>
              </a:rPr>
              <a:t> 551—</a:t>
            </a:r>
            <a:r>
              <a:rPr lang="zh-CN" sz="1500">
                <a:solidFill>
                  <a:srgbClr val="BBB0AD"/>
                </a:solidFill>
                <a:latin typeface="思源黑体"/>
                <a:ea typeface="思源黑体"/>
              </a:rPr>
              <a:t>前</a:t>
            </a:r>
            <a:r>
              <a:rPr lang="en-US" sz="1500">
                <a:solidFill>
                  <a:srgbClr val="BBB0AD"/>
                </a:solidFill>
                <a:latin typeface="思源黑体"/>
                <a:ea typeface="思源黑体"/>
              </a:rPr>
              <a:t> 221</a:t>
            </a:r>
            <a:r>
              <a:rPr lang="zh-CN" sz="1500">
                <a:solidFill>
                  <a:srgbClr val="BBB0AD"/>
                </a:solidFill>
                <a:latin typeface="思源黑体"/>
                <a:ea typeface="思源黑体"/>
              </a:rPr>
              <a:t>：秩序碎了，各家各开一张药方</a:t>
            </a:r>
            <a:endParaRPr/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02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先秦诸子</a:t>
            </a: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 ·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现场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571500" y="89535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33241F"/>
                </a:solidFill>
                <a:latin typeface="霞鹜文楷"/>
                <a:ea typeface="霞鹜文楷"/>
              </a:rPr>
              <a:t>礼崩乐坏：孔子面对的问题现场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571500" y="1495425"/>
            <a:ext cx="11049000" cy="9525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571500" y="1752600"/>
            <a:ext cx="4000500" cy="2428875"/>
          </a:xfrm>
          <a:prstGeom prst="roundRect">
            <a:avLst>
              <a:gd name="adj" fmla="val 6275"/>
            </a:avLst>
          </a:prstGeom>
          <a:solidFill>
            <a:srgbClr val="1C1411"/>
          </a:solidFill>
          <a:ln/>
        </p:spPr>
        <p:txBody>
          <a:bodyPr/>
          <a:p>
            <a:pPr/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76300" y="2057400"/>
            <a:ext cx="3390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BB0AD"/>
                </a:solidFill>
                <a:latin typeface="思源黑体"/>
                <a:ea typeface="思源黑体"/>
              </a:rPr>
              <a:t>公元前</a:t>
            </a:r>
            <a:r>
              <a:rPr lang="en-US" sz="1200">
                <a:solidFill>
                  <a:srgbClr val="BBB0AD"/>
                </a:solidFill>
                <a:latin typeface="思源黑体"/>
                <a:ea typeface="思源黑体"/>
              </a:rPr>
              <a:t> 551—</a:t>
            </a:r>
            <a:r>
              <a:rPr lang="zh-CN" sz="1200">
                <a:solidFill>
                  <a:srgbClr val="BBB0AD"/>
                </a:solidFill>
                <a:latin typeface="思源黑体"/>
                <a:ea typeface="思源黑体"/>
              </a:rPr>
              <a:t>前</a:t>
            </a:r>
            <a:r>
              <a:rPr lang="en-US" sz="1200">
                <a:solidFill>
                  <a:srgbClr val="BBB0AD"/>
                </a:solidFill>
                <a:latin typeface="思源黑体"/>
                <a:ea typeface="思源黑体"/>
              </a:rPr>
              <a:t> 479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876300" y="2381250"/>
            <a:ext cx="3390900" cy="4286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EFCF8"/>
                </a:solidFill>
                <a:latin typeface="霞鹜文楷"/>
                <a:ea typeface="霞鹜文楷"/>
              </a:rPr>
              <a:t>秩序碎了，人怎么办？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876300" y="2943225"/>
            <a:ext cx="33909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BBB0AD"/>
                </a:solidFill>
                <a:latin typeface="思源黑体"/>
                <a:ea typeface="思源黑体"/>
              </a:rPr>
              <a:t>周天子成了摆设，诸侯互相攻伐，臣弑其君如同家常——「礼崩乐坏」不是道德口号，是真实的社会解体。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4953000" y="1781175"/>
            <a:ext cx="666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仁：把外在的礼变成内在的人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4953000" y="2095500"/>
            <a:ext cx="6667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「人而不仁，如礼何？」仪式若无内在根据就只是空壳。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4953000" y="2657475"/>
            <a:ext cx="666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君子：不靠出身，靠修己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4953000" y="2971800"/>
            <a:ext cx="6667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修身、齐家、治国、平天下，是一条由内向外的路。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4953000" y="3533775"/>
            <a:ext cx="666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失败的行动者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4953000" y="3848100"/>
            <a:ext cx="6667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周游列国十几年，无一国君真正采纳——影响全在身后。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在星空与道德律之间</a:t>
            </a: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教学课件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0820400" y="650557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02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先秦诸子</a:t>
            </a:r>
            <a:endParaRPr/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02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先秦诸子</a:t>
            </a: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 ·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四家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571500" y="89535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33241F"/>
                </a:solidFill>
                <a:latin typeface="霞鹜文楷"/>
                <a:ea typeface="霞鹜文楷"/>
              </a:rPr>
              <a:t>儒墨道法：同一场崩溃，四张药方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571500" y="1495425"/>
            <a:ext cx="11049000" cy="9525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571500" y="1752600"/>
            <a:ext cx="11049000" cy="2714625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E2DED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762000" y="1943100"/>
            <a:ext cx="10668000" cy="390525"/>
          </a:xfrm>
          <a:prstGeom prst="roundRect">
            <a:avLst>
              <a:gd name="adj" fmla="val 19512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857250" y="2038350"/>
            <a:ext cx="114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EFCF8"/>
                </a:solidFill>
                <a:latin typeface="思源黑体"/>
                <a:ea typeface="思源黑体"/>
              </a:rPr>
              <a:t>学派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2190750" y="2038350"/>
            <a:ext cx="2667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EFCF8"/>
                </a:solidFill>
                <a:latin typeface="思源黑体"/>
                <a:ea typeface="思源黑体"/>
              </a:rPr>
              <a:t>诊断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5048250" y="2038350"/>
            <a:ext cx="3048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EFCF8"/>
                </a:solidFill>
                <a:latin typeface="思源黑体"/>
                <a:ea typeface="思源黑体"/>
              </a:rPr>
              <a:t>药方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8286750" y="2038350"/>
            <a:ext cx="247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EFCF8"/>
                </a:solidFill>
                <a:latin typeface="思源黑体"/>
                <a:ea typeface="思源黑体"/>
              </a:rPr>
              <a:t>代价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762000" y="2343150"/>
            <a:ext cx="10668000" cy="4857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762000" y="2333625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57250" y="2438400"/>
            <a:ext cx="1143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儒家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2190750" y="2438400"/>
            <a:ext cx="2667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人心失了仁与礼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5048250" y="2438400"/>
            <a:ext cx="3048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修己、正名、教化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8286750" y="2438400"/>
            <a:ext cx="2476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依赖在位者的自觉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762000" y="2828925"/>
            <a:ext cx="10668000" cy="485775"/>
          </a:xfrm>
          <a:prstGeom prst="rect">
            <a:avLst/>
          </a:prstGeom>
          <a:solidFill>
            <a:srgbClr val="F5F1EC"/>
          </a:solidFill>
          <a:ln/>
        </p:spPr>
        <p:txBody>
          <a:bodyPr/>
          <a:p>
            <a:pPr/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762000" y="2819400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857250" y="2924175"/>
            <a:ext cx="1143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墨家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2190750" y="2924175"/>
            <a:ext cx="2667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人不相爱、互相攻伐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5048250" y="2924175"/>
            <a:ext cx="3048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兼爱、非攻、尚贤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8286750" y="2924175"/>
            <a:ext cx="2476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标准过高，难以持续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762000" y="3314700"/>
            <a:ext cx="10668000" cy="4857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762000" y="3305175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857250" y="3409950"/>
            <a:ext cx="1143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道家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2190750" y="3409950"/>
            <a:ext cx="2667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人为造作扰了自然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5048250" y="3409950"/>
            <a:ext cx="3048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无为、返朴、顺势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8286750" y="3409950"/>
            <a:ext cx="2476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难给出可操作的制度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762000" y="3800475"/>
            <a:ext cx="10668000" cy="485775"/>
          </a:xfrm>
          <a:prstGeom prst="rect">
            <a:avLst/>
          </a:prstGeom>
          <a:solidFill>
            <a:srgbClr val="F5F1EC"/>
          </a:solidFill>
          <a:ln/>
        </p:spPr>
        <p:txBody>
          <a:bodyPr/>
          <a:p>
            <a:pPr/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762000" y="3790950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857250" y="3895725"/>
            <a:ext cx="1143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法家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2190750" y="3895725"/>
            <a:ext cx="2667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人性趋利，靠德不够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5048250" y="3895725"/>
            <a:ext cx="3048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法、术、势，赏罚分明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8286750" y="3895725"/>
            <a:ext cx="2476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效率极高而严苛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571500" y="4619625"/>
            <a:ext cx="11049000" cy="619125"/>
          </a:xfrm>
          <a:prstGeom prst="roundRect">
            <a:avLst>
              <a:gd name="adj" fmla="val 24615"/>
            </a:avLst>
          </a:prstGeom>
          <a:solidFill>
            <a:srgbClr val="E3EEF1"/>
          </a:solidFill>
          <a:ln/>
        </p:spPr>
        <p:txBody>
          <a:bodyPr/>
          <a:p>
            <a:pPr/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723900" y="4772025"/>
            <a:ext cx="10744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503C36"/>
                </a:solidFill>
                <a:latin typeface="思源黑体"/>
                <a:ea typeface="思源黑体"/>
              </a:rPr>
              <a:t>四家回答的是同一个崩溃，方向却正相反：一个往回修，一个往外推，一个往上退，一个往下压。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在星空与道德律之间</a:t>
            </a: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教学课件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0820400" y="650557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02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先秦诸子</a:t>
            </a:r>
            <a:endParaRPr/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02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先秦诸子</a:t>
            </a: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 ·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分岔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571500" y="89535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33241F"/>
                </a:solidFill>
                <a:latin typeface="霞鹜文楷"/>
                <a:ea typeface="霞鹜文楷"/>
              </a:rPr>
              <a:t>孟荀与老庄：人性内部的两条岔路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571500" y="1495425"/>
            <a:ext cx="11049000" cy="9525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571500" y="175260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704850" y="188595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01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295400" y="175260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孟子：人性有端，需扩充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295400" y="206692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恻隐之心人皆有之，四端扩而充之，即为仁义。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571500" y="257175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704850" y="270510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02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1295400" y="257175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荀子：人性趋利，需教化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1295400" y="288607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化性起伪，靠礼法与学习改造天生的倾向。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571500" y="339090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704850" y="352425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03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295400" y="339090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老庄：问题出在「要」本身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295400" y="370522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无为、齐物，把「应当如何」的执念放下。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571500" y="421005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704850" y="434340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04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1295400" y="421005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结果：叠加服用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1295400" y="452437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外儒内法、儒道互补，构成了中国人的文化性格。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在星空与道德律之间</a:t>
            </a: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教学课件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10820400" y="650557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02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先秦诸子</a:t>
            </a:r>
            <a:endParaRPr/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C1411"/>
          </a:solidFill>
          <a:ln/>
        </p:spPr>
        <p:txBody>
          <a:bodyPr/>
          <a:p>
            <a:pPr/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571500" y="2571750"/>
            <a:ext cx="160020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BBB0AD"/>
                </a:solidFill>
                <a:latin typeface="霞鹜文楷"/>
                <a:ea typeface="霞鹜文楷"/>
              </a:rPr>
              <a:t>03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2552700" y="2781300"/>
            <a:ext cx="9067800" cy="571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000" b="1">
                <a:solidFill>
                  <a:srgbClr val="FEFCF8"/>
                </a:solidFill>
                <a:latin typeface="霞鹜文楷"/>
                <a:ea typeface="霞鹜文楷"/>
              </a:rPr>
              <a:t>印度与波斯</a:t>
            </a:r>
            <a:r>
              <a:rPr lang="en-US" sz="3000" b="1">
                <a:solidFill>
                  <a:srgbClr val="FEFCF8"/>
                </a:solidFill>
                <a:latin typeface="霞鹜文楷"/>
                <a:ea typeface="霞鹜文楷"/>
              </a:rPr>
              <a:t> </a:t>
            </a:r>
            <a:r>
              <a:rPr lang="zh-CN" sz="3000" b="1">
                <a:solidFill>
                  <a:srgbClr val="FEFCF8"/>
                </a:solidFill>
                <a:latin typeface="霞鹜文楷"/>
                <a:ea typeface="霞鹜文楷"/>
              </a:rPr>
              <a:t>在苦难与火焰之间寻找出路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2552700" y="3524250"/>
            <a:ext cx="838200" cy="19050"/>
          </a:xfrm>
          <a:prstGeom prst="rect">
            <a:avLst/>
          </a:prstGeom>
          <a:solidFill>
            <a:srgbClr val="8FA8A5"/>
          </a:solidFill>
          <a:ln/>
        </p:spPr>
        <p:txBody>
          <a:bodyPr/>
          <a:p>
            <a:pPr/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2552700" y="3714750"/>
            <a:ext cx="90678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BBB0AD"/>
                </a:solidFill>
                <a:latin typeface="思源黑体"/>
                <a:ea typeface="思源黑体"/>
              </a:rPr>
              <a:t>公元前六世纪：一个说「出去」，一个说「战斗到底」</a:t>
            </a:r>
            <a:endParaRPr/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03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印度与波斯</a:t>
            </a: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 ·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印度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571500" y="89535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33241F"/>
                </a:solidFill>
                <a:latin typeface="霞鹜文楷"/>
                <a:ea typeface="霞鹜文楷"/>
              </a:rPr>
              <a:t>奥义书：把世界收回到一个字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571500" y="1495425"/>
            <a:ext cx="11049000" cy="9525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571500" y="1752600"/>
            <a:ext cx="4000500" cy="2381250"/>
          </a:xfrm>
          <a:prstGeom prst="roundRect">
            <a:avLst>
              <a:gd name="adj" fmla="val 6400"/>
            </a:avLst>
          </a:prstGeom>
          <a:solidFill>
            <a:srgbClr val="1C1411"/>
          </a:solidFill>
          <a:ln/>
        </p:spPr>
        <p:txBody>
          <a:bodyPr/>
          <a:p>
            <a:pPr/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876300" y="2057400"/>
            <a:ext cx="3390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BB0AD"/>
                </a:solidFill>
                <a:latin typeface="思源黑体"/>
                <a:ea typeface="思源黑体"/>
              </a:rPr>
              <a:t>奥义书的核心命题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876300" y="2381250"/>
            <a:ext cx="3390900" cy="4286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EFCF8"/>
                </a:solidFill>
                <a:latin typeface="霞鹜文楷"/>
                <a:ea typeface="霞鹜文楷"/>
              </a:rPr>
              <a:t>梵我一如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876300" y="2943225"/>
            <a:ext cx="33909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BBB0AD"/>
                </a:solidFill>
                <a:latin typeface="思源黑体"/>
                <a:ea typeface="思源黑体"/>
              </a:rPr>
              <a:t>外在的祭祀不够了，追问转向内在：在一切变化背后，那个不变的东西究竟是什么？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4953000" y="1752600"/>
            <a:ext cx="666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梵：世界的最终根基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4953000" y="2066925"/>
            <a:ext cx="6667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一切由它流出、由它维系，最终也将归于它。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4953000" y="2628900"/>
            <a:ext cx="666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我（阿特曼）：最内在的自己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4953000" y="2943225"/>
            <a:ext cx="6667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不是身体，不是念头，而是见证这一切的那个。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4953000" y="3505200"/>
            <a:ext cx="666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业与轮回：时间的形状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4953000" y="3819525"/>
            <a:ext cx="6667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行为留下势能，把生命推入下一轮——解脱才是终点。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在星空与道德律之间</a:t>
            </a: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教学课件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0687050" y="650557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03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印度与波斯</a:t>
            </a:r>
            <a:endParaRPr/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03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印度与波斯</a:t>
            </a: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 ·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佛陀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571500" y="89535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33241F"/>
                </a:solidFill>
                <a:latin typeface="霞鹜文楷"/>
                <a:ea typeface="霞鹜文楷"/>
              </a:rPr>
              <a:t>佛陀：从「苦」出发的一套方案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571500" y="1495425"/>
            <a:ext cx="11049000" cy="9525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571500" y="175260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704850" y="188595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01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1295400" y="175260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诊断：一切皆苦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1295400" y="206692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生老病死、求不得、爱别离——苦是结构性的，不只是一次倒霉。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571500" y="257175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704850" y="270510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02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1295400" y="257175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病因：渴爱与无明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295400" y="288607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把无常的东西当成可以抓住的，苦就开始了。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571500" y="339090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704850" y="352425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03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1295400" y="339090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方法：八正道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1295400" y="370522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戒、定、慧三学，中道而行，不走苦行也不走纵欲。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571500" y="421005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704850" y="434340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04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1295400" y="421005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结论：缘起与无我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1295400" y="452437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万物依条件而生，没有不变的主宰者——「无我」不是虚无，是松开抓手。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在星空与道德律之间</a:t>
            </a: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教学课件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0687050" y="650557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03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印度与波斯</a:t>
            </a:r>
            <a:endParaRPr/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1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03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印度与波斯</a:t>
            </a: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 ·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对照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571500" y="89535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33241F"/>
                </a:solidFill>
                <a:latin typeface="霞鹜文楷"/>
                <a:ea typeface="霞鹜文楷"/>
              </a:rPr>
              <a:t>印度与波斯：两种面对苦难的想象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571500" y="1495425"/>
            <a:ext cx="11049000" cy="9525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571500" y="1752600"/>
            <a:ext cx="11049000" cy="2714625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E2DED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762000" y="1943100"/>
            <a:ext cx="10668000" cy="390525"/>
          </a:xfrm>
          <a:prstGeom prst="roundRect">
            <a:avLst>
              <a:gd name="adj" fmla="val 19512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857250" y="2038350"/>
            <a:ext cx="1524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EFCF8"/>
                </a:solidFill>
                <a:latin typeface="思源黑体"/>
                <a:ea typeface="思源黑体"/>
              </a:rPr>
              <a:t>维度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2571750" y="2038350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EFCF8"/>
                </a:solidFill>
                <a:latin typeface="思源黑体"/>
                <a:ea typeface="思源黑体"/>
              </a:rPr>
              <a:t>印度路径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7143750" y="2038350"/>
            <a:ext cx="4191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EFCF8"/>
                </a:solidFill>
                <a:latin typeface="思源黑体"/>
                <a:ea typeface="思源黑体"/>
              </a:rPr>
              <a:t>波斯路径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762000" y="2343150"/>
            <a:ext cx="10668000" cy="4857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762000" y="2333625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857250" y="2438400"/>
            <a:ext cx="1524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问题起点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2571750" y="2438400"/>
            <a:ext cx="4381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苦与轮回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7143750" y="2438400"/>
            <a:ext cx="4191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善与恶的斗争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762000" y="2828925"/>
            <a:ext cx="10668000" cy="485775"/>
          </a:xfrm>
          <a:prstGeom prst="rect">
            <a:avLst/>
          </a:prstGeom>
          <a:solidFill>
            <a:srgbClr val="F5F1EC"/>
          </a:solidFill>
          <a:ln/>
        </p:spPr>
        <p:txBody>
          <a:bodyPr/>
          <a:p>
            <a:pPr/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762000" y="2819400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857250" y="2924175"/>
            <a:ext cx="1524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世界图景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2571750" y="2924175"/>
            <a:ext cx="4381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循环的时间，业力相续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7143750" y="2924175"/>
            <a:ext cx="4191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线性的历史，有终局的决战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762000" y="3314700"/>
            <a:ext cx="10668000" cy="4857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762000" y="3305175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857250" y="3409950"/>
            <a:ext cx="1524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人的任务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2571750" y="3409950"/>
            <a:ext cx="4381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从轮回中解脱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7143750" y="3409950"/>
            <a:ext cx="4191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在善恶之间站队：善思、善言、善行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762000" y="3800475"/>
            <a:ext cx="10668000" cy="485775"/>
          </a:xfrm>
          <a:prstGeom prst="rect">
            <a:avLst/>
          </a:prstGeom>
          <a:solidFill>
            <a:srgbClr val="F5F1EC"/>
          </a:solidFill>
          <a:ln/>
        </p:spPr>
        <p:txBody>
          <a:bodyPr/>
          <a:p>
            <a:pPr/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762000" y="3790950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857250" y="3895725"/>
            <a:ext cx="1524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后续影响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2571750" y="3895725"/>
            <a:ext cx="4381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佛教、印度教，并深刻影响东亚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7143750" y="3895725"/>
            <a:ext cx="4191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影响犹太教、基督教、伊斯兰的善恶观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571500" y="4619625"/>
            <a:ext cx="11049000" cy="619125"/>
          </a:xfrm>
          <a:prstGeom prst="roundRect">
            <a:avLst>
              <a:gd name="adj" fmla="val 24615"/>
            </a:avLst>
          </a:prstGeom>
          <a:solidFill>
            <a:srgbClr val="E3EEF1"/>
          </a:solidFill>
          <a:ln/>
        </p:spPr>
        <p:txBody>
          <a:bodyPr/>
          <a:p>
            <a:pPr/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723900" y="4772025"/>
            <a:ext cx="10744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503C36"/>
                </a:solidFill>
                <a:latin typeface="思源黑体"/>
                <a:ea typeface="思源黑体"/>
              </a:rPr>
              <a:t>一个说「出去」，一个说「战斗到底」——后来的宗教大多在这两种想象之间摆动。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在星空与道德律之间</a:t>
            </a: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教学课件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0687050" y="650557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03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印度与波斯</a:t>
            </a:r>
            <a:endParaRPr/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1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C1411"/>
          </a:solidFill>
          <a:ln/>
        </p:spPr>
        <p:txBody>
          <a:bodyPr/>
          <a:p>
            <a:pPr/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571500" y="2571750"/>
            <a:ext cx="160020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BBB0AD"/>
                </a:solidFill>
                <a:latin typeface="霞鹜文楷"/>
                <a:ea typeface="霞鹜文楷"/>
              </a:rPr>
              <a:t>04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2552700" y="2781300"/>
            <a:ext cx="9067800" cy="571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000" b="1">
                <a:solidFill>
                  <a:srgbClr val="FEFCF8"/>
                </a:solidFill>
                <a:latin typeface="霞鹜文楷"/>
                <a:ea typeface="霞鹜文楷"/>
              </a:rPr>
              <a:t>古希腊黎明</a:t>
            </a:r>
            <a:r>
              <a:rPr lang="en-US" sz="3000" b="1">
                <a:solidFill>
                  <a:srgbClr val="FEFCF8"/>
                </a:solidFill>
                <a:latin typeface="霞鹜文楷"/>
                <a:ea typeface="霞鹜文楷"/>
              </a:rPr>
              <a:t> </a:t>
            </a:r>
            <a:r>
              <a:rPr lang="zh-CN" sz="3000" b="1">
                <a:solidFill>
                  <a:srgbClr val="FEFCF8"/>
                </a:solidFill>
                <a:latin typeface="霞鹜文楷"/>
                <a:ea typeface="霞鹜文楷"/>
              </a:rPr>
              <a:t>一群仰望星空的人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2552700" y="3524250"/>
            <a:ext cx="838200" cy="19050"/>
          </a:xfrm>
          <a:prstGeom prst="rect">
            <a:avLst/>
          </a:prstGeom>
          <a:solidFill>
            <a:srgbClr val="8FA8A5"/>
          </a:solidFill>
          <a:ln/>
        </p:spPr>
        <p:txBody>
          <a:bodyPr/>
          <a:p>
            <a:pPr/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2552700" y="3714750"/>
            <a:ext cx="90678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BBB0AD"/>
                </a:solidFill>
                <a:latin typeface="思源黑体"/>
                <a:ea typeface="思源黑体"/>
              </a:rPr>
              <a:t>从「世界的本原是什么」到「人应当怎样生活」</a:t>
            </a:r>
            <a:endParaRPr/>
          </a:p>
        </p:txBody>
      </p:sp>
    </p:spTree>
  </p:cSld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1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04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古希腊</a:t>
            </a: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 ·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米利都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571500" y="89535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33241F"/>
                </a:solidFill>
                <a:latin typeface="霞鹜文楷"/>
                <a:ea typeface="霞鹜文楷"/>
              </a:rPr>
              <a:t>米利都三杰：世界的「本原」是什么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571500" y="1495425"/>
            <a:ext cx="11049000" cy="9525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571500" y="175260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704850" y="188595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01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1295400" y="175260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泰勒斯：水是万物本原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1295400" y="206692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第一次用自然解释自然，不再借助神话。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571500" y="257175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704850" y="270510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02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1295400" y="257175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阿那克西曼德：本原是「无定」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1295400" y="288607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任何具体的东西都会耗尽，本原必须是无限的。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571500" y="339090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704850" y="352425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03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1295400" y="339090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阿那克西米尼：气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295400" y="370522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稀散为火，凝聚成风、云、水、土——同一套东西的不同密度。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571500" y="421005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704850" y="434340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04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1295400" y="421005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真正的遗产不是答案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1295400" y="452437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而是「世界可以被一套统一原则解释」这个假设。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在星空与道德律之间</a:t>
            </a: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教学课件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10687050" y="650557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04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古希腊黎明</a:t>
            </a:r>
            <a:endParaRPr/>
          </a:p>
        </p:txBody>
      </p:sp>
    </p:spTree>
  </p:cSld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2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04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古希腊</a:t>
            </a: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 ·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交锋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571500" y="89535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33241F"/>
                </a:solidFill>
                <a:latin typeface="霞鹜文楷"/>
                <a:ea typeface="霞鹜文楷"/>
              </a:rPr>
              <a:t>变与不变：哲学的第一场硬碰硬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571500" y="1495425"/>
            <a:ext cx="11049000" cy="9525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571500" y="1752600"/>
            <a:ext cx="5286375" cy="2857500"/>
          </a:xfrm>
          <a:prstGeom prst="roundRect">
            <a:avLst>
              <a:gd name="adj" fmla="val 5333"/>
            </a:avLst>
          </a:prstGeom>
          <a:solidFill>
            <a:srgbClr val="E3EEF1"/>
          </a:solidFill>
          <a:ln/>
        </p:spPr>
        <p:txBody>
          <a:bodyPr/>
          <a:p>
            <a:pPr/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838200" y="2019300"/>
            <a:ext cx="47529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33241F"/>
                </a:solidFill>
                <a:latin typeface="霞鹜文楷"/>
                <a:ea typeface="霞鹜文楷"/>
              </a:rPr>
              <a:t>赫拉克利特：万物皆流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838200" y="2428875"/>
            <a:ext cx="475297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503C36"/>
                </a:solidFill>
                <a:latin typeface="思源黑体"/>
                <a:ea typeface="思源黑体"/>
              </a:rPr>
              <a:t>人不能两次踏进同一条河流。对立面相互转化，斗争是常态；但在流变背后有一套秩序，他称之为「逻各斯」。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6086475" y="1752600"/>
            <a:ext cx="9525" cy="2857500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6324600" y="1752600"/>
            <a:ext cx="5286375" cy="2857500"/>
          </a:xfrm>
          <a:prstGeom prst="roundRect">
            <a:avLst>
              <a:gd name="adj" fmla="val 5333"/>
            </a:avLst>
          </a:prstGeom>
          <a:ln w="12700">
            <a:solidFill>
              <a:srgbClr val="E2DED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6591300" y="2019300"/>
            <a:ext cx="47529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33241F"/>
                </a:solidFill>
                <a:latin typeface="霞鹜文楷"/>
                <a:ea typeface="霞鹜文楷"/>
              </a:rPr>
              <a:t>巴门尼德：存在不生不灭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6591300" y="2428875"/>
            <a:ext cx="4752975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503C36"/>
                </a:solidFill>
                <a:latin typeface="思源黑体"/>
                <a:ea typeface="思源黑体"/>
              </a:rPr>
              <a:t>变化只可能是感官的假象。理性告诉我们：存在者存在，它不动、不生、不灭。芝诺用四个悖论为老师辩护——运动在逻辑上自相矛盾。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在星空与道德律之间</a:t>
            </a: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教学课件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10687050" y="650557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04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古希腊黎明</a:t>
            </a:r>
            <a:endParaRPr/>
          </a:p>
        </p:txBody>
      </p:sp>
    </p:spTree>
  </p:cSld>
</p:sld>
</file>

<file path=ppt/slides/slide21.xml><?xml version="1.0" encoding="utf-8"?>
<p:sld xmlns:a="http://schemas.openxmlformats.org/drawingml/2006/main" xmlns:p="http://schemas.openxmlformats.org/presentationml/2006/main">
  <p:cSld>
    <p:spTree>
      <p:nvGrpSpPr>
        <p:cNvPr id="2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04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古希腊</a:t>
            </a: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 ·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转向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571500" y="89535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33241F"/>
                </a:solidFill>
                <a:latin typeface="霞鹜文楷"/>
                <a:ea typeface="霞鹜文楷"/>
              </a:rPr>
              <a:t>从自然转向人：智者与苏格拉底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571500" y="1495425"/>
            <a:ext cx="11049000" cy="9525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571500" y="1752600"/>
            <a:ext cx="4000500" cy="2381250"/>
          </a:xfrm>
          <a:prstGeom prst="roundRect">
            <a:avLst>
              <a:gd name="adj" fmla="val 6400"/>
            </a:avLst>
          </a:prstGeom>
          <a:solidFill>
            <a:srgbClr val="1C1411"/>
          </a:solidFill>
          <a:ln/>
        </p:spPr>
        <p:txBody>
          <a:bodyPr/>
          <a:p>
            <a:pPr/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876300" y="2057400"/>
            <a:ext cx="3390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BB0AD"/>
                </a:solidFill>
                <a:latin typeface="思源黑体"/>
                <a:ea typeface="思源黑体"/>
              </a:rPr>
              <a:t>德尔斐神庙箴言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876300" y="2381250"/>
            <a:ext cx="3390900" cy="4286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EFCF8"/>
                </a:solidFill>
                <a:latin typeface="霞鹜文楷"/>
                <a:ea typeface="霞鹜文楷"/>
              </a:rPr>
              <a:t>认识你自己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876300" y="2943225"/>
            <a:ext cx="33909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BBB0AD"/>
                </a:solidFill>
                <a:latin typeface="思源黑体"/>
                <a:ea typeface="思源黑体"/>
              </a:rPr>
              <a:t>苏格拉底把这句箴言变成了一种工作方式：不停追问，直到对方承认自己并不知道。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4953000" y="1752600"/>
            <a:ext cx="666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智者：人是万物的尺度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4953000" y="2066925"/>
            <a:ext cx="6667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普罗泰戈拉把真理拉到人的判断上，也带来了相对主义的风险。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4953000" y="2628900"/>
            <a:ext cx="666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苏格拉底：承认无知才是起点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4953000" y="2943225"/>
            <a:ext cx="6667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到处问「什么是勇敢」「什么是虔诚」，把对方的自信问碎。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4953000" y="3505200"/>
            <a:ext cx="666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代价与遗产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4953000" y="3819525"/>
            <a:ext cx="6667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雅典投票处死了他，但「提问定义了人的精神高度」留了下来。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在星空与道德律之间</a:t>
            </a: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教学课件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10687050" y="650557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04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古希腊黎明</a:t>
            </a:r>
            <a:endParaRPr/>
          </a:p>
        </p:txBody>
      </p:sp>
    </p:spTree>
  </p:cSld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2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C1411"/>
          </a:solidFill>
          <a:ln/>
        </p:spPr>
        <p:txBody>
          <a:bodyPr/>
          <a:p>
            <a:pPr/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571500" y="2571750"/>
            <a:ext cx="160020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BBB0AD"/>
                </a:solidFill>
                <a:latin typeface="霞鹜文楷"/>
                <a:ea typeface="霞鹜文楷"/>
              </a:rPr>
              <a:t>05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2552700" y="2781300"/>
            <a:ext cx="9067800" cy="571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000" b="1">
                <a:solidFill>
                  <a:srgbClr val="FEFCF8"/>
                </a:solidFill>
                <a:latin typeface="霞鹜文楷"/>
                <a:ea typeface="霞鹜文楷"/>
              </a:rPr>
              <a:t>柏拉图与亚里士多德</a:t>
            </a:r>
            <a:r>
              <a:rPr lang="en-US" sz="3000" b="1">
                <a:solidFill>
                  <a:srgbClr val="FEFCF8"/>
                </a:solidFill>
                <a:latin typeface="霞鹜文楷"/>
                <a:ea typeface="霞鹜文楷"/>
              </a:rPr>
              <a:t> </a:t>
            </a:r>
            <a:r>
              <a:rPr lang="zh-CN" sz="3000" b="1">
                <a:solidFill>
                  <a:srgbClr val="FEFCF8"/>
                </a:solidFill>
                <a:latin typeface="霞鹜文楷"/>
                <a:ea typeface="霞鹜文楷"/>
              </a:rPr>
              <a:t>一个仰望星空，一个脚踏实地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2552700" y="3524250"/>
            <a:ext cx="838200" cy="19050"/>
          </a:xfrm>
          <a:prstGeom prst="rect">
            <a:avLst/>
          </a:prstGeom>
          <a:solidFill>
            <a:srgbClr val="8FA8A5"/>
          </a:solidFill>
          <a:ln/>
        </p:spPr>
        <p:txBody>
          <a:bodyPr/>
          <a:p>
            <a:pPr/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2552700" y="3714750"/>
            <a:ext cx="90678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BBB0AD"/>
                </a:solidFill>
                <a:latin typeface="思源黑体"/>
                <a:ea typeface="思源黑体"/>
              </a:rPr>
              <a:t>师徒二人给西方留下两种相反的冲动</a:t>
            </a:r>
            <a:endParaRPr/>
          </a:p>
        </p:txBody>
      </p:sp>
    </p:spTree>
  </p:cSld>
</p:sld>
</file>

<file path=ppt/slides/slide23.xml><?xml version="1.0" encoding="utf-8"?>
<p:sld xmlns:a="http://schemas.openxmlformats.org/drawingml/2006/main" xmlns:p="http://schemas.openxmlformats.org/presentationml/2006/main">
  <p:cSld>
    <p:spTree>
      <p:nvGrpSpPr>
        <p:cNvPr id="2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05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柏拉图与亚里士多德</a:t>
            </a: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 ·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方法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571500" y="89535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33241F"/>
                </a:solidFill>
                <a:latin typeface="霞鹜文楷"/>
                <a:ea typeface="霞鹜文楷"/>
              </a:rPr>
              <a:t>苏格拉底的「助产术」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571500" y="1495425"/>
            <a:ext cx="11049000" cy="9525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571500" y="175260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704850" y="188595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01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1295400" y="175260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反诘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1295400" y="206692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先请你给出一个定义，再指出它如何自相矛盾。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571500" y="257175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704850" y="270510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02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1295400" y="257175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承认无知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1295400" y="288607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「我唯一知道的是我一无所知」——不是谦虚，是方法。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571500" y="339090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704850" y="352425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03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1295400" y="339090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助产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1295400" y="370522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真理不是我灌输给你的，是在追问中由你自己生出来。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571500" y="421005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704850" y="434340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04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1295400" y="421005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为什么被判死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1295400" y="452437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一个不断拆掉别人确定性的提问者，会让城邦不舒服。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在星空与道德律之间</a:t>
            </a: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教学课件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10153650" y="6505575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05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柏拉图与亚里士多德</a:t>
            </a:r>
            <a:endParaRPr/>
          </a:p>
        </p:txBody>
      </p:sp>
    </p:spTree>
  </p:cSld>
</p:sld>
</file>

<file path=ppt/slides/slide24.xml><?xml version="1.0" encoding="utf-8"?>
<p:sld xmlns:a="http://schemas.openxmlformats.org/drawingml/2006/main" xmlns:p="http://schemas.openxmlformats.org/presentationml/2006/main">
  <p:cSld>
    <p:spTree>
      <p:nvGrpSpPr>
        <p:cNvPr id="3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05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柏拉图与亚里士多德</a:t>
            </a: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 ·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洞穴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571500" y="89535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33241F"/>
                </a:solidFill>
                <a:latin typeface="霞鹜文楷"/>
                <a:ea typeface="霞鹜文楷"/>
              </a:rPr>
              <a:t>柏拉图：两个世界与一个洞穴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571500" y="1495425"/>
            <a:ext cx="11049000" cy="9525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571500" y="1752600"/>
            <a:ext cx="4000500" cy="2428875"/>
          </a:xfrm>
          <a:prstGeom prst="roundRect">
            <a:avLst>
              <a:gd name="adj" fmla="val 6275"/>
            </a:avLst>
          </a:prstGeom>
          <a:solidFill>
            <a:srgbClr val="1C1411"/>
          </a:solidFill>
          <a:ln/>
        </p:spPr>
        <p:txBody>
          <a:bodyPr/>
          <a:p>
            <a:pPr/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876300" y="2057400"/>
            <a:ext cx="3390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BB0AD"/>
                </a:solidFill>
                <a:latin typeface="思源黑体"/>
                <a:ea typeface="思源黑体"/>
              </a:rPr>
              <a:t>《理想国》第七卷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876300" y="2381250"/>
            <a:ext cx="3390900" cy="4286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EFCF8"/>
                </a:solidFill>
                <a:latin typeface="霞鹜文楷"/>
                <a:ea typeface="霞鹜文楷"/>
              </a:rPr>
              <a:t>洞穴寓言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876300" y="2943225"/>
            <a:ext cx="33909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BBB0AD"/>
                </a:solidFill>
                <a:latin typeface="思源黑体"/>
                <a:ea typeface="思源黑体"/>
              </a:rPr>
              <a:t>我们像被锁住的囚徒，把墙上的影子当成真实；转身、出洞、直视太阳，是一条痛苦的上升之路。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4953000" y="1781175"/>
            <a:ext cx="666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理念论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4953000" y="2095500"/>
            <a:ext cx="6667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可见的具体事物只是摹本，不变的理念才是真实的存在。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4953000" y="2657475"/>
            <a:ext cx="666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灵魂三分与正义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4953000" y="2971800"/>
            <a:ext cx="6667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理性、激情、欲望各安其位，人正义，城邦才可能正义。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4953000" y="3533775"/>
            <a:ext cx="666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哲学王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4953000" y="3848100"/>
            <a:ext cx="6667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只有见过太阳的人才有资格回去管洞穴——这是最招骂的一条。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在星空与道德律之间</a:t>
            </a: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教学课件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10153650" y="6505575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05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柏拉图与亚里士多德</a:t>
            </a:r>
            <a:endParaRPr/>
          </a:p>
        </p:txBody>
      </p:sp>
    </p:spTree>
  </p:cSld>
</p:sld>
</file>

<file path=ppt/slides/slide25.xml><?xml version="1.0" encoding="utf-8"?>
<p:sld xmlns:a="http://schemas.openxmlformats.org/drawingml/2006/main" xmlns:p="http://schemas.openxmlformats.org/presentationml/2006/main">
  <p:cSld>
    <p:spTree>
      <p:nvGrpSpPr>
        <p:cNvPr id="3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05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柏拉图与亚里士多德</a:t>
            </a: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 ·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分歧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571500" y="89535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33241F"/>
                </a:solidFill>
                <a:latin typeface="霞鹜文楷"/>
                <a:ea typeface="霞鹜文楷"/>
              </a:rPr>
              <a:t>师徒分歧：理念在天上，还是在此处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571500" y="1495425"/>
            <a:ext cx="11049000" cy="9525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329" name=""/>
          <p:cNvSpPr/>
          <p:nvPr/>
        </p:nvSpPr>
        <p:spPr>
          <a:xfrm rot="0" flipH="0" flipV="0">
            <a:off x="571500" y="1752600"/>
            <a:ext cx="11049000" cy="2714625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E2DED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762000" y="1943100"/>
            <a:ext cx="10668000" cy="390525"/>
          </a:xfrm>
          <a:prstGeom prst="roundRect">
            <a:avLst>
              <a:gd name="adj" fmla="val 19512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857250" y="2038350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EFCF8"/>
                </a:solidFill>
                <a:latin typeface="思源黑体"/>
                <a:ea typeface="思源黑体"/>
              </a:rPr>
              <a:t>问题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2952750" y="2038350"/>
            <a:ext cx="400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EFCF8"/>
                </a:solidFill>
                <a:latin typeface="思源黑体"/>
                <a:ea typeface="思源黑体"/>
              </a:rPr>
              <a:t>柏拉图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7143750" y="2038350"/>
            <a:ext cx="400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EFCF8"/>
                </a:solidFill>
                <a:latin typeface="思源黑体"/>
                <a:ea typeface="思源黑体"/>
              </a:rPr>
              <a:t>亚里士多德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762000" y="2343150"/>
            <a:ext cx="10668000" cy="4857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762000" y="2333625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857250" y="2438400"/>
            <a:ext cx="1905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真实在哪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2952750" y="2438400"/>
            <a:ext cx="4000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在超越的理念世界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7143750" y="2438400"/>
            <a:ext cx="4000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在个别事物之中，形式不离质料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762000" y="2828925"/>
            <a:ext cx="10668000" cy="485775"/>
          </a:xfrm>
          <a:prstGeom prst="rect">
            <a:avLst/>
          </a:prstGeom>
          <a:solidFill>
            <a:srgbClr val="F5F1EC"/>
          </a:solidFill>
          <a:ln/>
        </p:spPr>
        <p:txBody>
          <a:bodyPr/>
          <a:p>
            <a:pPr/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762000" y="2819400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857250" y="2924175"/>
            <a:ext cx="1905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如何认识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2952750" y="2924175"/>
            <a:ext cx="4000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回忆与灵魂的上升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7143750" y="2924175"/>
            <a:ext cx="4000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从经验出发，归纳加演绎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762000" y="3314700"/>
            <a:ext cx="10668000" cy="4857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762000" y="3305175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857250" y="3409950"/>
            <a:ext cx="1905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变化解释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2952750" y="3409950"/>
            <a:ext cx="4000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摹仿不变的原型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7143750" y="3409950"/>
            <a:ext cx="4000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潜能实现为现实（四因说）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762000" y="3800475"/>
            <a:ext cx="10668000" cy="485775"/>
          </a:xfrm>
          <a:prstGeom prst="rect">
            <a:avLst/>
          </a:prstGeom>
          <a:solidFill>
            <a:srgbClr val="F5F1EC"/>
          </a:solidFill>
          <a:ln/>
        </p:spPr>
        <p:txBody>
          <a:bodyPr/>
          <a:p>
            <a:pPr/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762000" y="3790950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857250" y="3895725"/>
            <a:ext cx="1905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最好的生活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2952750" y="3895725"/>
            <a:ext cx="4000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凝思式的上升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7143750" y="3895725"/>
            <a:ext cx="4000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中道、习惯与实践智慧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571500" y="4619625"/>
            <a:ext cx="11049000" cy="619125"/>
          </a:xfrm>
          <a:prstGeom prst="roundRect">
            <a:avLst>
              <a:gd name="adj" fmla="val 24615"/>
            </a:avLst>
          </a:prstGeom>
          <a:solidFill>
            <a:srgbClr val="E3EEF1"/>
          </a:solidFill>
          <a:ln/>
        </p:spPr>
        <p:txBody>
          <a:bodyPr/>
          <a:p>
            <a:pPr/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723900" y="4772025"/>
            <a:ext cx="10744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503C36"/>
                </a:solidFill>
                <a:latin typeface="思源黑体"/>
                <a:ea typeface="思源黑体"/>
              </a:rPr>
              <a:t>一个给西方留下「向上看」的冲动，一个留下「分类与验证」的习惯。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在星空与道德律之间</a:t>
            </a: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教学课件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10153650" y="6505575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05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柏拉图与亚里士多德</a:t>
            </a:r>
            <a:endParaRPr/>
          </a:p>
        </p:txBody>
      </p:sp>
    </p:spTree>
  </p:cSld>
</p:sld>
</file>

<file path=ppt/slides/slide26.xml><?xml version="1.0" encoding="utf-8"?>
<p:sld xmlns:a="http://schemas.openxmlformats.org/drawingml/2006/main" xmlns:p="http://schemas.openxmlformats.org/presentationml/2006/main">
  <p:cSld>
    <p:spTree>
      <p:nvGrpSpPr>
        <p:cNvPr id="3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C1411"/>
          </a:solidFill>
          <a:ln/>
        </p:spPr>
        <p:txBody>
          <a:bodyPr/>
          <a:p>
            <a:pPr/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571500" y="2571750"/>
            <a:ext cx="160020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BBB0AD"/>
                </a:solidFill>
                <a:latin typeface="霞鹜文楷"/>
                <a:ea typeface="霞鹜文楷"/>
              </a:rPr>
              <a:t>06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2552700" y="2781300"/>
            <a:ext cx="9067800" cy="571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000" b="1">
                <a:solidFill>
                  <a:srgbClr val="FEFCF8"/>
                </a:solidFill>
                <a:latin typeface="霞鹜文楷"/>
                <a:ea typeface="霞鹜文楷"/>
              </a:rPr>
              <a:t>希腊化与罗马</a:t>
            </a:r>
            <a:r>
              <a:rPr lang="en-US" sz="3000" b="1">
                <a:solidFill>
                  <a:srgbClr val="FEFCF8"/>
                </a:solidFill>
                <a:latin typeface="霞鹜文楷"/>
                <a:ea typeface="霞鹜文楷"/>
              </a:rPr>
              <a:t> </a:t>
            </a:r>
            <a:r>
              <a:rPr lang="zh-CN" sz="3000" b="1">
                <a:solidFill>
                  <a:srgbClr val="FEFCF8"/>
                </a:solidFill>
                <a:latin typeface="霞鹜文楷"/>
                <a:ea typeface="霞鹜文楷"/>
              </a:rPr>
              <a:t>当世界崩塌，哲学成为避难所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2552700" y="3524250"/>
            <a:ext cx="838200" cy="19050"/>
          </a:xfrm>
          <a:prstGeom prst="rect">
            <a:avLst/>
          </a:prstGeom>
          <a:solidFill>
            <a:srgbClr val="8FA8A5"/>
          </a:solidFill>
          <a:ln/>
        </p:spPr>
        <p:txBody>
          <a:bodyPr/>
          <a:p>
            <a:pPr/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2552700" y="3714750"/>
            <a:ext cx="90678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BBB0AD"/>
                </a:solidFill>
                <a:latin typeface="思源黑体"/>
                <a:ea typeface="思源黑体"/>
              </a:rPr>
              <a:t>城邦没了，哲学第一次被当成心灵的药</a:t>
            </a:r>
            <a:endParaRPr/>
          </a:p>
        </p:txBody>
      </p:sp>
    </p:spTree>
  </p:cSld>
</p:sld>
</file>

<file path=ppt/slides/slide27.xml><?xml version="1.0" encoding="utf-8"?>
<p:sld xmlns:a="http://schemas.openxmlformats.org/drawingml/2006/main" xmlns:p="http://schemas.openxmlformats.org/presentationml/2006/main">
  <p:cSld>
    <p:spTree>
      <p:nvGrpSpPr>
        <p:cNvPr id="3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06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希腊化与罗马</a:t>
            </a: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 ·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四派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571500" y="89535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33241F"/>
                </a:solidFill>
                <a:latin typeface="霞鹜文楷"/>
                <a:ea typeface="霞鹜文楷"/>
              </a:rPr>
              <a:t>四种生活方案：哲学成为避难所</a:t>
            </a:r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571500" y="1495425"/>
            <a:ext cx="11049000" cy="9525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571500" y="1752600"/>
            <a:ext cx="11049000" cy="2714625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E2DED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762000" y="1943100"/>
            <a:ext cx="10668000" cy="390525"/>
          </a:xfrm>
          <a:prstGeom prst="roundRect">
            <a:avLst>
              <a:gd name="adj" fmla="val 19512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857250" y="2038350"/>
            <a:ext cx="123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EFCF8"/>
                </a:solidFill>
                <a:latin typeface="思源黑体"/>
                <a:ea typeface="思源黑体"/>
              </a:rPr>
              <a:t>流派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2286000" y="203835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EFCF8"/>
                </a:solidFill>
                <a:latin typeface="思源黑体"/>
                <a:ea typeface="思源黑体"/>
              </a:rPr>
              <a:t>核心判断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5334000" y="2038350"/>
            <a:ext cx="2952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EFCF8"/>
                </a:solidFill>
                <a:latin typeface="思源黑体"/>
                <a:ea typeface="思源黑体"/>
              </a:rPr>
              <a:t>做法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8477250" y="2038350"/>
            <a:ext cx="2667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EFCF8"/>
                </a:solidFill>
                <a:latin typeface="思源黑体"/>
                <a:ea typeface="思源黑体"/>
              </a:rPr>
              <a:t>目标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762000" y="2343150"/>
            <a:ext cx="10668000" cy="4857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762000" y="2333625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857250" y="2438400"/>
            <a:ext cx="123825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犬儒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2286000" y="2438400"/>
            <a:ext cx="2857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文明规矩多是伪装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5334000" y="2438400"/>
            <a:ext cx="295275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第欧根尼住桶、当众怼权贵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8477250" y="2438400"/>
            <a:ext cx="2667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按自然活，无所待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762000" y="2828925"/>
            <a:ext cx="10668000" cy="485775"/>
          </a:xfrm>
          <a:prstGeom prst="rect">
            <a:avLst/>
          </a:prstGeom>
          <a:solidFill>
            <a:srgbClr val="F5F1EC"/>
          </a:solidFill>
          <a:ln/>
        </p:spPr>
        <p:txBody>
          <a:bodyPr/>
          <a:p>
            <a:pPr/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762000" y="2819400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857250" y="2924175"/>
            <a:ext cx="123825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伊壁鸠鲁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2286000" y="2924175"/>
            <a:ext cx="2857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快乐是免于痛苦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5334000" y="2924175"/>
            <a:ext cx="295275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缩减欲望、远离政治、交真朋友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8477250" y="2924175"/>
            <a:ext cx="2667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不动心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762000" y="3314700"/>
            <a:ext cx="10668000" cy="4857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762000" y="3305175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857250" y="3409950"/>
            <a:ext cx="123825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斯多亚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2286000" y="3409950"/>
            <a:ext cx="2857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管不了的别管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5334000" y="3409950"/>
            <a:ext cx="295275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分清能控制与不能控制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8477250" y="3409950"/>
            <a:ext cx="2667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任何处境中都保持德性</a:t>
            </a:r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762000" y="3800475"/>
            <a:ext cx="10668000" cy="485775"/>
          </a:xfrm>
          <a:prstGeom prst="rect">
            <a:avLst/>
          </a:prstGeom>
          <a:solidFill>
            <a:srgbClr val="F5F1EC"/>
          </a:solidFill>
          <a:ln/>
        </p:spPr>
        <p:txBody>
          <a:bodyPr/>
          <a:p>
            <a:pPr/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762000" y="3790950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857250" y="3895725"/>
            <a:ext cx="123825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怀疑派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2286000" y="3895725"/>
            <a:ext cx="2857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判断带来烦恼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5334000" y="3895725"/>
            <a:ext cx="295275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悬搁判断、不下断言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8477250" y="3895725"/>
            <a:ext cx="2667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宁静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571500" y="4619625"/>
            <a:ext cx="11049000" cy="619125"/>
          </a:xfrm>
          <a:prstGeom prst="roundRect">
            <a:avLst>
              <a:gd name="adj" fmla="val 24615"/>
            </a:avLst>
          </a:prstGeom>
          <a:solidFill>
            <a:srgbClr val="E3EEF1"/>
          </a:solidFill>
          <a:ln/>
        </p:spPr>
        <p:txBody>
          <a:bodyPr/>
          <a:p>
            <a:pPr/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723900" y="4772025"/>
            <a:ext cx="10744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503C36"/>
                </a:solidFill>
                <a:latin typeface="思源黑体"/>
                <a:ea typeface="思源黑体"/>
              </a:rPr>
              <a:t>四种方案至今有效——它们不是理论，而是可以照着做的生活方式。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在星空与道德律之间</a:t>
            </a: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教学课件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10553700" y="6505575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06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希腊化与罗马</a:t>
            </a:r>
            <a:endParaRPr/>
          </a:p>
        </p:txBody>
      </p:sp>
    </p:spTree>
  </p:cSld>
</p:sld>
</file>

<file path=ppt/slides/slide28.xml><?xml version="1.0" encoding="utf-8"?>
<p:sld xmlns:a="http://schemas.openxmlformats.org/drawingml/2006/main" xmlns:p="http://schemas.openxmlformats.org/presentationml/2006/main">
  <p:cSld>
    <p:spTree>
      <p:nvGrpSpPr>
        <p:cNvPr id="4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06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希腊化与罗马</a:t>
            </a: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 ·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操作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571500" y="89535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33241F"/>
                </a:solidFill>
                <a:latin typeface="霞鹜文楷"/>
                <a:ea typeface="霞鹜文楷"/>
              </a:rPr>
              <a:t>斯多亚的操作手册：控制二分法</a:t>
            </a:r>
            <a:endParaRPr/>
          </a:p>
        </p:txBody>
      </p:sp>
      <p:sp>
        <p:nvSpPr>
          <p:cNvPr id="407" name=""/>
          <p:cNvSpPr/>
          <p:nvPr/>
        </p:nvSpPr>
        <p:spPr>
          <a:xfrm rot="0" flipH="0" flipV="0">
            <a:off x="571500" y="1495425"/>
            <a:ext cx="11049000" cy="9525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571500" y="175260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704850" y="188595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01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1295400" y="175260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分清两类事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1295400" y="206692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能控制的：判断、意愿、行动；不能控制的：身体、名誉、结果。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571500" y="257175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704850" y="270510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02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1295400" y="257175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预设最坏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1295400" y="288607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塞涅卡：事先想过失落，真失去时就不至于被击溃。</a:t>
            </a:r>
            <a:endParaRPr/>
          </a:p>
        </p:txBody>
      </p:sp>
      <p:sp>
        <p:nvSpPr>
          <p:cNvPr id="416" name=""/>
          <p:cNvSpPr/>
          <p:nvPr/>
        </p:nvSpPr>
        <p:spPr>
          <a:xfrm rot="0" flipH="0" flipV="0">
            <a:off x="571500" y="339090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704850" y="352425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03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1295400" y="339090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扮演好角色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1295400" y="370522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爱比克泰德：人生如戏，角色由剧本给定，把它演好。</a:t>
            </a:r>
            <a:endParaRPr/>
          </a:p>
        </p:txBody>
      </p:sp>
      <p:sp>
        <p:nvSpPr>
          <p:cNvPr id="420" name=""/>
          <p:cNvSpPr/>
          <p:nvPr/>
        </p:nvSpPr>
        <p:spPr>
          <a:xfrm rot="0" flipH="0" flipV="0">
            <a:off x="571500" y="421005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704850" y="434340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04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1295400" y="421005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现代回响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1295400" y="452437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认知行为疗法（</a:t>
            </a:r>
            <a:r>
              <a:rPr lang="en-US" sz="1350">
                <a:solidFill>
                  <a:srgbClr val="473A35"/>
                </a:solidFill>
                <a:latin typeface="思源黑体"/>
                <a:ea typeface="思源黑体"/>
              </a:rPr>
              <a:t>CBT</a:t>
            </a: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）与「现代斯多亚主义」是它的当代版本。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在星空与道德律之间</a:t>
            </a: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教学课件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10553700" y="6505575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06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希腊化与罗马</a:t>
            </a:r>
            <a:endParaRPr/>
          </a:p>
        </p:txBody>
      </p:sp>
    </p:spTree>
  </p:cSld>
</p:sld>
</file>

<file path=ppt/slides/slide29.xml><?xml version="1.0" encoding="utf-8"?>
<p:sld xmlns:a="http://schemas.openxmlformats.org/drawingml/2006/main" xmlns:p="http://schemas.openxmlformats.org/presentationml/2006/main">
  <p:cSld>
    <p:spTree>
      <p:nvGrpSpPr>
        <p:cNvPr id="4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C1411"/>
          </a:solidFill>
          <a:ln/>
        </p:spPr>
        <p:txBody>
          <a:bodyPr/>
          <a:p>
            <a:pPr/>
            <a:endParaRPr/>
          </a:p>
        </p:txBody>
      </p:sp>
      <p:sp>
        <p:nvSpPr>
          <p:cNvPr id="428" name=""/>
          <p:cNvSpPr/>
          <p:nvPr/>
        </p:nvSpPr>
        <p:spPr>
          <a:xfrm rot="0" flipH="0" flipV="0">
            <a:off x="571500" y="2371725"/>
            <a:ext cx="914400" cy="38100"/>
          </a:xfrm>
          <a:prstGeom prst="rect">
            <a:avLst/>
          </a:prstGeom>
          <a:solidFill>
            <a:srgbClr val="8FA8A5"/>
          </a:solidFill>
          <a:ln/>
        </p:spPr>
        <p:txBody>
          <a:bodyPr/>
          <a:p>
            <a:pPr/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571500" y="2714625"/>
            <a:ext cx="11049000" cy="704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3300" b="1">
                <a:solidFill>
                  <a:srgbClr val="FEFCF8"/>
                </a:solidFill>
                <a:latin typeface="霞鹜文楷"/>
                <a:ea typeface="霞鹜文楷"/>
              </a:rPr>
              <a:t>哲学不是装饰生活的学问，是生活本身的技术。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571500" y="3724275"/>
            <a:ext cx="1104900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500">
                <a:solidFill>
                  <a:srgbClr val="BBB0AD"/>
                </a:solidFill>
                <a:latin typeface="思源黑体"/>
                <a:ea typeface="思源黑体"/>
              </a:rPr>
              <a:t>在城邦崩塌、帝国更替的年代，哲学第一次被当成心灵的药。皮埃尔·阿多把它叫做「作为生活方式的哲学」——读哲学，是为了改变你怎么活，而不只是改变你知道什么。</a:t>
            </a:r>
            <a:endParaRPr/>
          </a:p>
        </p:txBody>
      </p:sp>
    </p:spTree>
  </p:cSld>
</p:sld>
</file>

<file path=ppt/slides/slide30.xml><?xml version="1.0" encoding="utf-8"?>
<p:sld xmlns:a="http://schemas.openxmlformats.org/drawingml/2006/main" xmlns:p="http://schemas.openxmlformats.org/presentationml/2006/main">
  <p:cSld>
    <p:spTree>
      <p:nvGrpSpPr>
        <p:cNvPr id="4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C1411"/>
          </a:solidFill>
          <a:ln/>
        </p:spPr>
        <p:txBody>
          <a:bodyPr/>
          <a:p>
            <a:pPr/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571500" y="2571750"/>
            <a:ext cx="160020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BBB0AD"/>
                </a:solidFill>
                <a:latin typeface="霞鹜文楷"/>
                <a:ea typeface="霞鹜文楷"/>
              </a:rPr>
              <a:t>07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2552700" y="2781300"/>
            <a:ext cx="9067800" cy="571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000" b="1">
                <a:solidFill>
                  <a:srgbClr val="FEFCF8"/>
                </a:solidFill>
                <a:latin typeface="霞鹜文楷"/>
                <a:ea typeface="霞鹜文楷"/>
              </a:rPr>
              <a:t>中世纪</a:t>
            </a:r>
            <a:r>
              <a:rPr lang="en-US" sz="3000" b="1">
                <a:solidFill>
                  <a:srgbClr val="FEFCF8"/>
                </a:solidFill>
                <a:latin typeface="霞鹜文楷"/>
                <a:ea typeface="霞鹜文楷"/>
              </a:rPr>
              <a:t> </a:t>
            </a:r>
            <a:r>
              <a:rPr lang="zh-CN" sz="3000" b="1">
                <a:solidFill>
                  <a:srgbClr val="FEFCF8"/>
                </a:solidFill>
                <a:latin typeface="霞鹜文楷"/>
                <a:ea typeface="霞鹜文楷"/>
              </a:rPr>
              <a:t>当理性成为信仰的仆人</a:t>
            </a:r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2552700" y="3524250"/>
            <a:ext cx="838200" cy="19050"/>
          </a:xfrm>
          <a:prstGeom prst="rect">
            <a:avLst/>
          </a:prstGeom>
          <a:solidFill>
            <a:srgbClr val="8FA8A5"/>
          </a:solidFill>
          <a:ln/>
        </p:spPr>
        <p:txBody>
          <a:bodyPr/>
          <a:p>
            <a:pPr/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2552700" y="3714750"/>
            <a:ext cx="90678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BBB0AD"/>
                </a:solidFill>
                <a:latin typeface="思源黑体"/>
                <a:ea typeface="思源黑体"/>
              </a:rPr>
              <a:t>一千年里，理性一直在为信仰做论证</a:t>
            </a:r>
            <a:endParaRPr/>
          </a:p>
        </p:txBody>
      </p:sp>
    </p:spTree>
  </p:cSld>
</p:sld>
</file>

<file path=ppt/slides/slide31.xml><?xml version="1.0" encoding="utf-8"?>
<p:sld xmlns:a="http://schemas.openxmlformats.org/drawingml/2006/main" xmlns:p="http://schemas.openxmlformats.org/presentationml/2006/main">
  <p:cSld>
    <p:spTree>
      <p:nvGrpSpPr>
        <p:cNvPr id="4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07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中世纪</a:t>
            </a: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 ·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奥古斯丁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571500" y="89535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33241F"/>
                </a:solidFill>
                <a:latin typeface="霞鹜文楷"/>
                <a:ea typeface="霞鹜文楷"/>
              </a:rPr>
              <a:t>信仰寻求理解：奥古斯丁的时间之问</a:t>
            </a:r>
            <a:endParaRPr/>
          </a:p>
        </p:txBody>
      </p:sp>
      <p:sp>
        <p:nvSpPr>
          <p:cNvPr id="458" name=""/>
          <p:cNvSpPr/>
          <p:nvPr/>
        </p:nvSpPr>
        <p:spPr>
          <a:xfrm rot="0" flipH="0" flipV="0">
            <a:off x="571500" y="1495425"/>
            <a:ext cx="11049000" cy="9525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571500" y="1752600"/>
            <a:ext cx="4000500" cy="2733675"/>
          </a:xfrm>
          <a:prstGeom prst="roundRect">
            <a:avLst>
              <a:gd name="adj" fmla="val 5575"/>
            </a:avLst>
          </a:prstGeom>
          <a:solidFill>
            <a:srgbClr val="1C1411"/>
          </a:solidFill>
          <a:ln/>
        </p:spPr>
        <p:txBody>
          <a:bodyPr/>
          <a:p>
            <a:pPr/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876300" y="2057400"/>
            <a:ext cx="3390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BB0AD"/>
                </a:solidFill>
                <a:latin typeface="思源黑体"/>
                <a:ea typeface="思源黑体"/>
              </a:rPr>
              <a:t>《忏悔录》第十一卷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876300" y="2381250"/>
            <a:ext cx="3390900" cy="4286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EFCF8"/>
                </a:solidFill>
                <a:latin typeface="霞鹜文楷"/>
                <a:ea typeface="霞鹜文楷"/>
              </a:rPr>
              <a:t>时间是什么？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876300" y="2943225"/>
            <a:ext cx="3390900" cy="1238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BBB0AD"/>
                </a:solidFill>
                <a:latin typeface="思源黑体"/>
                <a:ea typeface="思源黑体"/>
              </a:rPr>
              <a:t>「没人问我，我知道；有人问我，我就不知道了。」他的回答：时间在心灵中被度量——过去的记忆、当下的注意、将来的期待。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4953000" y="1933575"/>
            <a:ext cx="666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恶的问题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4953000" y="2247900"/>
            <a:ext cx="6667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恶不是上帝造的实体，而是善的匮乏，是意志的转向。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4953000" y="2809875"/>
            <a:ext cx="666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两座城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4953000" y="3124200"/>
            <a:ext cx="6667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自爱的巴比伦与爱上帝的耶路撒冷，历史在两者之间拉扯。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4953000" y="3686175"/>
            <a:ext cx="666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为什么重要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4953000" y="4000500"/>
            <a:ext cx="6667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他把「向内看」确立为哲学动作，比笛卡尔早了一千二百年。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在星空与道德律之间</a:t>
            </a: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教学课件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10953750" y="650557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07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中世纪</a:t>
            </a:r>
            <a:endParaRPr/>
          </a:p>
        </p:txBody>
      </p:sp>
    </p:spTree>
  </p:cSld>
</p:sld>
</file>

<file path=ppt/slides/slide32.xml><?xml version="1.0" encoding="utf-8"?>
<p:sld xmlns:a="http://schemas.openxmlformats.org/drawingml/2006/main" xmlns:p="http://schemas.openxmlformats.org/presentationml/2006/main">
  <p:cSld>
    <p:spTree>
      <p:nvGrpSpPr>
        <p:cNvPr id="4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07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中世纪</a:t>
            </a: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 ·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争论</a:t>
            </a:r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571500" y="89535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33241F"/>
                </a:solidFill>
                <a:latin typeface="霞鹜文楷"/>
                <a:ea typeface="霞鹜文楷"/>
              </a:rPr>
              <a:t>阿奎那、共相之争与奥卡姆剃刀</a:t>
            </a:r>
            <a:endParaRPr/>
          </a:p>
        </p:txBody>
      </p:sp>
      <p:sp>
        <p:nvSpPr>
          <p:cNvPr id="475" name=""/>
          <p:cNvSpPr/>
          <p:nvPr/>
        </p:nvSpPr>
        <p:spPr>
          <a:xfrm rot="0" flipH="0" flipV="0">
            <a:off x="571500" y="1495425"/>
            <a:ext cx="11049000" cy="9525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476" name=""/>
          <p:cNvSpPr/>
          <p:nvPr/>
        </p:nvSpPr>
        <p:spPr>
          <a:xfrm rot="0" flipH="0" flipV="0">
            <a:off x="571500" y="1752600"/>
            <a:ext cx="11049000" cy="2714625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E2DED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77" name=""/>
          <p:cNvSpPr/>
          <p:nvPr/>
        </p:nvSpPr>
        <p:spPr>
          <a:xfrm rot="0" flipH="0" flipV="0">
            <a:off x="762000" y="1943100"/>
            <a:ext cx="10668000" cy="390525"/>
          </a:xfrm>
          <a:prstGeom prst="roundRect">
            <a:avLst>
              <a:gd name="adj" fmla="val 19512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857250" y="2038350"/>
            <a:ext cx="1714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EFCF8"/>
                </a:solidFill>
                <a:latin typeface="思源黑体"/>
                <a:ea typeface="思源黑体"/>
              </a:rPr>
              <a:t>争论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2762250" y="2038350"/>
            <a:ext cx="247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EFCF8"/>
                </a:solidFill>
                <a:latin typeface="思源黑体"/>
                <a:ea typeface="思源黑体"/>
              </a:rPr>
              <a:t>关键人物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5429250" y="2038350"/>
            <a:ext cx="3048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EFCF8"/>
                </a:solidFill>
                <a:latin typeface="思源黑体"/>
                <a:ea typeface="思源黑体"/>
              </a:rPr>
              <a:t>主张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8667750" y="2038350"/>
            <a:ext cx="2667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EFCF8"/>
                </a:solidFill>
                <a:latin typeface="思源黑体"/>
                <a:ea typeface="思源黑体"/>
              </a:rPr>
              <a:t>后果</a:t>
            </a:r>
            <a:endParaRPr/>
          </a:p>
        </p:txBody>
      </p:sp>
      <p:sp>
        <p:nvSpPr>
          <p:cNvPr id="482" name=""/>
          <p:cNvSpPr/>
          <p:nvPr/>
        </p:nvSpPr>
        <p:spPr>
          <a:xfrm rot="0" flipH="0" flipV="0">
            <a:off x="762000" y="2343150"/>
            <a:ext cx="10668000" cy="4857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83" name=""/>
          <p:cNvSpPr/>
          <p:nvPr/>
        </p:nvSpPr>
        <p:spPr>
          <a:xfrm rot="0" flipH="0" flipV="0">
            <a:off x="762000" y="2333625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857250" y="2438400"/>
            <a:ext cx="1714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信仰与理性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2762250" y="2438400"/>
            <a:ext cx="2476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阿奎那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5429250" y="2438400"/>
            <a:ext cx="3048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恩典不取消自然，理性可为信仰开路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8667750" y="2438400"/>
            <a:ext cx="2667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为自然法与近代科学留了门</a:t>
            </a:r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762000" y="2828925"/>
            <a:ext cx="10668000" cy="485775"/>
          </a:xfrm>
          <a:prstGeom prst="rect">
            <a:avLst/>
          </a:prstGeom>
          <a:solidFill>
            <a:srgbClr val="F5F1EC"/>
          </a:solidFill>
          <a:ln/>
        </p:spPr>
        <p:txBody>
          <a:bodyPr/>
          <a:p>
            <a:pPr/>
            <a:endParaRPr/>
          </a:p>
        </p:txBody>
      </p:sp>
      <p:sp>
        <p:nvSpPr>
          <p:cNvPr id="489" name=""/>
          <p:cNvSpPr/>
          <p:nvPr/>
        </p:nvSpPr>
        <p:spPr>
          <a:xfrm rot="0" flipH="0" flipV="0">
            <a:off x="762000" y="2819400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857250" y="2924175"/>
            <a:ext cx="1714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共相之争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2762250" y="2924175"/>
            <a:ext cx="2476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实在论对唯名论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5429250" y="2924175"/>
            <a:ext cx="3048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共相真实存在，还是只是一个名字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8667750" y="2924175"/>
            <a:ext cx="2667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牵动整个形而上学的走向</a:t>
            </a:r>
            <a:endParaRPr/>
          </a:p>
        </p:txBody>
      </p:sp>
      <p:sp>
        <p:nvSpPr>
          <p:cNvPr id="494" name=""/>
          <p:cNvSpPr/>
          <p:nvPr/>
        </p:nvSpPr>
        <p:spPr>
          <a:xfrm rot="0" flipH="0" flipV="0">
            <a:off x="762000" y="3314700"/>
            <a:ext cx="10668000" cy="4857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762000" y="3305175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857250" y="3409950"/>
            <a:ext cx="1714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简约原则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2762250" y="3409950"/>
            <a:ext cx="2476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奥卡姆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5429250" y="3409950"/>
            <a:ext cx="3048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如无必要，勿增实体</a:t>
            </a:r>
            <a:endParaRPr/>
          </a:p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8667750" y="3409950"/>
            <a:ext cx="2667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成为科学与哲学的默认纪律</a:t>
            </a:r>
            <a:endParaRPr/>
          </a:p>
        </p:txBody>
      </p:sp>
      <p:sp>
        <p:nvSpPr>
          <p:cNvPr id="500" name=""/>
          <p:cNvSpPr/>
          <p:nvPr/>
        </p:nvSpPr>
        <p:spPr>
          <a:xfrm rot="0" flipH="0" flipV="0">
            <a:off x="762000" y="3800475"/>
            <a:ext cx="10668000" cy="485775"/>
          </a:xfrm>
          <a:prstGeom prst="rect">
            <a:avLst/>
          </a:prstGeom>
          <a:solidFill>
            <a:srgbClr val="F5F1EC"/>
          </a:solidFill>
          <a:ln/>
        </p:spPr>
        <p:txBody>
          <a:bodyPr/>
          <a:p>
            <a:pPr/>
            <a:endParaRPr/>
          </a:p>
        </p:txBody>
      </p:sp>
      <p:sp>
        <p:nvSpPr>
          <p:cNvPr id="501" name=""/>
          <p:cNvSpPr/>
          <p:nvPr/>
        </p:nvSpPr>
        <p:spPr>
          <a:xfrm rot="0" flipH="0" flipV="0">
            <a:off x="762000" y="3790950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857250" y="3895725"/>
            <a:ext cx="1714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知识保存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2762250" y="3895725"/>
            <a:ext cx="2476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修道院与大学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5429250" y="3895725"/>
            <a:ext cx="3048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抄写、注释、辩论制度化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8667750" y="3895725"/>
            <a:ext cx="2667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让理性活动有了固定场所</a:t>
            </a:r>
            <a:endParaRPr/>
          </a:p>
        </p:txBody>
      </p:sp>
      <p:sp>
        <p:nvSpPr>
          <p:cNvPr id="506" name=""/>
          <p:cNvSpPr/>
          <p:nvPr/>
        </p:nvSpPr>
        <p:spPr>
          <a:xfrm rot="0" flipH="0" flipV="0">
            <a:off x="571500" y="4619625"/>
            <a:ext cx="11049000" cy="619125"/>
          </a:xfrm>
          <a:prstGeom prst="roundRect">
            <a:avLst>
              <a:gd name="adj" fmla="val 24615"/>
            </a:avLst>
          </a:prstGeom>
          <a:solidFill>
            <a:srgbClr val="E3EEF1"/>
          </a:solidFill>
          <a:ln/>
        </p:spPr>
        <p:txBody>
          <a:bodyPr/>
          <a:p>
            <a:pPr/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723900" y="4772025"/>
            <a:ext cx="10744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503C36"/>
                </a:solidFill>
                <a:latin typeface="思源黑体"/>
                <a:ea typeface="思源黑体"/>
              </a:rPr>
              <a:t>中世纪不是「黑暗时代」：它把「理性可以为信仰做论证」这件事，认真做了一千年。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在星空与道德律之间</a:t>
            </a: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教学课件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10953750" y="650557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07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中世纪</a:t>
            </a:r>
            <a:endParaRPr/>
          </a:p>
        </p:txBody>
      </p:sp>
    </p:spTree>
  </p:cSld>
</p:sld>
</file>

<file path=ppt/slides/slide33.xml><?xml version="1.0" encoding="utf-8"?>
<p:sld xmlns:a="http://schemas.openxmlformats.org/drawingml/2006/main" xmlns:p="http://schemas.openxmlformats.org/presentationml/2006/main">
  <p:cSld>
    <p:spTree>
      <p:nvGrpSpPr>
        <p:cNvPr id="5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07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中世纪</a:t>
            </a: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 ·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中介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571500" y="89535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33241F"/>
                </a:solidFill>
                <a:latin typeface="霞鹜文楷"/>
                <a:ea typeface="霞鹜文楷"/>
              </a:rPr>
              <a:t>被忽略的中介：伊斯兰与犹太哲学</a:t>
            </a:r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571500" y="1495425"/>
            <a:ext cx="11049000" cy="9525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515" name=""/>
          <p:cNvSpPr/>
          <p:nvPr/>
        </p:nvSpPr>
        <p:spPr>
          <a:xfrm rot="0" flipH="0" flipV="0">
            <a:off x="571500" y="175260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704850" y="188595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01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1295400" y="175260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翻译运动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1295400" y="206692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阿拔斯王朝大规模翻译希腊典籍，把亚里士多德送回欧洲视野。</a:t>
            </a:r>
            <a:endParaRPr/>
          </a:p>
        </p:txBody>
      </p:sp>
      <p:sp>
        <p:nvSpPr>
          <p:cNvPr id="519" name=""/>
          <p:cNvSpPr/>
          <p:nvPr/>
        </p:nvSpPr>
        <p:spPr>
          <a:xfrm rot="0" flipH="0" flipV="0">
            <a:off x="571500" y="257175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704850" y="270510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02</a:t>
            </a:r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1295400" y="257175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阿维森纳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1295400" y="288607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区分存在与本质；「飞行人」思想实验早于笛卡尔的自我论证。</a:t>
            </a:r>
            <a:endParaRPr/>
          </a:p>
        </p:txBody>
      </p:sp>
      <p:sp>
        <p:nvSpPr>
          <p:cNvPr id="523" name=""/>
          <p:cNvSpPr/>
          <p:nvPr/>
        </p:nvSpPr>
        <p:spPr>
          <a:xfrm rot="0" flipH="0" flipV="0">
            <a:off x="571500" y="339090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704850" y="352425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03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1295400" y="339090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阿威罗伊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1295400" y="370522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对亚里士多德的注释，直接刺激了拉丁世界的亚里士多德复兴。</a:t>
            </a:r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571500" y="421005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704850" y="434340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04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1295400" y="421005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迈蒙尼德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1295400" y="452437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《迷途指津》：当启示与理性冲突，如何重新解释文本。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在星空与道德律之间</a:t>
            </a: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教学课件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10953750" y="650557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07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中世纪</a:t>
            </a:r>
            <a:endParaRPr/>
          </a:p>
        </p:txBody>
      </p:sp>
    </p:spTree>
  </p:cSld>
</p:sld>
</file>

<file path=ppt/slides/slide34.xml><?xml version="1.0" encoding="utf-8"?>
<p:sld xmlns:a="http://schemas.openxmlformats.org/drawingml/2006/main" xmlns:p="http://schemas.openxmlformats.org/presentationml/2006/main">
  <p:cSld>
    <p:spTree>
      <p:nvGrpSpPr>
        <p:cNvPr id="5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C1411"/>
          </a:solidFill>
          <a:ln/>
        </p:spPr>
        <p:txBody>
          <a:bodyPr/>
          <a:p>
            <a:pPr/>
            <a:endParaRPr/>
          </a:p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571500" y="2571750"/>
            <a:ext cx="160020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BBB0AD"/>
                </a:solidFill>
                <a:latin typeface="霞鹜文楷"/>
                <a:ea typeface="霞鹜文楷"/>
              </a:rPr>
              <a:t>08</a:t>
            </a:r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2552700" y="2781300"/>
            <a:ext cx="9067800" cy="571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000" b="1">
                <a:solidFill>
                  <a:srgbClr val="FEFCF8"/>
                </a:solidFill>
                <a:latin typeface="霞鹜文楷"/>
                <a:ea typeface="霞鹜文楷"/>
              </a:rPr>
              <a:t>近代觉醒</a:t>
            </a:r>
            <a:r>
              <a:rPr lang="en-US" sz="3000" b="1">
                <a:solidFill>
                  <a:srgbClr val="FEFCF8"/>
                </a:solidFill>
                <a:latin typeface="霞鹜文楷"/>
                <a:ea typeface="霞鹜文楷"/>
              </a:rPr>
              <a:t> </a:t>
            </a:r>
            <a:r>
              <a:rPr lang="zh-CN" sz="3000" b="1">
                <a:solidFill>
                  <a:srgbClr val="FEFCF8"/>
                </a:solidFill>
                <a:latin typeface="霞鹜文楷"/>
                <a:ea typeface="霞鹜文楷"/>
              </a:rPr>
              <a:t>笛卡尔与理性主义</a:t>
            </a:r>
            <a:endParaRPr/>
          </a:p>
        </p:txBody>
      </p:sp>
      <p:sp>
        <p:nvSpPr>
          <p:cNvPr id="537" name=""/>
          <p:cNvSpPr/>
          <p:nvPr/>
        </p:nvSpPr>
        <p:spPr>
          <a:xfrm rot="0" flipH="0" flipV="0">
            <a:off x="2552700" y="3524250"/>
            <a:ext cx="838200" cy="19050"/>
          </a:xfrm>
          <a:prstGeom prst="rect">
            <a:avLst/>
          </a:prstGeom>
          <a:solidFill>
            <a:srgbClr val="8FA8A5"/>
          </a:solidFill>
          <a:ln/>
        </p:spPr>
        <p:txBody>
          <a:bodyPr/>
          <a:p>
            <a:pPr/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2552700" y="3714750"/>
            <a:ext cx="90678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BBB0AD"/>
                </a:solidFill>
                <a:latin typeface="思源黑体"/>
                <a:ea typeface="思源黑体"/>
              </a:rPr>
              <a:t>把一切都怀疑一遍，找一个不可动摇的起点</a:t>
            </a:r>
            <a:endParaRPr/>
          </a:p>
        </p:txBody>
      </p:sp>
    </p:spTree>
  </p:cSld>
</p:sld>
</file>

<file path=ppt/slides/slide35.xml><?xml version="1.0" encoding="utf-8"?>
<p:sld xmlns:a="http://schemas.openxmlformats.org/drawingml/2006/main" xmlns:p="http://schemas.openxmlformats.org/presentationml/2006/main">
  <p:cSld>
    <p:spTree>
      <p:nvGrpSpPr>
        <p:cNvPr id="5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08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近代觉醒</a:t>
            </a: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 ·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笛卡尔</a:t>
            </a:r>
            <a:endParaRPr/>
          </a:p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571500" y="89535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33241F"/>
                </a:solidFill>
                <a:latin typeface="霞鹜文楷"/>
                <a:ea typeface="霞鹜文楷"/>
              </a:rPr>
              <a:t>笛卡尔：把一切都怀疑一遍</a:t>
            </a:r>
            <a:endParaRPr/>
          </a:p>
        </p:txBody>
      </p:sp>
      <p:sp>
        <p:nvSpPr>
          <p:cNvPr id="543" name=""/>
          <p:cNvSpPr/>
          <p:nvPr/>
        </p:nvSpPr>
        <p:spPr>
          <a:xfrm rot="0" flipH="0" flipV="0">
            <a:off x="571500" y="1495425"/>
            <a:ext cx="11049000" cy="9525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544" name=""/>
          <p:cNvSpPr/>
          <p:nvPr/>
        </p:nvSpPr>
        <p:spPr>
          <a:xfrm rot="0" flipH="0" flipV="0">
            <a:off x="571500" y="1752600"/>
            <a:ext cx="4000500" cy="2428875"/>
          </a:xfrm>
          <a:prstGeom prst="roundRect">
            <a:avLst>
              <a:gd name="adj" fmla="val 6275"/>
            </a:avLst>
          </a:prstGeom>
          <a:solidFill>
            <a:srgbClr val="1C1411"/>
          </a:solidFill>
          <a:ln/>
        </p:spPr>
        <p:txBody>
          <a:bodyPr/>
          <a:p>
            <a:pPr/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876300" y="2057400"/>
            <a:ext cx="3390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BB0AD"/>
                </a:solidFill>
                <a:latin typeface="思源黑体"/>
                <a:ea typeface="思源黑体"/>
              </a:rPr>
              <a:t>《第一哲学沉思集》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876300" y="2381250"/>
            <a:ext cx="3390900" cy="4286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EFCF8"/>
                </a:solidFill>
                <a:latin typeface="霞鹜文楷"/>
                <a:ea typeface="霞鹜文楷"/>
              </a:rPr>
              <a:t>我思故我在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876300" y="2943225"/>
            <a:ext cx="33909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BBB0AD"/>
                </a:solidFill>
                <a:latin typeface="思源黑体"/>
                <a:ea typeface="思源黑体"/>
              </a:rPr>
              <a:t>感官会骗人，梦境无法分辨，甚至可能有「邪恶精灵」在操纵一切——但「我正在怀疑」这件事无法被怀疑。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4953000" y="1781175"/>
            <a:ext cx="666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方法论怀疑</a:t>
            </a:r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4953000" y="2095500"/>
            <a:ext cx="6667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不是怀疑一切结论，而是找出一个不可动摇的起点。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4953000" y="2657475"/>
            <a:ext cx="666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主体登场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4953000" y="2971800"/>
            <a:ext cx="6667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哲学的锚从世界移到了「我」，近代哲学由此开始。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4953000" y="3533775"/>
            <a:ext cx="666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留下的难题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4953000" y="3848100"/>
            <a:ext cx="6667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心与身若是两种东西，它们如何相互作用？松果腺的答案没人满意。</a:t>
            </a:r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在星空与道德律之间</a:t>
            </a: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教学课件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10820400" y="650557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08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近代觉醒</a:t>
            </a:r>
            <a:endParaRPr/>
          </a:p>
        </p:txBody>
      </p:sp>
    </p:spTree>
  </p:cSld>
</p:sld>
</file>

<file path=ppt/slides/slide36.xml><?xml version="1.0" encoding="utf-8"?>
<p:sld xmlns:a="http://schemas.openxmlformats.org/drawingml/2006/main" xmlns:p="http://schemas.openxmlformats.org/presentationml/2006/main">
  <p:cSld>
    <p:spTree>
      <p:nvGrpSpPr>
        <p:cNvPr id="5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08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近代觉醒</a:t>
            </a: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 ·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两端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571500" y="89535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33241F"/>
                </a:solidFill>
                <a:latin typeface="霞鹜文楷"/>
                <a:ea typeface="霞鹜文楷"/>
              </a:rPr>
              <a:t>斯宾诺莎与莱布尼茨：理性的两条极端路径</a:t>
            </a:r>
            <a:endParaRPr/>
          </a:p>
        </p:txBody>
      </p:sp>
      <p:sp>
        <p:nvSpPr>
          <p:cNvPr id="560" name=""/>
          <p:cNvSpPr/>
          <p:nvPr/>
        </p:nvSpPr>
        <p:spPr>
          <a:xfrm rot="0" flipH="0" flipV="0">
            <a:off x="571500" y="1495425"/>
            <a:ext cx="11049000" cy="9525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561" name=""/>
          <p:cNvSpPr/>
          <p:nvPr/>
        </p:nvSpPr>
        <p:spPr>
          <a:xfrm rot="0" flipH="0" flipV="0">
            <a:off x="571500" y="175260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704850" y="188595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01</a:t>
            </a:r>
            <a:endParaRPr/>
          </a:p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1295400" y="175260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斯宾诺莎：只有一个实体</a:t>
            </a:r>
            <a:endParaRPr/>
          </a:p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1295400" y="206692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神即自然，万物是它的样态；自由不是随心所欲，而是理解必然。</a:t>
            </a:r>
            <a:endParaRPr/>
          </a:p>
        </p:txBody>
      </p:sp>
      <p:sp>
        <p:nvSpPr>
          <p:cNvPr id="565" name=""/>
          <p:cNvSpPr/>
          <p:nvPr/>
        </p:nvSpPr>
        <p:spPr>
          <a:xfrm rot="0" flipH="0" flipV="0">
            <a:off x="571500" y="257175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704850" y="270510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02</a:t>
            </a:r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1295400" y="257175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用几何写伦理学</a:t>
            </a:r>
            <a:endParaRPr/>
          </a:p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1295400" y="288607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定义、公理、命题、证明——《伦理学》按欧几里得的方式推进。</a:t>
            </a:r>
            <a:endParaRPr/>
          </a:p>
        </p:txBody>
      </p:sp>
      <p:sp>
        <p:nvSpPr>
          <p:cNvPr id="569" name=""/>
          <p:cNvSpPr/>
          <p:nvPr/>
        </p:nvSpPr>
        <p:spPr>
          <a:xfrm rot="0" flipH="0" flipV="0">
            <a:off x="571500" y="339090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704850" y="352425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03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1295400" y="339090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莱布尼茨：单子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1295400" y="370522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世界由无数不可分的精神单元构成，彼此不发生因果作用。</a:t>
            </a:r>
            <a:endParaRPr/>
          </a:p>
        </p:txBody>
      </p:sp>
      <p:sp>
        <p:nvSpPr>
          <p:cNvPr id="573" name=""/>
          <p:cNvSpPr/>
          <p:nvPr/>
        </p:nvSpPr>
        <p:spPr>
          <a:xfrm rot="0" flipH="0" flipV="0">
            <a:off x="571500" y="421005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704850" y="434340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04</a:t>
            </a:r>
            <a:endParaRPr/>
          </a:p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1295400" y="421005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前定和谐与最好世界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1295400" y="452437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所有单子像同步的钟；恶的存在服务于更大的善——伏尔泰因此写了《老实人》。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在星空与道德律之间</a:t>
            </a: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教学课件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10820400" y="650557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08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近代觉醒</a:t>
            </a:r>
            <a:endParaRPr/>
          </a:p>
        </p:txBody>
      </p:sp>
    </p:spTree>
  </p:cSld>
</p:sld>
</file>

<file path=ppt/slides/slide37.xml><?xml version="1.0" encoding="utf-8"?>
<p:sld xmlns:a="http://schemas.openxmlformats.org/drawingml/2006/main" xmlns:p="http://schemas.openxmlformats.org/presentationml/2006/main">
  <p:cSld>
    <p:spTree>
      <p:nvGrpSpPr>
        <p:cNvPr id="5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08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近代觉醒</a:t>
            </a: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 ·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得失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571500" y="89535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33241F"/>
                </a:solidFill>
                <a:latin typeface="霞鹜文楷"/>
                <a:ea typeface="霞鹜文楷"/>
              </a:rPr>
              <a:t>理性主义的功与过</a:t>
            </a:r>
            <a:endParaRPr/>
          </a:p>
        </p:txBody>
      </p:sp>
      <p:sp>
        <p:nvSpPr>
          <p:cNvPr id="583" name=""/>
          <p:cNvSpPr/>
          <p:nvPr/>
        </p:nvSpPr>
        <p:spPr>
          <a:xfrm rot="0" flipH="0" flipV="0">
            <a:off x="571500" y="1495425"/>
            <a:ext cx="11049000" cy="9525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584" name=""/>
          <p:cNvSpPr/>
          <p:nvPr/>
        </p:nvSpPr>
        <p:spPr>
          <a:xfrm rot="0" flipH="0" flipV="0">
            <a:off x="571500" y="1752600"/>
            <a:ext cx="11049000" cy="2714625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E2DED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5" name=""/>
          <p:cNvSpPr/>
          <p:nvPr/>
        </p:nvSpPr>
        <p:spPr>
          <a:xfrm rot="0" flipH="0" flipV="0">
            <a:off x="762000" y="1943100"/>
            <a:ext cx="10668000" cy="390525"/>
          </a:xfrm>
          <a:prstGeom prst="roundRect">
            <a:avLst>
              <a:gd name="adj" fmla="val 19512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857250" y="2038350"/>
            <a:ext cx="1524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EFCF8"/>
                </a:solidFill>
                <a:latin typeface="思源黑体"/>
                <a:ea typeface="思源黑体"/>
              </a:rPr>
              <a:t>维度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2571750" y="2038350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EFCF8"/>
                </a:solidFill>
                <a:latin typeface="思源黑体"/>
                <a:ea typeface="思源黑体"/>
              </a:rPr>
              <a:t>贡献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7143750" y="2038350"/>
            <a:ext cx="4191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EFCF8"/>
                </a:solidFill>
                <a:latin typeface="思源黑体"/>
                <a:ea typeface="思源黑体"/>
              </a:rPr>
              <a:t>代价</a:t>
            </a:r>
            <a:endParaRPr/>
          </a:p>
        </p:txBody>
      </p:sp>
      <p:sp>
        <p:nvSpPr>
          <p:cNvPr id="589" name=""/>
          <p:cNvSpPr/>
          <p:nvPr/>
        </p:nvSpPr>
        <p:spPr>
          <a:xfrm rot="0" flipH="0" flipV="0">
            <a:off x="762000" y="2343150"/>
            <a:ext cx="10668000" cy="4857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90" name=""/>
          <p:cNvSpPr/>
          <p:nvPr/>
        </p:nvSpPr>
        <p:spPr>
          <a:xfrm rot="0" flipH="0" flipV="0">
            <a:off x="762000" y="2333625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857250" y="2438400"/>
            <a:ext cx="1524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起点</a:t>
            </a:r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2571750" y="2438400"/>
            <a:ext cx="4381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给出确定性的根基：我思、实体、单子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7143750" y="2438400"/>
            <a:ext cx="4191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起点本身难以自证（笛卡尔循环）</a:t>
            </a:r>
            <a:endParaRPr/>
          </a:p>
        </p:txBody>
      </p:sp>
      <p:sp>
        <p:nvSpPr>
          <p:cNvPr id="594" name=""/>
          <p:cNvSpPr/>
          <p:nvPr/>
        </p:nvSpPr>
        <p:spPr>
          <a:xfrm rot="0" flipH="0" flipV="0">
            <a:off x="762000" y="2828925"/>
            <a:ext cx="10668000" cy="485775"/>
          </a:xfrm>
          <a:prstGeom prst="rect">
            <a:avLst/>
          </a:prstGeom>
          <a:solidFill>
            <a:srgbClr val="F5F1EC"/>
          </a:solidFill>
          <a:ln/>
        </p:spPr>
        <p:txBody>
          <a:bodyPr/>
          <a:p>
            <a:pPr/>
            <a:endParaRPr/>
          </a:p>
        </p:txBody>
      </p:sp>
      <p:sp>
        <p:nvSpPr>
          <p:cNvPr id="595" name=""/>
          <p:cNvSpPr/>
          <p:nvPr/>
        </p:nvSpPr>
        <p:spPr>
          <a:xfrm rot="0" flipH="0" flipV="0">
            <a:off x="762000" y="2819400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857250" y="2924175"/>
            <a:ext cx="1524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方法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2571750" y="2924175"/>
            <a:ext cx="4381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演绎与数学化的理想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7143750" y="2924175"/>
            <a:ext cx="4191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离经验太远，结论难以检验</a:t>
            </a:r>
            <a:endParaRPr/>
          </a:p>
        </p:txBody>
      </p:sp>
      <p:sp>
        <p:nvSpPr>
          <p:cNvPr id="599" name=""/>
          <p:cNvSpPr/>
          <p:nvPr/>
        </p:nvSpPr>
        <p:spPr>
          <a:xfrm rot="0" flipH="0" flipV="0">
            <a:off x="762000" y="3314700"/>
            <a:ext cx="10668000" cy="4857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00" name=""/>
          <p:cNvSpPr/>
          <p:nvPr/>
        </p:nvSpPr>
        <p:spPr>
          <a:xfrm rot="0" flipH="0" flipV="0">
            <a:off x="762000" y="3305175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857250" y="3409950"/>
            <a:ext cx="1524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难题</a:t>
            </a:r>
            <a:endParaRPr/>
          </a:p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2571750" y="3409950"/>
            <a:ext cx="4381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正式提出身心关系问题</a:t>
            </a:r>
            <a:endParaRPr/>
          </a:p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7143750" y="3409950"/>
            <a:ext cx="4191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二元论至今没有公认解法</a:t>
            </a:r>
            <a:endParaRPr/>
          </a:p>
        </p:txBody>
      </p:sp>
      <p:sp>
        <p:nvSpPr>
          <p:cNvPr id="604" name=""/>
          <p:cNvSpPr/>
          <p:nvPr/>
        </p:nvSpPr>
        <p:spPr>
          <a:xfrm rot="0" flipH="0" flipV="0">
            <a:off x="762000" y="3800475"/>
            <a:ext cx="10668000" cy="485775"/>
          </a:xfrm>
          <a:prstGeom prst="rect">
            <a:avLst/>
          </a:prstGeom>
          <a:solidFill>
            <a:srgbClr val="F5F1EC"/>
          </a:solidFill>
          <a:ln/>
        </p:spPr>
        <p:txBody>
          <a:bodyPr/>
          <a:p>
            <a:pPr/>
            <a:endParaRPr/>
          </a:p>
        </p:txBody>
      </p:sp>
      <p:sp>
        <p:nvSpPr>
          <p:cNvPr id="605" name=""/>
          <p:cNvSpPr/>
          <p:nvPr/>
        </p:nvSpPr>
        <p:spPr>
          <a:xfrm rot="0" flipH="0" flipV="0">
            <a:off x="762000" y="3790950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857250" y="3895725"/>
            <a:ext cx="1524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对手</a:t>
            </a:r>
            <a:endParaRPr/>
          </a:p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2571750" y="3895725"/>
            <a:ext cx="4381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逼出了经验主义</a:t>
            </a:r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7143750" y="3895725"/>
            <a:ext cx="4191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洛克、贝克莱、休谟从另一头拆它</a:t>
            </a:r>
            <a:endParaRPr/>
          </a:p>
        </p:txBody>
      </p:sp>
      <p:sp>
        <p:nvSpPr>
          <p:cNvPr id="609" name=""/>
          <p:cNvSpPr/>
          <p:nvPr/>
        </p:nvSpPr>
        <p:spPr>
          <a:xfrm rot="0" flipH="0" flipV="0">
            <a:off x="571500" y="4619625"/>
            <a:ext cx="11049000" cy="619125"/>
          </a:xfrm>
          <a:prstGeom prst="roundRect">
            <a:avLst>
              <a:gd name="adj" fmla="val 24615"/>
            </a:avLst>
          </a:prstGeom>
          <a:solidFill>
            <a:srgbClr val="E3EEF1"/>
          </a:solidFill>
          <a:ln/>
        </p:spPr>
        <p:txBody>
          <a:bodyPr/>
          <a:p>
            <a:pPr/>
            <a:endParaRPr/>
          </a:p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723900" y="4772025"/>
            <a:ext cx="10744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503C36"/>
                </a:solidFill>
                <a:latin typeface="思源黑体"/>
                <a:ea typeface="思源黑体"/>
              </a:rPr>
              <a:t>理性主义把「确定性」立成了目标，也把「主观与客观如何接通」留成了遗产。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在星空与道德律之间</a:t>
            </a: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教学课件</a:t>
            </a:r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10820400" y="650557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08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近代觉醒</a:t>
            </a:r>
            <a:endParaRPr/>
          </a:p>
        </p:txBody>
      </p:sp>
    </p:spTree>
  </p:cSld>
</p:sld>
</file>

<file path=ppt/slides/slide38.xml><?xml version="1.0" encoding="utf-8"?>
<p:sld xmlns:a="http://schemas.openxmlformats.org/drawingml/2006/main" xmlns:p="http://schemas.openxmlformats.org/presentationml/2006/main">
  <p:cSld>
    <p:spTree>
      <p:nvGrpSpPr>
        <p:cNvPr id="6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C1411"/>
          </a:solidFill>
          <a:ln/>
        </p:spPr>
        <p:txBody>
          <a:bodyPr/>
          <a:p>
            <a:pPr/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571500" y="2571750"/>
            <a:ext cx="160020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BBB0AD"/>
                </a:solidFill>
                <a:latin typeface="霞鹜文楷"/>
                <a:ea typeface="霞鹜文楷"/>
              </a:rPr>
              <a:t>09</a:t>
            </a:r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2552700" y="2781300"/>
            <a:ext cx="9067800" cy="571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000" b="1">
                <a:solidFill>
                  <a:srgbClr val="FEFCF8"/>
                </a:solidFill>
                <a:latin typeface="霞鹜文楷"/>
                <a:ea typeface="霞鹜文楷"/>
              </a:rPr>
              <a:t>经验主义与启蒙</a:t>
            </a:r>
            <a:r>
              <a:rPr lang="en-US" sz="3000" b="1">
                <a:solidFill>
                  <a:srgbClr val="FEFCF8"/>
                </a:solidFill>
                <a:latin typeface="霞鹜文楷"/>
                <a:ea typeface="霞鹜文楷"/>
              </a:rPr>
              <a:t> </a:t>
            </a:r>
            <a:r>
              <a:rPr lang="zh-CN" sz="3000" b="1">
                <a:solidFill>
                  <a:srgbClr val="FEFCF8"/>
                </a:solidFill>
                <a:latin typeface="霞鹜文楷"/>
                <a:ea typeface="霞鹜文楷"/>
              </a:rPr>
              <a:t>从白板到「敢于运用理智」</a:t>
            </a:r>
            <a:endParaRPr/>
          </a:p>
        </p:txBody>
      </p:sp>
      <p:sp>
        <p:nvSpPr>
          <p:cNvPr id="617" name=""/>
          <p:cNvSpPr/>
          <p:nvPr/>
        </p:nvSpPr>
        <p:spPr>
          <a:xfrm rot="0" flipH="0" flipV="0">
            <a:off x="2552700" y="3524250"/>
            <a:ext cx="838200" cy="19050"/>
          </a:xfrm>
          <a:prstGeom prst="rect">
            <a:avLst/>
          </a:prstGeom>
          <a:solidFill>
            <a:srgbClr val="8FA8A5"/>
          </a:solidFill>
          <a:ln/>
        </p:spPr>
        <p:txBody>
          <a:bodyPr/>
          <a:p>
            <a:pPr/>
            <a:endParaRPr/>
          </a:p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2552700" y="3714750"/>
            <a:ext cx="90678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BBB0AD"/>
                </a:solidFill>
                <a:latin typeface="思源黑体"/>
                <a:ea typeface="思源黑体"/>
              </a:rPr>
              <a:t>一切观念来自经验，然后康德被吵醒</a:t>
            </a:r>
            <a:endParaRPr/>
          </a:p>
        </p:txBody>
      </p:sp>
    </p:spTree>
  </p:cSld>
</p:sld>
</file>

<file path=ppt/slides/slide39.xml><?xml version="1.0" encoding="utf-8"?>
<p:sld xmlns:a="http://schemas.openxmlformats.org/drawingml/2006/main" xmlns:p="http://schemas.openxmlformats.org/presentationml/2006/main">
  <p:cSld>
    <p:spTree>
      <p:nvGrpSpPr>
        <p:cNvPr id="6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09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经验主义与启蒙</a:t>
            </a: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 ·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白板</a:t>
            </a:r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571500" y="89535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33241F"/>
                </a:solidFill>
                <a:latin typeface="霞鹜文楷"/>
                <a:ea typeface="霞鹜文楷"/>
              </a:rPr>
              <a:t>洛克与贝克莱：白板，以及它带来的麻烦</a:t>
            </a:r>
            <a:endParaRPr/>
          </a:p>
        </p:txBody>
      </p:sp>
      <p:sp>
        <p:nvSpPr>
          <p:cNvPr id="623" name=""/>
          <p:cNvSpPr/>
          <p:nvPr/>
        </p:nvSpPr>
        <p:spPr>
          <a:xfrm rot="0" flipH="0" flipV="0">
            <a:off x="571500" y="1495425"/>
            <a:ext cx="11049000" cy="9525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624" name=""/>
          <p:cNvSpPr/>
          <p:nvPr/>
        </p:nvSpPr>
        <p:spPr>
          <a:xfrm rot="0" flipH="0" flipV="0">
            <a:off x="571500" y="175260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704850" y="188595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01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1295400" y="175260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白板说</a:t>
            </a:r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1295400" y="206692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人心最初像一块白板，一切观念来自经验：感觉与反省。</a:t>
            </a:r>
            <a:endParaRPr/>
          </a:p>
        </p:txBody>
      </p:sp>
      <p:sp>
        <p:nvSpPr>
          <p:cNvPr id="628" name=""/>
          <p:cNvSpPr/>
          <p:nvPr/>
        </p:nvSpPr>
        <p:spPr>
          <a:xfrm rot="0" flipH="0" flipV="0">
            <a:off x="571500" y="257175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704850" y="270510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02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1295400" y="257175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两种性质</a:t>
            </a:r>
            <a:endParaRPr/>
          </a:p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1295400" y="288607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大小形状是第一性质，颜色味道是第二性质，后者依赖感知者。</a:t>
            </a:r>
            <a:endParaRPr/>
          </a:p>
        </p:txBody>
      </p:sp>
      <p:sp>
        <p:nvSpPr>
          <p:cNvPr id="632" name=""/>
          <p:cNvSpPr/>
          <p:nvPr/>
        </p:nvSpPr>
        <p:spPr>
          <a:xfrm rot="0" flipH="0" flipV="0">
            <a:off x="571500" y="339090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704850" y="352425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03</a:t>
            </a:r>
            <a:endParaRPr/>
          </a:p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1295400" y="339090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贝克莱推到极端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1295400" y="370522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存在即被感知：既然只接触观念，凭什么说物质实体在背后？</a:t>
            </a:r>
            <a:endParaRPr/>
          </a:p>
        </p:txBody>
      </p:sp>
      <p:sp>
        <p:nvSpPr>
          <p:cNvPr id="636" name=""/>
          <p:cNvSpPr/>
          <p:nvPr/>
        </p:nvSpPr>
        <p:spPr>
          <a:xfrm rot="0" flipH="0" flipV="0">
            <a:off x="571500" y="421005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704850" y="434340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04</a:t>
            </a:r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1295400" y="421005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麻烦</a:t>
            </a:r>
            <a:endParaRPr/>
          </a:p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1295400" y="452437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「物质」一旦被拿掉，科学的客观性靠什么担保？休谟接过了这个问题。</a:t>
            </a:r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在星空与道德律之间</a:t>
            </a: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教学课件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10420350" y="6505575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09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经验主义与启蒙</a:t>
            </a:r>
            <a:endParaRPr/>
          </a:p>
        </p:txBody>
      </p:sp>
    </p:spTree>
  </p:cSld>
</p:sld>
</file>

<file path=ppt/slides/slide40.xml><?xml version="1.0" encoding="utf-8"?>
<p:sld xmlns:a="http://schemas.openxmlformats.org/drawingml/2006/main" xmlns:p="http://schemas.openxmlformats.org/presentationml/2006/main">
  <p:cSld>
    <p:spTree>
      <p:nvGrpSpPr>
        <p:cNvPr id="6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09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经验主义与启蒙</a:t>
            </a: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 ·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休谟</a:t>
            </a:r>
            <a:endParaRPr/>
          </a:p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571500" y="89535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33241F"/>
                </a:solidFill>
                <a:latin typeface="霞鹜文楷"/>
                <a:ea typeface="霞鹜文楷"/>
              </a:rPr>
              <a:t>休谟的炸弹：因果律靠什么成立？</a:t>
            </a:r>
            <a:endParaRPr/>
          </a:p>
        </p:txBody>
      </p:sp>
      <p:sp>
        <p:nvSpPr>
          <p:cNvPr id="665" name=""/>
          <p:cNvSpPr/>
          <p:nvPr/>
        </p:nvSpPr>
        <p:spPr>
          <a:xfrm rot="0" flipH="0" flipV="0">
            <a:off x="571500" y="1495425"/>
            <a:ext cx="11049000" cy="9525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666" name=""/>
          <p:cNvSpPr/>
          <p:nvPr/>
        </p:nvSpPr>
        <p:spPr>
          <a:xfrm rot="0" flipH="0" flipV="0">
            <a:off x="571500" y="1752600"/>
            <a:ext cx="4000500" cy="2428875"/>
          </a:xfrm>
          <a:prstGeom prst="roundRect">
            <a:avLst>
              <a:gd name="adj" fmla="val 6275"/>
            </a:avLst>
          </a:prstGeom>
          <a:solidFill>
            <a:srgbClr val="1C1411"/>
          </a:solidFill>
          <a:ln/>
        </p:spPr>
        <p:txBody>
          <a:bodyPr/>
          <a:p>
            <a:pPr/>
            <a:endParaRPr/>
          </a:p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876300" y="2057400"/>
            <a:ext cx="3390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BB0AD"/>
                </a:solidFill>
                <a:latin typeface="思源黑体"/>
                <a:ea typeface="思源黑体"/>
              </a:rPr>
              <a:t>《人类理解研究》</a:t>
            </a:r>
            <a:endParaRPr/>
          </a:p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876300" y="2381250"/>
            <a:ext cx="3390900" cy="4286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EFCF8"/>
                </a:solidFill>
                <a:latin typeface="霞鹜文楷"/>
                <a:ea typeface="霞鹜文楷"/>
              </a:rPr>
              <a:t>因果只是习惯</a:t>
            </a:r>
            <a:endParaRPr/>
          </a:p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876300" y="2943225"/>
            <a:ext cx="33909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BBB0AD"/>
                </a:solidFill>
                <a:latin typeface="思源黑体"/>
                <a:ea typeface="思源黑体"/>
              </a:rPr>
              <a:t>我们看到「太阳晒、石头热」反复相连，却从未看到「必然联系」本身——必然性是我们加进去的。</a:t>
            </a:r>
            <a:endParaRPr/>
          </a:p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4953000" y="1781175"/>
            <a:ext cx="666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归纳难题</a:t>
            </a:r>
            <a:endParaRPr/>
          </a:p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4953000" y="2095500"/>
            <a:ext cx="6667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过去如此推不出将来必然如此，除非先假定自然齐一。</a:t>
            </a:r>
            <a:endParaRPr/>
          </a:p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4953000" y="2657475"/>
            <a:ext cx="666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自我也是一束知觉</a:t>
            </a:r>
            <a:endParaRPr/>
          </a:p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4953000" y="2971800"/>
            <a:ext cx="6667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找不到一个不变的「我」，只有流动的知觉之流。</a:t>
            </a:r>
            <a:endParaRPr/>
          </a:p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4953000" y="3533775"/>
            <a:ext cx="666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是与应当</a:t>
            </a:r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4953000" y="3848100"/>
            <a:ext cx="6667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从事实推不出价值——这条鸿沟后来谁也绕不开。</a:t>
            </a:r>
            <a:endParaRPr/>
          </a:p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在星空与道德律之间</a:t>
            </a: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教学课件</a:t>
            </a:r>
            <a:endParaRPr/>
          </a:p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10420350" y="6505575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09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经验主义与启蒙</a:t>
            </a:r>
            <a:endParaRPr/>
          </a:p>
        </p:txBody>
      </p:sp>
    </p:spTree>
  </p:cSld>
</p:sld>
</file>

<file path=ppt/slides/slide41.xml><?xml version="1.0" encoding="utf-8"?>
<p:sld xmlns:a="http://schemas.openxmlformats.org/drawingml/2006/main" xmlns:p="http://schemas.openxmlformats.org/presentationml/2006/main">
  <p:cSld>
    <p:spTree>
      <p:nvGrpSpPr>
        <p:cNvPr id="6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09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经验主义与启蒙</a:t>
            </a: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 ·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启蒙</a:t>
            </a:r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571500" y="89535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33241F"/>
                </a:solidFill>
                <a:latin typeface="霞鹜文楷"/>
                <a:ea typeface="霞鹜文楷"/>
              </a:rPr>
              <a:t>启蒙：敢于运用你自己的理智</a:t>
            </a:r>
            <a:endParaRPr/>
          </a:p>
        </p:txBody>
      </p:sp>
      <p:sp>
        <p:nvSpPr>
          <p:cNvPr id="682" name=""/>
          <p:cNvSpPr/>
          <p:nvPr/>
        </p:nvSpPr>
        <p:spPr>
          <a:xfrm rot="0" flipH="0" flipV="0">
            <a:off x="571500" y="1495425"/>
            <a:ext cx="11049000" cy="9525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683" name=""/>
          <p:cNvSpPr/>
          <p:nvPr/>
        </p:nvSpPr>
        <p:spPr>
          <a:xfrm rot="0" flipH="0" flipV="0">
            <a:off x="571500" y="1752600"/>
            <a:ext cx="11049000" cy="2714625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E2DED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84" name=""/>
          <p:cNvSpPr/>
          <p:nvPr/>
        </p:nvSpPr>
        <p:spPr>
          <a:xfrm rot="0" flipH="0" flipV="0">
            <a:off x="762000" y="1943100"/>
            <a:ext cx="10668000" cy="390525"/>
          </a:xfrm>
          <a:prstGeom prst="roundRect">
            <a:avLst>
              <a:gd name="adj" fmla="val 19512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857250" y="2038350"/>
            <a:ext cx="1333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EFCF8"/>
                </a:solidFill>
                <a:latin typeface="思源黑体"/>
                <a:ea typeface="思源黑体"/>
              </a:rPr>
              <a:t>人物</a:t>
            </a:r>
            <a:endParaRPr/>
          </a:p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2381250" y="2038350"/>
            <a:ext cx="3619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EFCF8"/>
                </a:solidFill>
                <a:latin typeface="思源黑体"/>
                <a:ea typeface="思源黑体"/>
              </a:rPr>
              <a:t>主张</a:t>
            </a:r>
            <a:endParaRPr/>
          </a:p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6191250" y="2038350"/>
            <a:ext cx="495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EFCF8"/>
                </a:solidFill>
                <a:latin typeface="思源黑体"/>
                <a:ea typeface="思源黑体"/>
              </a:rPr>
              <a:t>影响</a:t>
            </a:r>
            <a:endParaRPr/>
          </a:p>
        </p:txBody>
      </p:sp>
      <p:sp>
        <p:nvSpPr>
          <p:cNvPr id="688" name=""/>
          <p:cNvSpPr/>
          <p:nvPr/>
        </p:nvSpPr>
        <p:spPr>
          <a:xfrm rot="0" flipH="0" flipV="0">
            <a:off x="762000" y="2343150"/>
            <a:ext cx="10668000" cy="4857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89" name=""/>
          <p:cNvSpPr/>
          <p:nvPr/>
        </p:nvSpPr>
        <p:spPr>
          <a:xfrm rot="0" flipH="0" flipV="0">
            <a:off x="762000" y="2333625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857250" y="2438400"/>
            <a:ext cx="1333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伏尔泰</a:t>
            </a:r>
            <a:endParaRPr/>
          </a:p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2381250" y="2438400"/>
            <a:ext cx="3619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反对教会滥权，为宽容辩护</a:t>
            </a:r>
            <a:endParaRPr/>
          </a:p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6191250" y="2438400"/>
            <a:ext cx="4953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卡拉斯案让「宗教宽容」成为公共议题</a:t>
            </a:r>
            <a:endParaRPr/>
          </a:p>
        </p:txBody>
      </p:sp>
      <p:sp>
        <p:nvSpPr>
          <p:cNvPr id="693" name=""/>
          <p:cNvSpPr/>
          <p:nvPr/>
        </p:nvSpPr>
        <p:spPr>
          <a:xfrm rot="0" flipH="0" flipV="0">
            <a:off x="762000" y="2828925"/>
            <a:ext cx="10668000" cy="485775"/>
          </a:xfrm>
          <a:prstGeom prst="rect">
            <a:avLst/>
          </a:prstGeom>
          <a:solidFill>
            <a:srgbClr val="F5F1EC"/>
          </a:solidFill>
          <a:ln/>
        </p:spPr>
        <p:txBody>
          <a:bodyPr/>
          <a:p>
            <a:pPr/>
            <a:endParaRPr/>
          </a:p>
        </p:txBody>
      </p:sp>
      <p:sp>
        <p:nvSpPr>
          <p:cNvPr id="694" name=""/>
          <p:cNvSpPr/>
          <p:nvPr/>
        </p:nvSpPr>
        <p:spPr>
          <a:xfrm rot="0" flipH="0" flipV="0">
            <a:off x="762000" y="2819400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857250" y="2924175"/>
            <a:ext cx="1333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孟德斯鸠</a:t>
            </a:r>
            <a:endParaRPr/>
          </a:p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2381250" y="2924175"/>
            <a:ext cx="3619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权力分立，法的精神受制于地理与民情</a:t>
            </a:r>
            <a:endParaRPr/>
          </a:p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6191250" y="2924175"/>
            <a:ext cx="4953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现代宪制设计的源头</a:t>
            </a:r>
            <a:endParaRPr/>
          </a:p>
        </p:txBody>
      </p:sp>
      <p:sp>
        <p:nvSpPr>
          <p:cNvPr id="698" name=""/>
          <p:cNvSpPr/>
          <p:nvPr/>
        </p:nvSpPr>
        <p:spPr>
          <a:xfrm rot="0" flipH="0" flipV="0">
            <a:off x="762000" y="3314700"/>
            <a:ext cx="10668000" cy="4857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99" name=""/>
          <p:cNvSpPr/>
          <p:nvPr/>
        </p:nvSpPr>
        <p:spPr>
          <a:xfrm rot="0" flipH="0" flipV="0">
            <a:off x="762000" y="3305175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857250" y="3409950"/>
            <a:ext cx="1333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卢梭</a:t>
            </a:r>
            <a:endParaRPr/>
          </a:p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2381250" y="3409950"/>
            <a:ext cx="3619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公意与社会契约；也提醒文明使人堕落</a:t>
            </a:r>
            <a:endParaRPr/>
          </a:p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6191250" y="3409950"/>
            <a:ext cx="4953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既通向民主，也通向浪漫主义</a:t>
            </a:r>
            <a:endParaRPr/>
          </a:p>
        </p:txBody>
      </p:sp>
      <p:sp>
        <p:nvSpPr>
          <p:cNvPr id="703" name=""/>
          <p:cNvSpPr/>
          <p:nvPr/>
        </p:nvSpPr>
        <p:spPr>
          <a:xfrm rot="0" flipH="0" flipV="0">
            <a:off x="762000" y="3800475"/>
            <a:ext cx="10668000" cy="485775"/>
          </a:xfrm>
          <a:prstGeom prst="rect">
            <a:avLst/>
          </a:prstGeom>
          <a:solidFill>
            <a:srgbClr val="F5F1EC"/>
          </a:solidFill>
          <a:ln/>
        </p:spPr>
        <p:txBody>
          <a:bodyPr/>
          <a:p>
            <a:pPr/>
            <a:endParaRPr/>
          </a:p>
        </p:txBody>
      </p:sp>
      <p:sp>
        <p:nvSpPr>
          <p:cNvPr id="704" name=""/>
          <p:cNvSpPr/>
          <p:nvPr/>
        </p:nvSpPr>
        <p:spPr>
          <a:xfrm rot="0" flipH="0" flipV="0">
            <a:off x="762000" y="3790950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857250" y="3895725"/>
            <a:ext cx="1333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狄德罗</a:t>
            </a:r>
            <a:endParaRPr/>
          </a:p>
        </p:txBody>
      </p:sp>
      <p:sp>
        <p:nvSpPr>
          <p:cNvPr id="706" name="" descr="{&quot;isTemplate&quot;:true,&quot;type&quot;:&quot;text&quot;}"/>
          <p:cNvSpPr txBox="1"/>
          <p:nvPr/>
        </p:nvSpPr>
        <p:spPr>
          <a:xfrm rot="0" flipH="0" flipV="0">
            <a:off x="2381250" y="3895725"/>
            <a:ext cx="3619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《百科全书》把知识组织成可传播的工具</a:t>
            </a:r>
            <a:endParaRPr/>
          </a:p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6191250" y="3895725"/>
            <a:ext cx="4953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知识民主化，孕育现代公共舆论</a:t>
            </a:r>
            <a:endParaRPr/>
          </a:p>
        </p:txBody>
      </p:sp>
      <p:sp>
        <p:nvSpPr>
          <p:cNvPr id="708" name=""/>
          <p:cNvSpPr/>
          <p:nvPr/>
        </p:nvSpPr>
        <p:spPr>
          <a:xfrm rot="0" flipH="0" flipV="0">
            <a:off x="571500" y="4619625"/>
            <a:ext cx="11049000" cy="619125"/>
          </a:xfrm>
          <a:prstGeom prst="roundRect">
            <a:avLst>
              <a:gd name="adj" fmla="val 24615"/>
            </a:avLst>
          </a:prstGeom>
          <a:solidFill>
            <a:srgbClr val="E3EEF1"/>
          </a:solidFill>
          <a:ln/>
        </p:spPr>
        <p:txBody>
          <a:bodyPr/>
          <a:p>
            <a:pPr/>
            <a:endParaRPr/>
          </a:p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723900" y="4772025"/>
            <a:ext cx="10744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503C36"/>
                </a:solidFill>
                <a:latin typeface="思源黑体"/>
                <a:ea typeface="思源黑体"/>
              </a:rPr>
              <a:t>启蒙不是「什么都敢说」，而是「用自己的理智去判断，并为这个判断负责」。</a:t>
            </a:r>
            <a:endParaRPr/>
          </a:p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在星空与道德律之间</a:t>
            </a: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教学课件</a:t>
            </a:r>
            <a:endParaRPr/>
          </a:p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10420350" y="6505575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09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经验主义与启蒙</a:t>
            </a:r>
            <a:endParaRPr/>
          </a:p>
        </p:txBody>
      </p:sp>
    </p:spTree>
  </p:cSld>
</p:sld>
</file>

<file path=ppt/slides/slide42.xml><?xml version="1.0" encoding="utf-8"?>
<p:sld xmlns:a="http://schemas.openxmlformats.org/drawingml/2006/main" xmlns:p="http://schemas.openxmlformats.org/presentationml/2006/main">
  <p:cSld>
    <p:spTree>
      <p:nvGrpSpPr>
        <p:cNvPr id="7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C1411"/>
          </a:solidFill>
          <a:ln/>
        </p:spPr>
        <p:txBody>
          <a:bodyPr/>
          <a:p>
            <a:pPr/>
            <a:endParaRPr/>
          </a:p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571500" y="2571750"/>
            <a:ext cx="160020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BBB0AD"/>
                </a:solidFill>
                <a:latin typeface="霞鹜文楷"/>
                <a:ea typeface="霞鹜文楷"/>
              </a:rPr>
              <a:t>10</a:t>
            </a:r>
            <a:endParaRPr/>
          </a:p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2552700" y="2781300"/>
            <a:ext cx="9067800" cy="571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000" b="1">
                <a:solidFill>
                  <a:srgbClr val="FEFCF8"/>
                </a:solidFill>
                <a:latin typeface="霞鹜文楷"/>
                <a:ea typeface="霞鹜文楷"/>
              </a:rPr>
              <a:t>康德与德国古典哲学</a:t>
            </a:r>
            <a:r>
              <a:rPr lang="en-US" sz="3000" b="1">
                <a:solidFill>
                  <a:srgbClr val="FEFCF8"/>
                </a:solidFill>
                <a:latin typeface="霞鹜文楷"/>
                <a:ea typeface="霞鹜文楷"/>
              </a:rPr>
              <a:t> </a:t>
            </a:r>
            <a:r>
              <a:rPr lang="zh-CN" sz="3000" b="1">
                <a:solidFill>
                  <a:srgbClr val="FEFCF8"/>
                </a:solidFill>
                <a:latin typeface="霞鹜文楷"/>
                <a:ea typeface="霞鹜文楷"/>
              </a:rPr>
              <a:t>一场哥白尼式革命</a:t>
            </a:r>
            <a:endParaRPr/>
          </a:p>
        </p:txBody>
      </p:sp>
      <p:sp>
        <p:nvSpPr>
          <p:cNvPr id="716" name=""/>
          <p:cNvSpPr/>
          <p:nvPr/>
        </p:nvSpPr>
        <p:spPr>
          <a:xfrm rot="0" flipH="0" flipV="0">
            <a:off x="2552700" y="3524250"/>
            <a:ext cx="838200" cy="19050"/>
          </a:xfrm>
          <a:prstGeom prst="rect">
            <a:avLst/>
          </a:prstGeom>
          <a:solidFill>
            <a:srgbClr val="8FA8A5"/>
          </a:solidFill>
          <a:ln/>
        </p:spPr>
        <p:txBody>
          <a:bodyPr/>
          <a:p>
            <a:pPr/>
            <a:endParaRPr/>
          </a:p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2552700" y="3714750"/>
            <a:ext cx="90678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BBB0AD"/>
                </a:solidFill>
                <a:latin typeface="思源黑体"/>
                <a:ea typeface="思源黑体"/>
              </a:rPr>
              <a:t>不是认识符合对象，而是对象必须符合认识的形式</a:t>
            </a:r>
            <a:endParaRPr/>
          </a:p>
        </p:txBody>
      </p:sp>
    </p:spTree>
  </p:cSld>
</p:sld>
</file>

<file path=ppt/slides/slide43.xml><?xml version="1.0" encoding="utf-8"?>
<p:sld xmlns:a="http://schemas.openxmlformats.org/drawingml/2006/main" xmlns:p="http://schemas.openxmlformats.org/presentationml/2006/main">
  <p:cSld>
    <p:spTree>
      <p:nvGrpSpPr>
        <p:cNvPr id="7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10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康德</a:t>
            </a: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 ·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革命</a:t>
            </a:r>
            <a:endParaRPr/>
          </a:p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571500" y="89535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33241F"/>
                </a:solidFill>
                <a:latin typeface="霞鹜文楷"/>
                <a:ea typeface="霞鹜文楷"/>
              </a:rPr>
              <a:t>哥白尼式革命：认识对象如何可能</a:t>
            </a:r>
            <a:endParaRPr/>
          </a:p>
        </p:txBody>
      </p:sp>
      <p:sp>
        <p:nvSpPr>
          <p:cNvPr id="722" name=""/>
          <p:cNvSpPr/>
          <p:nvPr/>
        </p:nvSpPr>
        <p:spPr>
          <a:xfrm rot="0" flipH="0" flipV="0">
            <a:off x="571500" y="1495425"/>
            <a:ext cx="11049000" cy="9525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723" name=""/>
          <p:cNvSpPr/>
          <p:nvPr/>
        </p:nvSpPr>
        <p:spPr>
          <a:xfrm rot="0" flipH="0" flipV="0">
            <a:off x="571500" y="1752600"/>
            <a:ext cx="4000500" cy="2428875"/>
          </a:xfrm>
          <a:prstGeom prst="roundRect">
            <a:avLst>
              <a:gd name="adj" fmla="val 6275"/>
            </a:avLst>
          </a:prstGeom>
          <a:solidFill>
            <a:srgbClr val="1C1411"/>
          </a:solidFill>
          <a:ln/>
        </p:spPr>
        <p:txBody>
          <a:bodyPr/>
          <a:p>
            <a:pPr/>
            <a:endParaRPr/>
          </a:p>
        </p:txBody>
      </p:sp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876300" y="2057400"/>
            <a:ext cx="3390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BB0AD"/>
                </a:solidFill>
                <a:latin typeface="思源黑体"/>
                <a:ea typeface="思源黑体"/>
              </a:rPr>
              <a:t>《纯粹理性批判》</a:t>
            </a:r>
            <a:endParaRPr/>
          </a:p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876300" y="2381250"/>
            <a:ext cx="3390900" cy="4286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EFCF8"/>
                </a:solidFill>
                <a:latin typeface="霞鹜文楷"/>
                <a:ea typeface="霞鹜文楷"/>
              </a:rPr>
              <a:t>对象符合认识</a:t>
            </a:r>
            <a:endParaRPr/>
          </a:p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876300" y="2943225"/>
            <a:ext cx="33909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BBB0AD"/>
                </a:solidFill>
                <a:latin typeface="思源黑体"/>
                <a:ea typeface="思源黑体"/>
              </a:rPr>
              <a:t>不是我们的认识去符合对象，而是对象必须能进入我们的认识形式——时间、空间与十二范畴。</a:t>
            </a:r>
            <a:endParaRPr/>
          </a:p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4953000" y="1781175"/>
            <a:ext cx="666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先天综合判断</a:t>
            </a:r>
            <a:endParaRPr/>
          </a:p>
        </p:txBody>
      </p:sp>
      <p:sp>
        <p:nvSpPr>
          <p:cNvPr id="728" name="" descr="{&quot;isTemplate&quot;:true,&quot;type&quot;:&quot;text&quot;}"/>
          <p:cNvSpPr txBox="1"/>
          <p:nvPr/>
        </p:nvSpPr>
        <p:spPr>
          <a:xfrm rot="0" flipH="0" flipV="0">
            <a:off x="4953000" y="2095500"/>
            <a:ext cx="6667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既扩展知识又具必然性的判断如何可能？这是全书的总问题。</a:t>
            </a:r>
            <a:endParaRPr/>
          </a:p>
        </p:txBody>
      </p:sp>
      <p:sp>
        <p:nvSpPr>
          <p:cNvPr id="729" name="" descr="{&quot;isTemplate&quot;:true,&quot;type&quot;:&quot;text&quot;}"/>
          <p:cNvSpPr txBox="1"/>
          <p:nvPr/>
        </p:nvSpPr>
        <p:spPr>
          <a:xfrm rot="0" flipH="0" flipV="0">
            <a:off x="4953000" y="2657475"/>
            <a:ext cx="666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现象与物自体</a:t>
            </a:r>
            <a:endParaRPr/>
          </a:p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4953000" y="2971800"/>
            <a:ext cx="6667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我们认识的是被形式整理过的现象，事物本身不可知。</a:t>
            </a:r>
            <a:endParaRPr/>
          </a:p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4953000" y="3533775"/>
            <a:ext cx="666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理性的边界</a:t>
            </a:r>
            <a:endParaRPr/>
          </a:p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4953000" y="3848100"/>
            <a:ext cx="6667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越界使用理性就陷入二律背反：世界既有开端又无开端，两者都「可证」。</a:t>
            </a:r>
            <a:endParaRPr/>
          </a:p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在星空与道德律之间</a:t>
            </a: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教学课件</a:t>
            </a:r>
            <a:endParaRPr/>
          </a:p>
        </p:txBody>
      </p:sp>
      <p:sp>
        <p:nvSpPr>
          <p:cNvPr id="734" name="" descr="{&quot;isTemplate&quot;:true,&quot;type&quot;:&quot;text&quot;}"/>
          <p:cNvSpPr txBox="1"/>
          <p:nvPr/>
        </p:nvSpPr>
        <p:spPr>
          <a:xfrm rot="0" flipH="0" flipV="0">
            <a:off x="10153650" y="6505575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10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康德与德国古典哲学</a:t>
            </a:r>
            <a:endParaRPr/>
          </a:p>
        </p:txBody>
      </p:sp>
    </p:spTree>
  </p:cSld>
</p:sld>
</file>

<file path=ppt/slides/slide44.xml><?xml version="1.0" encoding="utf-8"?>
<p:sld xmlns:a="http://schemas.openxmlformats.org/drawingml/2006/main" xmlns:p="http://schemas.openxmlformats.org/presentationml/2006/main">
  <p:cSld>
    <p:spTree>
      <p:nvGrpSpPr>
        <p:cNvPr id="7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10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康德</a:t>
            </a: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 ·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道德律</a:t>
            </a:r>
            <a:endParaRPr/>
          </a:p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571500" y="89535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33241F"/>
                </a:solidFill>
                <a:latin typeface="霞鹜文楷"/>
                <a:ea typeface="霞鹜文楷"/>
              </a:rPr>
              <a:t>道德律：人是目的，不是手段</a:t>
            </a:r>
            <a:endParaRPr/>
          </a:p>
        </p:txBody>
      </p:sp>
      <p:sp>
        <p:nvSpPr>
          <p:cNvPr id="739" name=""/>
          <p:cNvSpPr/>
          <p:nvPr/>
        </p:nvSpPr>
        <p:spPr>
          <a:xfrm rot="0" flipH="0" flipV="0">
            <a:off x="571500" y="1495425"/>
            <a:ext cx="11049000" cy="9525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740" name=""/>
          <p:cNvSpPr/>
          <p:nvPr/>
        </p:nvSpPr>
        <p:spPr>
          <a:xfrm rot="0" flipH="0" flipV="0">
            <a:off x="571500" y="175260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704850" y="188595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01</a:t>
            </a:r>
            <a:endParaRPr/>
          </a:p>
        </p:txBody>
      </p:sp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1295400" y="175260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绝对命令</a:t>
            </a:r>
            <a:endParaRPr/>
          </a:p>
        </p:txBody>
      </p:sp>
      <p:sp>
        <p:nvSpPr>
          <p:cNvPr id="743" name="" descr="{&quot;isTemplate&quot;:true,&quot;type&quot;:&quot;text&quot;}"/>
          <p:cNvSpPr txBox="1"/>
          <p:nvPr/>
        </p:nvSpPr>
        <p:spPr>
          <a:xfrm rot="0" flipH="0" flipV="0">
            <a:off x="1295400" y="206692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只按你同时愿意它成为普遍法则的准则去行动。</a:t>
            </a:r>
            <a:endParaRPr/>
          </a:p>
        </p:txBody>
      </p:sp>
      <p:sp>
        <p:nvSpPr>
          <p:cNvPr id="744" name=""/>
          <p:cNvSpPr/>
          <p:nvPr/>
        </p:nvSpPr>
        <p:spPr>
          <a:xfrm rot="0" flipH="0" flipV="0">
            <a:off x="571500" y="257175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745" name="" descr="{&quot;isTemplate&quot;:true,&quot;type&quot;:&quot;text&quot;}"/>
          <p:cNvSpPr txBox="1"/>
          <p:nvPr/>
        </p:nvSpPr>
        <p:spPr>
          <a:xfrm rot="0" flipH="0" flipV="0">
            <a:off x="704850" y="270510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02</a:t>
            </a:r>
            <a:endParaRPr/>
          </a:p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1295400" y="257175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人是目的</a:t>
            </a:r>
            <a:endParaRPr/>
          </a:p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1295400" y="288607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理性存在者具有尊严而非价格，不能被当作工具使用。</a:t>
            </a:r>
            <a:endParaRPr/>
          </a:p>
        </p:txBody>
      </p:sp>
      <p:sp>
        <p:nvSpPr>
          <p:cNvPr id="748" name=""/>
          <p:cNvSpPr/>
          <p:nvPr/>
        </p:nvSpPr>
        <p:spPr>
          <a:xfrm rot="0" flipH="0" flipV="0">
            <a:off x="571500" y="339090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749" name="" descr="{&quot;isTemplate&quot;:true,&quot;type&quot;:&quot;text&quot;}"/>
          <p:cNvSpPr txBox="1"/>
          <p:nvPr/>
        </p:nvSpPr>
        <p:spPr>
          <a:xfrm rot="0" flipH="0" flipV="0">
            <a:off x="704850" y="352425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03</a:t>
            </a:r>
            <a:endParaRPr/>
          </a:p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1295400" y="339090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自律</a:t>
            </a:r>
            <a:endParaRPr/>
          </a:p>
        </p:txBody>
      </p:sp>
      <p:sp>
        <p:nvSpPr>
          <p:cNvPr id="751" name="" descr="{&quot;isTemplate&quot;:true,&quot;type&quot;:&quot;text&quot;}"/>
          <p:cNvSpPr txBox="1"/>
          <p:nvPr/>
        </p:nvSpPr>
        <p:spPr>
          <a:xfrm rot="0" flipH="0" flipV="0">
            <a:off x="1295400" y="370522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道德不是外加的命令，而是理性存在者给自己立的法。</a:t>
            </a:r>
            <a:endParaRPr/>
          </a:p>
        </p:txBody>
      </p:sp>
      <p:sp>
        <p:nvSpPr>
          <p:cNvPr id="752" name=""/>
          <p:cNvSpPr/>
          <p:nvPr/>
        </p:nvSpPr>
        <p:spPr>
          <a:xfrm rot="0" flipH="0" flipV="0">
            <a:off x="571500" y="421005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753" name="" descr="{&quot;isTemplate&quot;:true,&quot;type&quot;:&quot;text&quot;}"/>
          <p:cNvSpPr txBox="1"/>
          <p:nvPr/>
        </p:nvSpPr>
        <p:spPr>
          <a:xfrm rot="0" flipH="0" flipV="0">
            <a:off x="704850" y="434340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04</a:t>
            </a:r>
            <a:endParaRPr/>
          </a:p>
        </p:txBody>
      </p:sp>
      <p:sp>
        <p:nvSpPr>
          <p:cNvPr id="754" name="" descr="{&quot;isTemplate&quot;:true,&quot;type&quot;:&quot;text&quot;}"/>
          <p:cNvSpPr txBox="1"/>
          <p:nvPr/>
        </p:nvSpPr>
        <p:spPr>
          <a:xfrm rot="0" flipH="0" flipV="0">
            <a:off x="1295400" y="421005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判断力</a:t>
            </a:r>
            <a:endParaRPr/>
          </a:p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1295400" y="452437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《判断力批判》补上中间环节：美与合目的性沟通自然与自由。</a:t>
            </a:r>
            <a:endParaRPr/>
          </a:p>
        </p:txBody>
      </p:sp>
      <p:sp>
        <p:nvSpPr>
          <p:cNvPr id="756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在星空与道德律之间</a:t>
            </a: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教学课件</a:t>
            </a:r>
            <a:endParaRPr/>
          </a:p>
        </p:txBody>
      </p:sp>
      <p:sp>
        <p:nvSpPr>
          <p:cNvPr id="757" name="" descr="{&quot;isTemplate&quot;:true,&quot;type&quot;:&quot;text&quot;}"/>
          <p:cNvSpPr txBox="1"/>
          <p:nvPr/>
        </p:nvSpPr>
        <p:spPr>
          <a:xfrm rot="0" flipH="0" flipV="0">
            <a:off x="10153650" y="6505575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10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康德与德国古典哲学</a:t>
            </a:r>
            <a:endParaRPr/>
          </a:p>
        </p:txBody>
      </p:sp>
    </p:spTree>
  </p:cSld>
</p:sld>
</file>

<file path=ppt/slides/slide45.xml><?xml version="1.0" encoding="utf-8"?>
<p:sld xmlns:a="http://schemas.openxmlformats.org/drawingml/2006/main" xmlns:p="http://schemas.openxmlformats.org/presentationml/2006/main">
  <p:cSld>
    <p:spTree>
      <p:nvGrpSpPr>
        <p:cNvPr id="7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760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10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康德</a:t>
            </a: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 ·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黑格尔</a:t>
            </a:r>
            <a:endParaRPr/>
          </a:p>
        </p:txBody>
      </p:sp>
      <p:sp>
        <p:nvSpPr>
          <p:cNvPr id="761" name="" descr="{&quot;isTemplate&quot;:true,&quot;type&quot;:&quot;text&quot;}"/>
          <p:cNvSpPr txBox="1"/>
          <p:nvPr/>
        </p:nvSpPr>
        <p:spPr>
          <a:xfrm rot="0" flipH="0" flipV="0">
            <a:off x="571500" y="89535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33241F"/>
                </a:solidFill>
                <a:latin typeface="霞鹜文楷"/>
                <a:ea typeface="霞鹜文楷"/>
              </a:rPr>
              <a:t>黑格尔：把历史拉进哲学</a:t>
            </a:r>
            <a:endParaRPr/>
          </a:p>
        </p:txBody>
      </p:sp>
      <p:sp>
        <p:nvSpPr>
          <p:cNvPr id="762" name=""/>
          <p:cNvSpPr/>
          <p:nvPr/>
        </p:nvSpPr>
        <p:spPr>
          <a:xfrm rot="0" flipH="0" flipV="0">
            <a:off x="571500" y="1495425"/>
            <a:ext cx="11049000" cy="9525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763" name=""/>
          <p:cNvSpPr/>
          <p:nvPr/>
        </p:nvSpPr>
        <p:spPr>
          <a:xfrm rot="0" flipH="0" flipV="0">
            <a:off x="571500" y="1752600"/>
            <a:ext cx="11049000" cy="2714625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E2DED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64" name=""/>
          <p:cNvSpPr/>
          <p:nvPr/>
        </p:nvSpPr>
        <p:spPr>
          <a:xfrm rot="0" flipH="0" flipV="0">
            <a:off x="762000" y="1943100"/>
            <a:ext cx="10668000" cy="390525"/>
          </a:xfrm>
          <a:prstGeom prst="roundRect">
            <a:avLst>
              <a:gd name="adj" fmla="val 19512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765" name="" descr="{&quot;isTemplate&quot;:true,&quot;type&quot;:&quot;text&quot;}"/>
          <p:cNvSpPr txBox="1"/>
          <p:nvPr/>
        </p:nvSpPr>
        <p:spPr>
          <a:xfrm rot="0" flipH="0" flipV="0">
            <a:off x="857250" y="2038350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EFCF8"/>
                </a:solidFill>
                <a:latin typeface="思源黑体"/>
                <a:ea typeface="思源黑体"/>
              </a:rPr>
              <a:t>概念</a:t>
            </a:r>
            <a:endParaRPr/>
          </a:p>
        </p:txBody>
      </p:sp>
      <p:sp>
        <p:nvSpPr>
          <p:cNvPr id="766" name="" descr="{&quot;isTemplate&quot;:true,&quot;type&quot;:&quot;text&quot;}"/>
          <p:cNvSpPr txBox="1"/>
          <p:nvPr/>
        </p:nvSpPr>
        <p:spPr>
          <a:xfrm rot="0" flipH="0" flipV="0">
            <a:off x="2952750" y="2038350"/>
            <a:ext cx="3810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EFCF8"/>
                </a:solidFill>
                <a:latin typeface="思源黑体"/>
                <a:ea typeface="思源黑体"/>
              </a:rPr>
              <a:t>含义</a:t>
            </a:r>
            <a:endParaRPr/>
          </a:p>
        </p:txBody>
      </p:sp>
      <p:sp>
        <p:nvSpPr>
          <p:cNvPr id="767" name="" descr="{&quot;isTemplate&quot;:true,&quot;type&quot;:&quot;text&quot;}"/>
          <p:cNvSpPr txBox="1"/>
          <p:nvPr/>
        </p:nvSpPr>
        <p:spPr>
          <a:xfrm rot="0" flipH="0" flipV="0">
            <a:off x="6953250" y="2038350"/>
            <a:ext cx="4191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EFCF8"/>
                </a:solidFill>
                <a:latin typeface="思源黑体"/>
                <a:ea typeface="思源黑体"/>
              </a:rPr>
              <a:t>教学提示</a:t>
            </a:r>
            <a:endParaRPr/>
          </a:p>
        </p:txBody>
      </p:sp>
      <p:sp>
        <p:nvSpPr>
          <p:cNvPr id="768" name=""/>
          <p:cNvSpPr/>
          <p:nvPr/>
        </p:nvSpPr>
        <p:spPr>
          <a:xfrm rot="0" flipH="0" flipV="0">
            <a:off x="762000" y="2343150"/>
            <a:ext cx="10668000" cy="4857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769" name=""/>
          <p:cNvSpPr/>
          <p:nvPr/>
        </p:nvSpPr>
        <p:spPr>
          <a:xfrm rot="0" flipH="0" flipV="0">
            <a:off x="762000" y="2333625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770" name="" descr="{&quot;isTemplate&quot;:true,&quot;type&quot;:&quot;text&quot;}"/>
          <p:cNvSpPr txBox="1"/>
          <p:nvPr/>
        </p:nvSpPr>
        <p:spPr>
          <a:xfrm rot="0" flipH="0" flipV="0">
            <a:off x="857250" y="2438400"/>
            <a:ext cx="1905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主奴辩证法</a:t>
            </a:r>
            <a:endParaRPr/>
          </a:p>
        </p:txBody>
      </p:sp>
      <p:sp>
        <p:nvSpPr>
          <p:cNvPr id="771" name="" descr="{&quot;isTemplate&quot;:true,&quot;type&quot;:&quot;text&quot;}"/>
          <p:cNvSpPr txBox="1"/>
          <p:nvPr/>
        </p:nvSpPr>
        <p:spPr>
          <a:xfrm rot="0" flipH="0" flipV="0">
            <a:off x="2952750" y="2438400"/>
            <a:ext cx="3810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自我意识要通过他人的承认才成立</a:t>
            </a:r>
            <a:endParaRPr/>
          </a:p>
        </p:txBody>
      </p:sp>
      <p:sp>
        <p:nvSpPr>
          <p:cNvPr id="772" name="" descr="{&quot;isTemplate&quot;:true,&quot;type&quot;:&quot;text&quot;}"/>
          <p:cNvSpPr txBox="1"/>
          <p:nvPr/>
        </p:nvSpPr>
        <p:spPr>
          <a:xfrm rot="0" flipH="0" flipV="0">
            <a:off x="6953250" y="2438400"/>
            <a:ext cx="4191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用「承认」讲，比用「斗争」更贴切</a:t>
            </a:r>
            <a:endParaRPr/>
          </a:p>
        </p:txBody>
      </p:sp>
      <p:sp>
        <p:nvSpPr>
          <p:cNvPr id="773" name=""/>
          <p:cNvSpPr/>
          <p:nvPr/>
        </p:nvSpPr>
        <p:spPr>
          <a:xfrm rot="0" flipH="0" flipV="0">
            <a:off x="762000" y="2828925"/>
            <a:ext cx="10668000" cy="485775"/>
          </a:xfrm>
          <a:prstGeom prst="rect">
            <a:avLst/>
          </a:prstGeom>
          <a:solidFill>
            <a:srgbClr val="F5F1EC"/>
          </a:solidFill>
          <a:ln/>
        </p:spPr>
        <p:txBody>
          <a:bodyPr/>
          <a:p>
            <a:pPr/>
            <a:endParaRPr/>
          </a:p>
        </p:txBody>
      </p:sp>
      <p:sp>
        <p:nvSpPr>
          <p:cNvPr id="774" name=""/>
          <p:cNvSpPr/>
          <p:nvPr/>
        </p:nvSpPr>
        <p:spPr>
          <a:xfrm rot="0" flipH="0" flipV="0">
            <a:off x="762000" y="2819400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775" name="" descr="{&quot;isTemplate&quot;:true,&quot;type&quot;:&quot;text&quot;}"/>
          <p:cNvSpPr txBox="1"/>
          <p:nvPr/>
        </p:nvSpPr>
        <p:spPr>
          <a:xfrm rot="0" flipH="0" flipV="0">
            <a:off x="857250" y="2924175"/>
            <a:ext cx="1905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精神现象学</a:t>
            </a:r>
            <a:endParaRPr/>
          </a:p>
        </p:txBody>
      </p:sp>
      <p:sp>
        <p:nvSpPr>
          <p:cNvPr id="776" name="" descr="{&quot;isTemplate&quot;:true,&quot;type&quot;:&quot;text&quot;}"/>
          <p:cNvSpPr txBox="1"/>
          <p:nvPr/>
        </p:nvSpPr>
        <p:spPr>
          <a:xfrm rot="0" flipH="0" flipV="0">
            <a:off x="2952750" y="2924175"/>
            <a:ext cx="3810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意识从感性确定性走向绝对知识的历程</a:t>
            </a:r>
            <a:endParaRPr/>
          </a:p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6953250" y="2924175"/>
            <a:ext cx="4191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不是心理学，是意识形态的序列</a:t>
            </a:r>
            <a:endParaRPr/>
          </a:p>
        </p:txBody>
      </p:sp>
      <p:sp>
        <p:nvSpPr>
          <p:cNvPr id="778" name=""/>
          <p:cNvSpPr/>
          <p:nvPr/>
        </p:nvSpPr>
        <p:spPr>
          <a:xfrm rot="0" flipH="0" flipV="0">
            <a:off x="762000" y="3314700"/>
            <a:ext cx="10668000" cy="4857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779" name=""/>
          <p:cNvSpPr/>
          <p:nvPr/>
        </p:nvSpPr>
        <p:spPr>
          <a:xfrm rot="0" flipH="0" flipV="0">
            <a:off x="762000" y="3305175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780" name="" descr="{&quot;isTemplate&quot;:true,&quot;type&quot;:&quot;text&quot;}"/>
          <p:cNvSpPr txBox="1"/>
          <p:nvPr/>
        </p:nvSpPr>
        <p:spPr>
          <a:xfrm rot="0" flipH="0" flipV="0">
            <a:off x="857250" y="3409950"/>
            <a:ext cx="1905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历史的狡计</a:t>
            </a:r>
            <a:endParaRPr/>
          </a:p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2952750" y="3409950"/>
            <a:ext cx="3810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个体追求私利，结果实现了更高的理性目的</a:t>
            </a:r>
            <a:endParaRPr/>
          </a:p>
        </p:txBody>
      </p:sp>
      <p:sp>
        <p:nvSpPr>
          <p:cNvPr id="782" name="" descr="{&quot;isTemplate&quot;:true,&quot;type&quot;:&quot;text&quot;}"/>
          <p:cNvSpPr txBox="1"/>
          <p:nvPr/>
        </p:nvSpPr>
        <p:spPr>
          <a:xfrm rot="0" flipH="0" flipV="0">
            <a:off x="6953250" y="3409950"/>
            <a:ext cx="4191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可与「看不见的手」对照讲解</a:t>
            </a:r>
            <a:endParaRPr/>
          </a:p>
        </p:txBody>
      </p:sp>
      <p:sp>
        <p:nvSpPr>
          <p:cNvPr id="783" name=""/>
          <p:cNvSpPr/>
          <p:nvPr/>
        </p:nvSpPr>
        <p:spPr>
          <a:xfrm rot="0" flipH="0" flipV="0">
            <a:off x="762000" y="3800475"/>
            <a:ext cx="10668000" cy="485775"/>
          </a:xfrm>
          <a:prstGeom prst="rect">
            <a:avLst/>
          </a:prstGeom>
          <a:solidFill>
            <a:srgbClr val="F5F1EC"/>
          </a:solidFill>
          <a:ln/>
        </p:spPr>
        <p:txBody>
          <a:bodyPr/>
          <a:p>
            <a:pPr/>
            <a:endParaRPr/>
          </a:p>
        </p:txBody>
      </p:sp>
      <p:sp>
        <p:nvSpPr>
          <p:cNvPr id="784" name=""/>
          <p:cNvSpPr/>
          <p:nvPr/>
        </p:nvSpPr>
        <p:spPr>
          <a:xfrm rot="0" flipH="0" flipV="0">
            <a:off x="762000" y="3790950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785" name="" descr="{&quot;isTemplate&quot;:true,&quot;type&quot;:&quot;text&quot;}"/>
          <p:cNvSpPr txBox="1"/>
          <p:nvPr/>
        </p:nvSpPr>
        <p:spPr>
          <a:xfrm rot="0" flipH="0" flipV="0">
            <a:off x="857250" y="3895725"/>
            <a:ext cx="1905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正反合</a:t>
            </a:r>
            <a:endParaRPr/>
          </a:p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2952750" y="3895725"/>
            <a:ext cx="3810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常被简化成公式，黑格尔本人并未这样标榜</a:t>
            </a:r>
            <a:endParaRPr/>
          </a:p>
        </p:txBody>
      </p:sp>
      <p:sp>
        <p:nvSpPr>
          <p:cNvPr id="787" name="" descr="{&quot;isTemplate&quot;:true,&quot;type&quot;:&quot;text&quot;}"/>
          <p:cNvSpPr txBox="1"/>
          <p:nvPr/>
        </p:nvSpPr>
        <p:spPr>
          <a:xfrm rot="0" flipH="0" flipV="0">
            <a:off x="6953250" y="3895725"/>
            <a:ext cx="4191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提醒学生别把它当公式背</a:t>
            </a:r>
            <a:endParaRPr/>
          </a:p>
        </p:txBody>
      </p:sp>
      <p:sp>
        <p:nvSpPr>
          <p:cNvPr id="788" name=""/>
          <p:cNvSpPr/>
          <p:nvPr/>
        </p:nvSpPr>
        <p:spPr>
          <a:xfrm rot="0" flipH="0" flipV="0">
            <a:off x="571500" y="4619625"/>
            <a:ext cx="11049000" cy="619125"/>
          </a:xfrm>
          <a:prstGeom prst="roundRect">
            <a:avLst>
              <a:gd name="adj" fmla="val 24615"/>
            </a:avLst>
          </a:prstGeom>
          <a:solidFill>
            <a:srgbClr val="E3EEF1"/>
          </a:solidFill>
          <a:ln/>
        </p:spPr>
        <p:txBody>
          <a:bodyPr/>
          <a:p>
            <a:pPr/>
            <a:endParaRPr/>
          </a:p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723900" y="4772025"/>
            <a:ext cx="10744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503C36"/>
                </a:solidFill>
                <a:latin typeface="思源黑体"/>
                <a:ea typeface="思源黑体"/>
              </a:rPr>
              <a:t>康德给了「结构」，黑格尔给了「过程」——此后哲学再也不能脱离历史谈理性。</a:t>
            </a:r>
            <a:endParaRPr/>
          </a:p>
        </p:txBody>
      </p:sp>
      <p:sp>
        <p:nvSpPr>
          <p:cNvPr id="790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在星空与道德律之间</a:t>
            </a: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教学课件</a:t>
            </a:r>
            <a:endParaRPr/>
          </a:p>
        </p:txBody>
      </p:sp>
      <p:sp>
        <p:nvSpPr>
          <p:cNvPr id="791" name="" descr="{&quot;isTemplate&quot;:true,&quot;type&quot;:&quot;text&quot;}"/>
          <p:cNvSpPr txBox="1"/>
          <p:nvPr/>
        </p:nvSpPr>
        <p:spPr>
          <a:xfrm rot="0" flipH="0" flipV="0">
            <a:off x="10153650" y="6505575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10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康德与德国古典哲学</a:t>
            </a:r>
            <a:endParaRPr/>
          </a:p>
        </p:txBody>
      </p:sp>
    </p:spTree>
  </p:cSld>
</p:sld>
</file>

<file path=ppt/slides/slide46.xml><?xml version="1.0" encoding="utf-8"?>
<p:sld xmlns:a="http://schemas.openxmlformats.org/drawingml/2006/main" xmlns:p="http://schemas.openxmlformats.org/presentationml/2006/main">
  <p:cSld>
    <p:spTree>
      <p:nvGrpSpPr>
        <p:cNvPr id="7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C1411"/>
          </a:solidFill>
          <a:ln/>
        </p:spPr>
        <p:txBody>
          <a:bodyPr/>
          <a:p>
            <a:pPr/>
            <a:endParaRPr/>
          </a:p>
        </p:txBody>
      </p:sp>
      <p:sp>
        <p:nvSpPr>
          <p:cNvPr id="794" name="" descr="{&quot;isTemplate&quot;:true,&quot;type&quot;:&quot;text&quot;}"/>
          <p:cNvSpPr txBox="1"/>
          <p:nvPr/>
        </p:nvSpPr>
        <p:spPr>
          <a:xfrm rot="0" flipH="0" flipV="0">
            <a:off x="571500" y="2571750"/>
            <a:ext cx="160020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BBB0AD"/>
                </a:solidFill>
                <a:latin typeface="霞鹜文楷"/>
                <a:ea typeface="霞鹜文楷"/>
              </a:rPr>
              <a:t>11</a:t>
            </a:r>
            <a:endParaRPr/>
          </a:p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2552700" y="2781300"/>
            <a:ext cx="9067800" cy="571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000" b="1">
                <a:solidFill>
                  <a:srgbClr val="FEFCF8"/>
                </a:solidFill>
                <a:latin typeface="霞鹜文楷"/>
                <a:ea typeface="霞鹜文楷"/>
              </a:rPr>
              <a:t>现代性的裂缝</a:t>
            </a:r>
            <a:r>
              <a:rPr lang="en-US" sz="3000" b="1">
                <a:solidFill>
                  <a:srgbClr val="FEFCF8"/>
                </a:solidFill>
                <a:latin typeface="霞鹜文楷"/>
                <a:ea typeface="霞鹜文楷"/>
              </a:rPr>
              <a:t> </a:t>
            </a:r>
            <a:r>
              <a:rPr lang="zh-CN" sz="3000" b="1">
                <a:solidFill>
                  <a:srgbClr val="FEFCF8"/>
                </a:solidFill>
                <a:latin typeface="霞鹜文楷"/>
                <a:ea typeface="霞鹜文楷"/>
              </a:rPr>
              <a:t>当宏大叙事开始崩塌</a:t>
            </a:r>
            <a:endParaRPr/>
          </a:p>
        </p:txBody>
      </p:sp>
      <p:sp>
        <p:nvSpPr>
          <p:cNvPr id="796" name=""/>
          <p:cNvSpPr/>
          <p:nvPr/>
        </p:nvSpPr>
        <p:spPr>
          <a:xfrm rot="0" flipH="0" flipV="0">
            <a:off x="2552700" y="3524250"/>
            <a:ext cx="838200" cy="19050"/>
          </a:xfrm>
          <a:prstGeom prst="rect">
            <a:avLst/>
          </a:prstGeom>
          <a:solidFill>
            <a:srgbClr val="8FA8A5"/>
          </a:solidFill>
          <a:ln/>
        </p:spPr>
        <p:txBody>
          <a:bodyPr/>
          <a:p>
            <a:pPr/>
            <a:endParaRPr/>
          </a:p>
        </p:txBody>
      </p:sp>
      <p:sp>
        <p:nvSpPr>
          <p:cNvPr id="797" name="" descr="{&quot;isTemplate&quot;:true,&quot;type&quot;:&quot;text&quot;}"/>
          <p:cNvSpPr txBox="1"/>
          <p:nvPr/>
        </p:nvSpPr>
        <p:spPr>
          <a:xfrm rot="0" flipH="0" flipV="0">
            <a:off x="2552700" y="3714750"/>
            <a:ext cx="90678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BBB0AD"/>
                </a:solidFill>
                <a:latin typeface="思源黑体"/>
                <a:ea typeface="思源黑体"/>
              </a:rPr>
              <a:t>叔本华、克尔凯郭尔、尼采、马克思轮番拆台</a:t>
            </a:r>
            <a:endParaRPr/>
          </a:p>
        </p:txBody>
      </p:sp>
    </p:spTree>
  </p:cSld>
</p:sld>
</file>

<file path=ppt/slides/slide47.xml><?xml version="1.0" encoding="utf-8"?>
<p:sld xmlns:a="http://schemas.openxmlformats.org/drawingml/2006/main" xmlns:p="http://schemas.openxmlformats.org/presentationml/2006/main">
  <p:cSld>
    <p:spTree>
      <p:nvGrpSpPr>
        <p:cNvPr id="7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800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11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现代性的裂缝</a:t>
            </a: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 ·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四个人</a:t>
            </a:r>
            <a:endParaRPr/>
          </a:p>
        </p:txBody>
      </p:sp>
      <p:sp>
        <p:nvSpPr>
          <p:cNvPr id="801" name="" descr="{&quot;isTemplate&quot;:true,&quot;type&quot;:&quot;text&quot;}"/>
          <p:cNvSpPr txBox="1"/>
          <p:nvPr/>
        </p:nvSpPr>
        <p:spPr>
          <a:xfrm rot="0" flipH="0" flipV="0">
            <a:off x="571500" y="89535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33241F"/>
                </a:solidFill>
                <a:latin typeface="霞鹜文楷"/>
                <a:ea typeface="霞鹜文楷"/>
              </a:rPr>
              <a:t>裂缝从哪里开始：宏大叙事的塌方</a:t>
            </a:r>
            <a:endParaRPr/>
          </a:p>
        </p:txBody>
      </p:sp>
      <p:sp>
        <p:nvSpPr>
          <p:cNvPr id="802" name=""/>
          <p:cNvSpPr/>
          <p:nvPr/>
        </p:nvSpPr>
        <p:spPr>
          <a:xfrm rot="0" flipH="0" flipV="0">
            <a:off x="571500" y="1495425"/>
            <a:ext cx="11049000" cy="9525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803" name=""/>
          <p:cNvSpPr/>
          <p:nvPr/>
        </p:nvSpPr>
        <p:spPr>
          <a:xfrm rot="0" flipH="0" flipV="0">
            <a:off x="571500" y="175260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804" name="" descr="{&quot;isTemplate&quot;:true,&quot;type&quot;:&quot;text&quot;}"/>
          <p:cNvSpPr txBox="1"/>
          <p:nvPr/>
        </p:nvSpPr>
        <p:spPr>
          <a:xfrm rot="0" flipH="0" flipV="0">
            <a:off x="704850" y="188595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01</a:t>
            </a:r>
            <a:endParaRPr/>
          </a:p>
        </p:txBody>
      </p:sp>
      <p:sp>
        <p:nvSpPr>
          <p:cNvPr id="805" name="" descr="{&quot;isTemplate&quot;:true,&quot;type&quot;:&quot;text&quot;}"/>
          <p:cNvSpPr txBox="1"/>
          <p:nvPr/>
        </p:nvSpPr>
        <p:spPr>
          <a:xfrm rot="0" flipH="0" flipV="0">
            <a:off x="1295400" y="175260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叔本华：意志推着世界走</a:t>
            </a:r>
            <a:endParaRPr/>
          </a:p>
        </p:txBody>
      </p:sp>
      <p:sp>
        <p:nvSpPr>
          <p:cNvPr id="806" name="" descr="{&quot;isTemplate&quot;:true,&quot;type&quot;:&quot;text&quot;}"/>
          <p:cNvSpPr txBox="1"/>
          <p:nvPr/>
        </p:nvSpPr>
        <p:spPr>
          <a:xfrm rot="0" flipH="0" flipV="0">
            <a:off x="1295400" y="206692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盲目的求生意志，让人在痛苦与无聊之间来回摆荡。</a:t>
            </a:r>
            <a:endParaRPr/>
          </a:p>
        </p:txBody>
      </p:sp>
      <p:sp>
        <p:nvSpPr>
          <p:cNvPr id="807" name=""/>
          <p:cNvSpPr/>
          <p:nvPr/>
        </p:nvSpPr>
        <p:spPr>
          <a:xfrm rot="0" flipH="0" flipV="0">
            <a:off x="571500" y="257175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808" name="" descr="{&quot;isTemplate&quot;:true,&quot;type&quot;:&quot;text&quot;}"/>
          <p:cNvSpPr txBox="1"/>
          <p:nvPr/>
        </p:nvSpPr>
        <p:spPr>
          <a:xfrm rot="0" flipH="0" flipV="0">
            <a:off x="704850" y="270510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02</a:t>
            </a:r>
            <a:endParaRPr/>
          </a:p>
        </p:txBody>
      </p:sp>
      <p:sp>
        <p:nvSpPr>
          <p:cNvPr id="809" name="" descr="{&quot;isTemplate&quot;:true,&quot;type&quot;:&quot;text&quot;}"/>
          <p:cNvSpPr txBox="1"/>
          <p:nvPr/>
        </p:nvSpPr>
        <p:spPr>
          <a:xfrm rot="0" flipH="0" flipV="0">
            <a:off x="1295400" y="257175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克尔凯郭尔：焦虑与跳跃</a:t>
            </a:r>
            <a:endParaRPr/>
          </a:p>
        </p:txBody>
      </p:sp>
      <p:sp>
        <p:nvSpPr>
          <p:cNvPr id="810" name="" descr="{&quot;isTemplate&quot;:true,&quot;type&quot;:&quot;text&quot;}"/>
          <p:cNvSpPr txBox="1"/>
          <p:nvPr/>
        </p:nvSpPr>
        <p:spPr>
          <a:xfrm rot="0" flipH="0" flipV="0">
            <a:off x="1295400" y="288607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面对可能性的眩晕；信仰不是论证的结果，是一次跳跃。</a:t>
            </a:r>
            <a:endParaRPr/>
          </a:p>
        </p:txBody>
      </p:sp>
      <p:sp>
        <p:nvSpPr>
          <p:cNvPr id="811" name=""/>
          <p:cNvSpPr/>
          <p:nvPr/>
        </p:nvSpPr>
        <p:spPr>
          <a:xfrm rot="0" flipH="0" flipV="0">
            <a:off x="571500" y="339090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812" name="" descr="{&quot;isTemplate&quot;:true,&quot;type&quot;:&quot;text&quot;}"/>
          <p:cNvSpPr txBox="1"/>
          <p:nvPr/>
        </p:nvSpPr>
        <p:spPr>
          <a:xfrm rot="0" flipH="0" flipV="0">
            <a:off x="704850" y="352425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03</a:t>
            </a:r>
            <a:endParaRPr/>
          </a:p>
        </p:txBody>
      </p:sp>
      <p:sp>
        <p:nvSpPr>
          <p:cNvPr id="813" name="" descr="{&quot;isTemplate&quot;:true,&quot;type&quot;:&quot;text&quot;}"/>
          <p:cNvSpPr txBox="1"/>
          <p:nvPr/>
        </p:nvSpPr>
        <p:spPr>
          <a:xfrm rot="0" flipH="0" flipV="0">
            <a:off x="1295400" y="339090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尼采：上帝死了</a:t>
            </a:r>
            <a:endParaRPr/>
          </a:p>
        </p:txBody>
      </p:sp>
      <p:sp>
        <p:nvSpPr>
          <p:cNvPr id="814" name="" descr="{&quot;isTemplate&quot;:true,&quot;type&quot;:&quot;text&quot;}"/>
          <p:cNvSpPr txBox="1"/>
          <p:nvPr/>
        </p:nvSpPr>
        <p:spPr>
          <a:xfrm rot="0" flipH="0" flipV="0">
            <a:off x="1295400" y="370522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重估一切价值——不是庆祝，是指出支撑西方道德的底座空了。</a:t>
            </a:r>
            <a:endParaRPr/>
          </a:p>
        </p:txBody>
      </p:sp>
      <p:sp>
        <p:nvSpPr>
          <p:cNvPr id="815" name=""/>
          <p:cNvSpPr/>
          <p:nvPr/>
        </p:nvSpPr>
        <p:spPr>
          <a:xfrm rot="0" flipH="0" flipV="0">
            <a:off x="571500" y="421005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816" name="" descr="{&quot;isTemplate&quot;:true,&quot;type&quot;:&quot;text&quot;}"/>
          <p:cNvSpPr txBox="1"/>
          <p:nvPr/>
        </p:nvSpPr>
        <p:spPr>
          <a:xfrm rot="0" flipH="0" flipV="0">
            <a:off x="704850" y="434340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04</a:t>
            </a:r>
            <a:endParaRPr/>
          </a:p>
        </p:txBody>
      </p:sp>
      <p:sp>
        <p:nvSpPr>
          <p:cNvPr id="817" name="" descr="{&quot;isTemplate&quot;:true,&quot;type&quot;:&quot;text&quot;}"/>
          <p:cNvSpPr txBox="1"/>
          <p:nvPr/>
        </p:nvSpPr>
        <p:spPr>
          <a:xfrm rot="0" flipH="0" flipV="0">
            <a:off x="1295400" y="421005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马克思：不是观念，是物质</a:t>
            </a:r>
            <a:endParaRPr/>
          </a:p>
        </p:txBody>
      </p:sp>
      <p:sp>
        <p:nvSpPr>
          <p:cNvPr id="818" name="" descr="{&quot;isTemplate&quot;:true,&quot;type&quot;:&quot;text&quot;}"/>
          <p:cNvSpPr txBox="1"/>
          <p:nvPr/>
        </p:nvSpPr>
        <p:spPr>
          <a:xfrm rot="0" flipH="0" flipV="0">
            <a:off x="1295400" y="452437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异化劳动：工人与产品、过程、类本质、他人四重分离。</a:t>
            </a:r>
            <a:endParaRPr/>
          </a:p>
        </p:txBody>
      </p:sp>
      <p:sp>
        <p:nvSpPr>
          <p:cNvPr id="819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在星空与道德律之间</a:t>
            </a: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教学课件</a:t>
            </a:r>
            <a:endParaRPr/>
          </a:p>
        </p:txBody>
      </p:sp>
      <p:sp>
        <p:nvSpPr>
          <p:cNvPr id="820" name="" descr="{&quot;isTemplate&quot;:true,&quot;type&quot;:&quot;text&quot;}"/>
          <p:cNvSpPr txBox="1"/>
          <p:nvPr/>
        </p:nvSpPr>
        <p:spPr>
          <a:xfrm rot="0" flipH="0" flipV="0">
            <a:off x="10553700" y="6505575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11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现代性的裂缝</a:t>
            </a:r>
            <a:endParaRPr/>
          </a:p>
        </p:txBody>
      </p:sp>
    </p:spTree>
  </p:cSld>
</p:sld>
</file>

<file path=ppt/slides/slide48.xml><?xml version="1.0" encoding="utf-8"?>
<p:sld xmlns:a="http://schemas.openxmlformats.org/drawingml/2006/main" xmlns:p="http://schemas.openxmlformats.org/presentationml/2006/main">
  <p:cSld>
    <p:spTree>
      <p:nvGrpSpPr>
        <p:cNvPr id="8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823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11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现代性的裂缝</a:t>
            </a: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 ·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尼采</a:t>
            </a:r>
            <a:endParaRPr/>
          </a:p>
        </p:txBody>
      </p:sp>
      <p:sp>
        <p:nvSpPr>
          <p:cNvPr id="824" name="" descr="{&quot;isTemplate&quot;:true,&quot;type&quot;:&quot;text&quot;}"/>
          <p:cNvSpPr txBox="1"/>
          <p:nvPr/>
        </p:nvSpPr>
        <p:spPr>
          <a:xfrm rot="0" flipH="0" flipV="0">
            <a:off x="571500" y="89535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33241F"/>
                </a:solidFill>
                <a:latin typeface="霞鹜文楷"/>
                <a:ea typeface="霞鹜文楷"/>
              </a:rPr>
              <a:t>尼采：拿着锤子重估一切价值</a:t>
            </a:r>
            <a:endParaRPr/>
          </a:p>
        </p:txBody>
      </p:sp>
      <p:sp>
        <p:nvSpPr>
          <p:cNvPr id="825" name=""/>
          <p:cNvSpPr/>
          <p:nvPr/>
        </p:nvSpPr>
        <p:spPr>
          <a:xfrm rot="0" flipH="0" flipV="0">
            <a:off x="571500" y="1495425"/>
            <a:ext cx="11049000" cy="9525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826" name=""/>
          <p:cNvSpPr/>
          <p:nvPr/>
        </p:nvSpPr>
        <p:spPr>
          <a:xfrm rot="0" flipH="0" flipV="0">
            <a:off x="571500" y="1752600"/>
            <a:ext cx="4000500" cy="2428875"/>
          </a:xfrm>
          <a:prstGeom prst="roundRect">
            <a:avLst>
              <a:gd name="adj" fmla="val 6275"/>
            </a:avLst>
          </a:prstGeom>
          <a:solidFill>
            <a:srgbClr val="1C1411"/>
          </a:solidFill>
          <a:ln/>
        </p:spPr>
        <p:txBody>
          <a:bodyPr/>
          <a:p>
            <a:pPr/>
            <a:endParaRPr/>
          </a:p>
        </p:txBody>
      </p:sp>
      <p:sp>
        <p:nvSpPr>
          <p:cNvPr id="827" name="" descr="{&quot;isTemplate&quot;:true,&quot;type&quot;:&quot;text&quot;}"/>
          <p:cNvSpPr txBox="1"/>
          <p:nvPr/>
        </p:nvSpPr>
        <p:spPr>
          <a:xfrm rot="0" flipH="0" flipV="0">
            <a:off x="876300" y="2057400"/>
            <a:ext cx="3390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BB0AD"/>
                </a:solidFill>
                <a:latin typeface="思源黑体"/>
                <a:ea typeface="思源黑体"/>
              </a:rPr>
              <a:t>《快乐的科学》</a:t>
            </a:r>
            <a:endParaRPr/>
          </a:p>
        </p:txBody>
      </p:sp>
      <p:sp>
        <p:nvSpPr>
          <p:cNvPr id="828" name="" descr="{&quot;isTemplate&quot;:true,&quot;type&quot;:&quot;text&quot;}"/>
          <p:cNvSpPr txBox="1"/>
          <p:nvPr/>
        </p:nvSpPr>
        <p:spPr>
          <a:xfrm rot="0" flipH="0" flipV="0">
            <a:off x="876300" y="2381250"/>
            <a:ext cx="3390900" cy="4286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EFCF8"/>
                </a:solidFill>
                <a:latin typeface="霞鹜文楷"/>
                <a:ea typeface="霞鹜文楷"/>
              </a:rPr>
              <a:t>上帝死了</a:t>
            </a:r>
            <a:endParaRPr/>
          </a:p>
        </p:txBody>
      </p:sp>
      <p:sp>
        <p:nvSpPr>
          <p:cNvPr id="829" name="" descr="{&quot;isTemplate&quot;:true,&quot;type&quot;:&quot;text&quot;}"/>
          <p:cNvSpPr txBox="1"/>
          <p:nvPr/>
        </p:nvSpPr>
        <p:spPr>
          <a:xfrm rot="0" flipH="0" flipV="0">
            <a:off x="876300" y="2943225"/>
            <a:ext cx="33909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BBB0AD"/>
                </a:solidFill>
                <a:latin typeface="思源黑体"/>
                <a:ea typeface="思源黑体"/>
              </a:rPr>
              <a:t>基督教道德体系失去根基之后，「善恶」不再是天经地义，而成了需要被追问的历史产物。</a:t>
            </a:r>
            <a:endParaRPr/>
          </a:p>
        </p:txBody>
      </p:sp>
      <p:sp>
        <p:nvSpPr>
          <p:cNvPr id="830" name="" descr="{&quot;isTemplate&quot;:true,&quot;type&quot;:&quot;text&quot;}"/>
          <p:cNvSpPr txBox="1"/>
          <p:nvPr/>
        </p:nvSpPr>
        <p:spPr>
          <a:xfrm rot="0" flipH="0" flipV="0">
            <a:off x="4953000" y="1781175"/>
            <a:ext cx="666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主人道德与奴隶道德</a:t>
            </a:r>
            <a:endParaRPr/>
          </a:p>
        </p:txBody>
      </p:sp>
      <p:sp>
        <p:nvSpPr>
          <p:cNvPr id="831" name="" descr="{&quot;isTemplate&quot;:true,&quot;type&quot;:&quot;text&quot;}"/>
          <p:cNvSpPr txBox="1"/>
          <p:nvPr/>
        </p:nvSpPr>
        <p:spPr>
          <a:xfrm rot="0" flipH="0" flipV="0">
            <a:off x="4953000" y="2095500"/>
            <a:ext cx="6667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哪一种评价是强者对生命的肯定，哪一种出于怨恨？</a:t>
            </a:r>
            <a:endParaRPr/>
          </a:p>
        </p:txBody>
      </p:sp>
      <p:sp>
        <p:nvSpPr>
          <p:cNvPr id="832" name="" descr="{&quot;isTemplate&quot;:true,&quot;type&quot;:&quot;text&quot;}"/>
          <p:cNvSpPr txBox="1"/>
          <p:nvPr/>
        </p:nvSpPr>
        <p:spPr>
          <a:xfrm rot="0" flipH="0" flipV="0">
            <a:off x="4953000" y="2657475"/>
            <a:ext cx="666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超人</a:t>
            </a:r>
            <a:endParaRPr/>
          </a:p>
        </p:txBody>
      </p:sp>
      <p:sp>
        <p:nvSpPr>
          <p:cNvPr id="833" name="" descr="{&quot;isTemplate&quot;:true,&quot;type&quot;:&quot;text&quot;}"/>
          <p:cNvSpPr txBox="1"/>
          <p:nvPr/>
        </p:nvSpPr>
        <p:spPr>
          <a:xfrm rot="0" flipH="0" flipV="0">
            <a:off x="4953000" y="2971800"/>
            <a:ext cx="6667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不是超能力者，而是在上帝缺席后仍能自我立法的人。</a:t>
            </a:r>
            <a:endParaRPr/>
          </a:p>
        </p:txBody>
      </p:sp>
      <p:sp>
        <p:nvSpPr>
          <p:cNvPr id="834" name="" descr="{&quot;isTemplate&quot;:true,&quot;type&quot;:&quot;text&quot;}"/>
          <p:cNvSpPr txBox="1"/>
          <p:nvPr/>
        </p:nvSpPr>
        <p:spPr>
          <a:xfrm rot="0" flipH="0" flipV="0">
            <a:off x="4953000" y="3533775"/>
            <a:ext cx="666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永恒轮回</a:t>
            </a:r>
            <a:endParaRPr/>
          </a:p>
        </p:txBody>
      </p:sp>
      <p:sp>
        <p:nvSpPr>
          <p:cNvPr id="835" name="" descr="{&quot;isTemplate&quot;:true,&quot;type&quot;:&quot;text&quot;}"/>
          <p:cNvSpPr txBox="1"/>
          <p:nvPr/>
        </p:nvSpPr>
        <p:spPr>
          <a:xfrm rot="0" flipH="0" flipV="0">
            <a:off x="4953000" y="3848100"/>
            <a:ext cx="6667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如果这一生将无限次重复，你还愿意这样活吗？这是最狠的一问。</a:t>
            </a:r>
            <a:endParaRPr/>
          </a:p>
        </p:txBody>
      </p:sp>
      <p:sp>
        <p:nvSpPr>
          <p:cNvPr id="836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在星空与道德律之间</a:t>
            </a: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教学课件</a:t>
            </a:r>
            <a:endParaRPr/>
          </a:p>
        </p:txBody>
      </p:sp>
      <p:sp>
        <p:nvSpPr>
          <p:cNvPr id="837" name="" descr="{&quot;isTemplate&quot;:true,&quot;type&quot;:&quot;text&quot;}"/>
          <p:cNvSpPr txBox="1"/>
          <p:nvPr/>
        </p:nvSpPr>
        <p:spPr>
          <a:xfrm rot="0" flipH="0" flipV="0">
            <a:off x="10553700" y="6505575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11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现代性的裂缝</a:t>
            </a:r>
            <a:endParaRPr/>
          </a:p>
        </p:txBody>
      </p:sp>
    </p:spTree>
  </p:cSld>
</p:sld>
</file>

<file path=ppt/slides/slide49.xml><?xml version="1.0" encoding="utf-8"?>
<p:sld xmlns:a="http://schemas.openxmlformats.org/drawingml/2006/main" xmlns:p="http://schemas.openxmlformats.org/presentationml/2006/main">
  <p:cSld>
    <p:spTree>
      <p:nvGrpSpPr>
        <p:cNvPr id="8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840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11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现代性的裂缝</a:t>
            </a: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 ·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对照</a:t>
            </a:r>
            <a:endParaRPr/>
          </a:p>
        </p:txBody>
      </p:sp>
      <p:sp>
        <p:nvSpPr>
          <p:cNvPr id="841" name="" descr="{&quot;isTemplate&quot;:true,&quot;type&quot;:&quot;text&quot;}"/>
          <p:cNvSpPr txBox="1"/>
          <p:nvPr/>
        </p:nvSpPr>
        <p:spPr>
          <a:xfrm rot="0" flipH="0" flipV="0">
            <a:off x="571500" y="89535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33241F"/>
                </a:solidFill>
                <a:latin typeface="霞鹜文楷"/>
                <a:ea typeface="霞鹜文楷"/>
              </a:rPr>
              <a:t>马克思与功利主义：两条改造世界的路</a:t>
            </a:r>
            <a:endParaRPr/>
          </a:p>
        </p:txBody>
      </p:sp>
      <p:sp>
        <p:nvSpPr>
          <p:cNvPr id="842" name=""/>
          <p:cNvSpPr/>
          <p:nvPr/>
        </p:nvSpPr>
        <p:spPr>
          <a:xfrm rot="0" flipH="0" flipV="0">
            <a:off x="571500" y="1495425"/>
            <a:ext cx="11049000" cy="9525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843" name=""/>
          <p:cNvSpPr/>
          <p:nvPr/>
        </p:nvSpPr>
        <p:spPr>
          <a:xfrm rot="0" flipH="0" flipV="0">
            <a:off x="571500" y="1752600"/>
            <a:ext cx="11049000" cy="2714625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E2DED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44" name=""/>
          <p:cNvSpPr/>
          <p:nvPr/>
        </p:nvSpPr>
        <p:spPr>
          <a:xfrm rot="0" flipH="0" flipV="0">
            <a:off x="762000" y="1943100"/>
            <a:ext cx="10668000" cy="390525"/>
          </a:xfrm>
          <a:prstGeom prst="roundRect">
            <a:avLst>
              <a:gd name="adj" fmla="val 19512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845" name="" descr="{&quot;isTemplate&quot;:true,&quot;type&quot;:&quot;text&quot;}"/>
          <p:cNvSpPr txBox="1"/>
          <p:nvPr/>
        </p:nvSpPr>
        <p:spPr>
          <a:xfrm rot="0" flipH="0" flipV="0">
            <a:off x="857250" y="2038350"/>
            <a:ext cx="1524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EFCF8"/>
                </a:solidFill>
                <a:latin typeface="思源黑体"/>
                <a:ea typeface="思源黑体"/>
              </a:rPr>
              <a:t>维度</a:t>
            </a:r>
            <a:endParaRPr/>
          </a:p>
        </p:txBody>
      </p:sp>
      <p:sp>
        <p:nvSpPr>
          <p:cNvPr id="846" name="" descr="{&quot;isTemplate&quot;:true,&quot;type&quot;:&quot;text&quot;}"/>
          <p:cNvSpPr txBox="1"/>
          <p:nvPr/>
        </p:nvSpPr>
        <p:spPr>
          <a:xfrm rot="0" flipH="0" flipV="0">
            <a:off x="2571750" y="2038350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EFCF8"/>
                </a:solidFill>
                <a:latin typeface="思源黑体"/>
                <a:ea typeface="思源黑体"/>
              </a:rPr>
              <a:t>功利主义：边沁、密尔</a:t>
            </a:r>
            <a:endParaRPr/>
          </a:p>
        </p:txBody>
      </p:sp>
      <p:sp>
        <p:nvSpPr>
          <p:cNvPr id="847" name="" descr="{&quot;isTemplate&quot;:true,&quot;type&quot;:&quot;text&quot;}"/>
          <p:cNvSpPr txBox="1"/>
          <p:nvPr/>
        </p:nvSpPr>
        <p:spPr>
          <a:xfrm rot="0" flipH="0" flipV="0">
            <a:off x="7143750" y="2038350"/>
            <a:ext cx="4191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EFCF8"/>
                </a:solidFill>
                <a:latin typeface="思源黑体"/>
                <a:ea typeface="思源黑体"/>
              </a:rPr>
              <a:t>马克思</a:t>
            </a:r>
            <a:endParaRPr/>
          </a:p>
        </p:txBody>
      </p:sp>
      <p:sp>
        <p:nvSpPr>
          <p:cNvPr id="848" name=""/>
          <p:cNvSpPr/>
          <p:nvPr/>
        </p:nvSpPr>
        <p:spPr>
          <a:xfrm rot="0" flipH="0" flipV="0">
            <a:off x="762000" y="2343150"/>
            <a:ext cx="10668000" cy="4857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849" name=""/>
          <p:cNvSpPr/>
          <p:nvPr/>
        </p:nvSpPr>
        <p:spPr>
          <a:xfrm rot="0" flipH="0" flipV="0">
            <a:off x="762000" y="2333625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850" name="" descr="{&quot;isTemplate&quot;:true,&quot;type&quot;:&quot;text&quot;}"/>
          <p:cNvSpPr txBox="1"/>
          <p:nvPr/>
        </p:nvSpPr>
        <p:spPr>
          <a:xfrm rot="0" flipH="0" flipV="0">
            <a:off x="857250" y="2438400"/>
            <a:ext cx="1524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诊断</a:t>
            </a:r>
            <a:endParaRPr/>
          </a:p>
        </p:txBody>
      </p:sp>
      <p:sp>
        <p:nvSpPr>
          <p:cNvPr id="851" name="" descr="{&quot;isTemplate&quot;:true,&quot;type&quot;:&quot;text&quot;}"/>
          <p:cNvSpPr txBox="1"/>
          <p:nvPr/>
        </p:nvSpPr>
        <p:spPr>
          <a:xfrm rot="0" flipH="0" flipV="0">
            <a:off x="2571750" y="2438400"/>
            <a:ext cx="4381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痛苦多于快乐</a:t>
            </a:r>
            <a:endParaRPr/>
          </a:p>
        </p:txBody>
      </p:sp>
      <p:sp>
        <p:nvSpPr>
          <p:cNvPr id="852" name="" descr="{&quot;isTemplate&quot;:true,&quot;type&quot;:&quot;text&quot;}"/>
          <p:cNvSpPr txBox="1"/>
          <p:nvPr/>
        </p:nvSpPr>
        <p:spPr>
          <a:xfrm rot="0" flipH="0" flipV="0">
            <a:off x="7143750" y="2438400"/>
            <a:ext cx="4191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生产关系造成剥削与异化</a:t>
            </a:r>
            <a:endParaRPr/>
          </a:p>
        </p:txBody>
      </p:sp>
      <p:sp>
        <p:nvSpPr>
          <p:cNvPr id="853" name=""/>
          <p:cNvSpPr/>
          <p:nvPr/>
        </p:nvSpPr>
        <p:spPr>
          <a:xfrm rot="0" flipH="0" flipV="0">
            <a:off x="762000" y="2828925"/>
            <a:ext cx="10668000" cy="485775"/>
          </a:xfrm>
          <a:prstGeom prst="rect">
            <a:avLst/>
          </a:prstGeom>
          <a:solidFill>
            <a:srgbClr val="F5F1EC"/>
          </a:solidFill>
          <a:ln/>
        </p:spPr>
        <p:txBody>
          <a:bodyPr/>
          <a:p>
            <a:pPr/>
            <a:endParaRPr/>
          </a:p>
        </p:txBody>
      </p:sp>
      <p:sp>
        <p:nvSpPr>
          <p:cNvPr id="854" name=""/>
          <p:cNvSpPr/>
          <p:nvPr/>
        </p:nvSpPr>
        <p:spPr>
          <a:xfrm rot="0" flipH="0" flipV="0">
            <a:off x="762000" y="2819400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855" name="" descr="{&quot;isTemplate&quot;:true,&quot;type&quot;:&quot;text&quot;}"/>
          <p:cNvSpPr txBox="1"/>
          <p:nvPr/>
        </p:nvSpPr>
        <p:spPr>
          <a:xfrm rot="0" flipH="0" flipV="0">
            <a:off x="857250" y="2924175"/>
            <a:ext cx="1524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目标</a:t>
            </a:r>
            <a:endParaRPr/>
          </a:p>
        </p:txBody>
      </p:sp>
      <p:sp>
        <p:nvSpPr>
          <p:cNvPr id="856" name="" descr="{&quot;isTemplate&quot;:true,&quot;type&quot;:&quot;text&quot;}"/>
          <p:cNvSpPr txBox="1"/>
          <p:nvPr/>
        </p:nvSpPr>
        <p:spPr>
          <a:xfrm rot="0" flipH="0" flipV="0">
            <a:off x="2571750" y="2924175"/>
            <a:ext cx="4381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最大多数人的最大幸福</a:t>
            </a:r>
            <a:endParaRPr/>
          </a:p>
        </p:txBody>
      </p:sp>
      <p:sp>
        <p:nvSpPr>
          <p:cNvPr id="857" name="" descr="{&quot;isTemplate&quot;:true,&quot;type&quot;:&quot;text&quot;}"/>
          <p:cNvSpPr txBox="1"/>
          <p:nvPr/>
        </p:nvSpPr>
        <p:spPr>
          <a:xfrm rot="0" flipH="0" flipV="0">
            <a:off x="7143750" y="2924175"/>
            <a:ext cx="4191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消灭剥削，实现人的解放</a:t>
            </a:r>
            <a:endParaRPr/>
          </a:p>
        </p:txBody>
      </p:sp>
      <p:sp>
        <p:nvSpPr>
          <p:cNvPr id="858" name=""/>
          <p:cNvSpPr/>
          <p:nvPr/>
        </p:nvSpPr>
        <p:spPr>
          <a:xfrm rot="0" flipH="0" flipV="0">
            <a:off x="762000" y="3314700"/>
            <a:ext cx="10668000" cy="4857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859" name=""/>
          <p:cNvSpPr/>
          <p:nvPr/>
        </p:nvSpPr>
        <p:spPr>
          <a:xfrm rot="0" flipH="0" flipV="0">
            <a:off x="762000" y="3305175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860" name="" descr="{&quot;isTemplate&quot;:true,&quot;type&quot;:&quot;text&quot;}"/>
          <p:cNvSpPr txBox="1"/>
          <p:nvPr/>
        </p:nvSpPr>
        <p:spPr>
          <a:xfrm rot="0" flipH="0" flipV="0">
            <a:off x="857250" y="3409950"/>
            <a:ext cx="1524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路径</a:t>
            </a:r>
            <a:endParaRPr/>
          </a:p>
        </p:txBody>
      </p:sp>
      <p:sp>
        <p:nvSpPr>
          <p:cNvPr id="861" name="" descr="{&quot;isTemplate&quot;:true,&quot;type&quot;:&quot;text&quot;}"/>
          <p:cNvSpPr txBox="1"/>
          <p:nvPr/>
        </p:nvSpPr>
        <p:spPr>
          <a:xfrm rot="0" flipH="0" flipV="0">
            <a:off x="2571750" y="3409950"/>
            <a:ext cx="4381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立法与制度改革</a:t>
            </a:r>
            <a:endParaRPr/>
          </a:p>
        </p:txBody>
      </p:sp>
      <p:sp>
        <p:nvSpPr>
          <p:cNvPr id="862" name="" descr="{&quot;isTemplate&quot;:true,&quot;type&quot;:&quot;text&quot;}"/>
          <p:cNvSpPr txBox="1"/>
          <p:nvPr/>
        </p:nvSpPr>
        <p:spPr>
          <a:xfrm rot="0" flipH="0" flipV="0">
            <a:off x="7143750" y="3409950"/>
            <a:ext cx="4191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改变生产关系，诉诸实践</a:t>
            </a:r>
            <a:endParaRPr/>
          </a:p>
        </p:txBody>
      </p:sp>
      <p:sp>
        <p:nvSpPr>
          <p:cNvPr id="863" name=""/>
          <p:cNvSpPr/>
          <p:nvPr/>
        </p:nvSpPr>
        <p:spPr>
          <a:xfrm rot="0" flipH="0" flipV="0">
            <a:off x="762000" y="3800475"/>
            <a:ext cx="10668000" cy="485775"/>
          </a:xfrm>
          <a:prstGeom prst="rect">
            <a:avLst/>
          </a:prstGeom>
          <a:solidFill>
            <a:srgbClr val="F5F1EC"/>
          </a:solidFill>
          <a:ln/>
        </p:spPr>
        <p:txBody>
          <a:bodyPr/>
          <a:p>
            <a:pPr/>
            <a:endParaRPr/>
          </a:p>
        </p:txBody>
      </p:sp>
      <p:sp>
        <p:nvSpPr>
          <p:cNvPr id="864" name=""/>
          <p:cNvSpPr/>
          <p:nvPr/>
        </p:nvSpPr>
        <p:spPr>
          <a:xfrm rot="0" flipH="0" flipV="0">
            <a:off x="762000" y="3790950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865" name="" descr="{&quot;isTemplate&quot;:true,&quot;type&quot;:&quot;text&quot;}"/>
          <p:cNvSpPr txBox="1"/>
          <p:nvPr/>
        </p:nvSpPr>
        <p:spPr>
          <a:xfrm rot="0" flipH="0" flipV="0">
            <a:off x="857250" y="3895725"/>
            <a:ext cx="1524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争议</a:t>
            </a:r>
            <a:endParaRPr/>
          </a:p>
        </p:txBody>
      </p:sp>
      <p:sp>
        <p:nvSpPr>
          <p:cNvPr id="866" name="" descr="{&quot;isTemplate&quot;:true,&quot;type&quot;:&quot;text&quot;}"/>
          <p:cNvSpPr txBox="1"/>
          <p:nvPr/>
        </p:nvSpPr>
        <p:spPr>
          <a:xfrm rot="0" flipH="0" flipV="0">
            <a:off x="2571750" y="3895725"/>
            <a:ext cx="4381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幸福可以计量吗？少数人权利呢？</a:t>
            </a:r>
            <a:endParaRPr/>
          </a:p>
        </p:txBody>
      </p:sp>
      <p:sp>
        <p:nvSpPr>
          <p:cNvPr id="867" name="" descr="{&quot;isTemplate&quot;:true,&quot;type&quot;:&quot;text&quot;}"/>
          <p:cNvSpPr txBox="1"/>
          <p:nvPr/>
        </p:nvSpPr>
        <p:spPr>
          <a:xfrm rot="0" flipH="0" flipV="0">
            <a:off x="7143750" y="3895725"/>
            <a:ext cx="4191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历史决定论与手段的代价</a:t>
            </a:r>
            <a:endParaRPr/>
          </a:p>
        </p:txBody>
      </p:sp>
      <p:sp>
        <p:nvSpPr>
          <p:cNvPr id="868" name=""/>
          <p:cNvSpPr/>
          <p:nvPr/>
        </p:nvSpPr>
        <p:spPr>
          <a:xfrm rot="0" flipH="0" flipV="0">
            <a:off x="571500" y="4619625"/>
            <a:ext cx="11049000" cy="619125"/>
          </a:xfrm>
          <a:prstGeom prst="roundRect">
            <a:avLst>
              <a:gd name="adj" fmla="val 24615"/>
            </a:avLst>
          </a:prstGeom>
          <a:solidFill>
            <a:srgbClr val="E3EEF1"/>
          </a:solidFill>
          <a:ln/>
        </p:spPr>
        <p:txBody>
          <a:bodyPr/>
          <a:p>
            <a:pPr/>
            <a:endParaRPr/>
          </a:p>
        </p:txBody>
      </p:sp>
      <p:sp>
        <p:nvSpPr>
          <p:cNvPr id="869" name="" descr="{&quot;isTemplate&quot;:true,&quot;type&quot;:&quot;text&quot;}"/>
          <p:cNvSpPr txBox="1"/>
          <p:nvPr/>
        </p:nvSpPr>
        <p:spPr>
          <a:xfrm rot="0" flipH="0" flipV="0">
            <a:off x="723900" y="4772025"/>
            <a:ext cx="10744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503C36"/>
                </a:solidFill>
                <a:latin typeface="思源黑体"/>
                <a:ea typeface="思源黑体"/>
              </a:rPr>
              <a:t>一个要在现有制度内做算术，一个要改写制度本身——现代政治争论大多在两者之间。</a:t>
            </a:r>
            <a:endParaRPr/>
          </a:p>
        </p:txBody>
      </p:sp>
      <p:sp>
        <p:nvSpPr>
          <p:cNvPr id="870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在星空与道德律之间</a:t>
            </a: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教学课件</a:t>
            </a:r>
            <a:endParaRPr/>
          </a:p>
        </p:txBody>
      </p:sp>
      <p:sp>
        <p:nvSpPr>
          <p:cNvPr id="871" name="" descr="{&quot;isTemplate&quot;:true,&quot;type&quot;:&quot;text&quot;}"/>
          <p:cNvSpPr txBox="1"/>
          <p:nvPr/>
        </p:nvSpPr>
        <p:spPr>
          <a:xfrm rot="0" flipH="0" flipV="0">
            <a:off x="10553700" y="6505575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11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现代性的裂缝</a:t>
            </a:r>
            <a:endParaRPr/>
          </a:p>
        </p:txBody>
      </p:sp>
    </p:spTree>
  </p:cSld>
</p:sld>
</file>

<file path=ppt/slides/slide50.xml><?xml version="1.0" encoding="utf-8"?>
<p:sld xmlns:a="http://schemas.openxmlformats.org/drawingml/2006/main" xmlns:p="http://schemas.openxmlformats.org/presentationml/2006/main">
  <p:cSld>
    <p:spTree>
      <p:nvGrpSpPr>
        <p:cNvPr id="8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C1411"/>
          </a:solidFill>
          <a:ln/>
        </p:spPr>
        <p:txBody>
          <a:bodyPr/>
          <a:p>
            <a:pPr/>
            <a:endParaRPr/>
          </a:p>
        </p:txBody>
      </p:sp>
      <p:sp>
        <p:nvSpPr>
          <p:cNvPr id="881" name="" descr="{&quot;isTemplate&quot;:true,&quot;type&quot;:&quot;text&quot;}"/>
          <p:cNvSpPr txBox="1"/>
          <p:nvPr/>
        </p:nvSpPr>
        <p:spPr>
          <a:xfrm rot="0" flipH="0" flipV="0">
            <a:off x="571500" y="2571750"/>
            <a:ext cx="160020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BBB0AD"/>
                </a:solidFill>
                <a:latin typeface="霞鹜文楷"/>
                <a:ea typeface="霞鹜文楷"/>
              </a:rPr>
              <a:t>12</a:t>
            </a:r>
            <a:endParaRPr/>
          </a:p>
        </p:txBody>
      </p:sp>
      <p:sp>
        <p:nvSpPr>
          <p:cNvPr id="882" name="" descr="{&quot;isTemplate&quot;:true,&quot;type&quot;:&quot;text&quot;}"/>
          <p:cNvSpPr txBox="1"/>
          <p:nvPr/>
        </p:nvSpPr>
        <p:spPr>
          <a:xfrm rot="0" flipH="0" flipV="0">
            <a:off x="2552700" y="2781300"/>
            <a:ext cx="9067800" cy="571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000" b="1">
                <a:solidFill>
                  <a:srgbClr val="FEFCF8"/>
                </a:solidFill>
                <a:latin typeface="霞鹜文楷"/>
                <a:ea typeface="霞鹜文楷"/>
              </a:rPr>
              <a:t>二十世纪</a:t>
            </a:r>
            <a:r>
              <a:rPr lang="en-US" sz="3000" b="1">
                <a:solidFill>
                  <a:srgbClr val="FEFCF8"/>
                </a:solidFill>
                <a:latin typeface="霞鹜文楷"/>
                <a:ea typeface="霞鹜文楷"/>
              </a:rPr>
              <a:t> </a:t>
            </a:r>
            <a:r>
              <a:rPr lang="zh-CN" sz="3000" b="1">
                <a:solidFill>
                  <a:srgbClr val="FEFCF8"/>
                </a:solidFill>
                <a:latin typeface="霞鹜文楷"/>
                <a:ea typeface="霞鹜文楷"/>
              </a:rPr>
              <a:t>当哲学钻进语言、权力与荒谬</a:t>
            </a:r>
            <a:endParaRPr/>
          </a:p>
        </p:txBody>
      </p:sp>
      <p:sp>
        <p:nvSpPr>
          <p:cNvPr id="883" name=""/>
          <p:cNvSpPr/>
          <p:nvPr/>
        </p:nvSpPr>
        <p:spPr>
          <a:xfrm rot="0" flipH="0" flipV="0">
            <a:off x="2552700" y="3524250"/>
            <a:ext cx="838200" cy="19050"/>
          </a:xfrm>
          <a:prstGeom prst="rect">
            <a:avLst/>
          </a:prstGeom>
          <a:solidFill>
            <a:srgbClr val="8FA8A5"/>
          </a:solidFill>
          <a:ln/>
        </p:spPr>
        <p:txBody>
          <a:bodyPr/>
          <a:p>
            <a:pPr/>
            <a:endParaRPr/>
          </a:p>
        </p:txBody>
      </p:sp>
      <p:sp>
        <p:nvSpPr>
          <p:cNvPr id="884" name="" descr="{&quot;isTemplate&quot;:true,&quot;type&quot;:&quot;text&quot;}"/>
          <p:cNvSpPr txBox="1"/>
          <p:nvPr/>
        </p:nvSpPr>
        <p:spPr>
          <a:xfrm rot="0" flipH="0" flipV="0">
            <a:off x="2552700" y="3714750"/>
            <a:ext cx="90678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BBB0AD"/>
                </a:solidFill>
                <a:latin typeface="思源黑体"/>
                <a:ea typeface="思源黑体"/>
              </a:rPr>
              <a:t>一边拆语言，一边拆主体，最后拆宏大叙事</a:t>
            </a:r>
            <a:endParaRPr/>
          </a:p>
        </p:txBody>
      </p:sp>
    </p:spTree>
  </p:cSld>
</p:sld>
</file>

<file path=ppt/slides/slide51.xml><?xml version="1.0" encoding="utf-8"?>
<p:sld xmlns:a="http://schemas.openxmlformats.org/drawingml/2006/main" xmlns:p="http://schemas.openxmlformats.org/presentationml/2006/main">
  <p:cSld>
    <p:spTree>
      <p:nvGrpSpPr>
        <p:cNvPr id="8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887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12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二十世纪</a:t>
            </a: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 ·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语言转向</a:t>
            </a:r>
            <a:endParaRPr/>
          </a:p>
        </p:txBody>
      </p:sp>
      <p:sp>
        <p:nvSpPr>
          <p:cNvPr id="888" name="" descr="{&quot;isTemplate&quot;:true,&quot;type&quot;:&quot;text&quot;}"/>
          <p:cNvSpPr txBox="1"/>
          <p:nvPr/>
        </p:nvSpPr>
        <p:spPr>
          <a:xfrm rot="0" flipH="0" flipV="0">
            <a:off x="571500" y="89535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33241F"/>
                </a:solidFill>
                <a:latin typeface="霞鹜文楷"/>
                <a:ea typeface="霞鹜文楷"/>
              </a:rPr>
              <a:t>语言转向：哲学的病，多半是语法造的</a:t>
            </a:r>
            <a:endParaRPr/>
          </a:p>
        </p:txBody>
      </p:sp>
      <p:sp>
        <p:nvSpPr>
          <p:cNvPr id="889" name=""/>
          <p:cNvSpPr/>
          <p:nvPr/>
        </p:nvSpPr>
        <p:spPr>
          <a:xfrm rot="0" flipH="0" flipV="0">
            <a:off x="571500" y="1495425"/>
            <a:ext cx="11049000" cy="9525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890" name=""/>
          <p:cNvSpPr/>
          <p:nvPr/>
        </p:nvSpPr>
        <p:spPr>
          <a:xfrm rot="0" flipH="0" flipV="0">
            <a:off x="571500" y="1752600"/>
            <a:ext cx="4000500" cy="2428875"/>
          </a:xfrm>
          <a:prstGeom prst="roundRect">
            <a:avLst>
              <a:gd name="adj" fmla="val 6275"/>
            </a:avLst>
          </a:prstGeom>
          <a:solidFill>
            <a:srgbClr val="1C1411"/>
          </a:solidFill>
          <a:ln/>
        </p:spPr>
        <p:txBody>
          <a:bodyPr/>
          <a:p>
            <a:pPr/>
            <a:endParaRPr/>
          </a:p>
        </p:txBody>
      </p:sp>
      <p:sp>
        <p:nvSpPr>
          <p:cNvPr id="891" name="" descr="{&quot;isTemplate&quot;:true,&quot;type&quot;:&quot;text&quot;}"/>
          <p:cNvSpPr txBox="1"/>
          <p:nvPr/>
        </p:nvSpPr>
        <p:spPr>
          <a:xfrm rot="0" flipH="0" flipV="0">
            <a:off x="876300" y="2057400"/>
            <a:ext cx="3390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BB0AD"/>
                </a:solidFill>
                <a:latin typeface="思源黑体"/>
                <a:ea typeface="思源黑体"/>
              </a:rPr>
              <a:t>维特根斯坦前后期</a:t>
            </a:r>
            <a:endParaRPr/>
          </a:p>
        </p:txBody>
      </p:sp>
      <p:sp>
        <p:nvSpPr>
          <p:cNvPr id="892" name="" descr="{&quot;isTemplate&quot;:true,&quot;type&quot;:&quot;text&quot;}"/>
          <p:cNvSpPr txBox="1"/>
          <p:nvPr/>
        </p:nvSpPr>
        <p:spPr>
          <a:xfrm rot="0" flipH="0" flipV="0">
            <a:off x="876300" y="2381250"/>
            <a:ext cx="3390900" cy="4286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EFCF8"/>
                </a:solidFill>
                <a:latin typeface="霞鹜文楷"/>
                <a:ea typeface="霞鹜文楷"/>
              </a:rPr>
              <a:t>意义的边界</a:t>
            </a:r>
            <a:endParaRPr/>
          </a:p>
        </p:txBody>
      </p:sp>
      <p:sp>
        <p:nvSpPr>
          <p:cNvPr id="893" name="" descr="{&quot;isTemplate&quot;:true,&quot;type&quot;:&quot;text&quot;}"/>
          <p:cNvSpPr txBox="1"/>
          <p:nvPr/>
        </p:nvSpPr>
        <p:spPr>
          <a:xfrm rot="0" flipH="0" flipV="0">
            <a:off x="876300" y="2943225"/>
            <a:ext cx="33909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BBB0AD"/>
                </a:solidFill>
                <a:latin typeface="思源黑体"/>
                <a:ea typeface="思源黑体"/>
              </a:rPr>
              <a:t>前期：能说清楚的就说清楚，说不清的应当沉默。后期：一个词的意义，就是它在语言游戏中的使用。</a:t>
            </a:r>
            <a:endParaRPr/>
          </a:p>
        </p:txBody>
      </p:sp>
      <p:sp>
        <p:nvSpPr>
          <p:cNvPr id="894" name="" descr="{&quot;isTemplate&quot;:true,&quot;type&quot;:&quot;text&quot;}"/>
          <p:cNvSpPr txBox="1"/>
          <p:nvPr/>
        </p:nvSpPr>
        <p:spPr>
          <a:xfrm rot="0" flipH="0" flipV="0">
            <a:off x="4953000" y="1781175"/>
            <a:ext cx="666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逻辑分析</a:t>
            </a:r>
            <a:endParaRPr/>
          </a:p>
        </p:txBody>
      </p:sp>
      <p:sp>
        <p:nvSpPr>
          <p:cNvPr id="895" name="" descr="{&quot;isTemplate&quot;:true,&quot;type&quot;:&quot;text&quot;}"/>
          <p:cNvSpPr txBox="1"/>
          <p:nvPr/>
        </p:nvSpPr>
        <p:spPr>
          <a:xfrm rot="0" flipH="0" flipV="0">
            <a:off x="4953000" y="2095500"/>
            <a:ext cx="6667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弗雷格、罗素区分指称与摹状词，许多形而上学难题就此消散。</a:t>
            </a:r>
            <a:endParaRPr/>
          </a:p>
        </p:txBody>
      </p:sp>
      <p:sp>
        <p:nvSpPr>
          <p:cNvPr id="896" name="" descr="{&quot;isTemplate&quot;:true,&quot;type&quot;:&quot;text&quot;}"/>
          <p:cNvSpPr txBox="1"/>
          <p:nvPr/>
        </p:nvSpPr>
        <p:spPr>
          <a:xfrm rot="0" flipH="0" flipV="0">
            <a:off x="4953000" y="2657475"/>
            <a:ext cx="666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语言游戏</a:t>
            </a:r>
            <a:endParaRPr/>
          </a:p>
        </p:txBody>
      </p:sp>
      <p:sp>
        <p:nvSpPr>
          <p:cNvPr id="897" name="" descr="{&quot;isTemplate&quot;:true,&quot;type&quot;:&quot;text&quot;}"/>
          <p:cNvSpPr txBox="1"/>
          <p:nvPr/>
        </p:nvSpPr>
        <p:spPr>
          <a:xfrm rot="0" flipH="0" flipV="0">
            <a:off x="4953000" y="2971800"/>
            <a:ext cx="6667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意义取决于生活形式中的用法，而不是它指向了什么对象。</a:t>
            </a:r>
            <a:endParaRPr/>
          </a:p>
        </p:txBody>
      </p:sp>
      <p:sp>
        <p:nvSpPr>
          <p:cNvPr id="898" name="" descr="{&quot;isTemplate&quot;:true,&quot;type&quot;:&quot;text&quot;}"/>
          <p:cNvSpPr txBox="1"/>
          <p:nvPr/>
        </p:nvSpPr>
        <p:spPr>
          <a:xfrm rot="0" flipH="0" flipV="0">
            <a:off x="4953000" y="3533775"/>
            <a:ext cx="666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私人语言论证</a:t>
            </a:r>
            <a:endParaRPr/>
          </a:p>
        </p:txBody>
      </p:sp>
      <p:sp>
        <p:nvSpPr>
          <p:cNvPr id="899" name="" descr="{&quot;isTemplate&quot;:true,&quot;type&quot;:&quot;text&quot;}"/>
          <p:cNvSpPr txBox="1"/>
          <p:nvPr/>
        </p:nvSpPr>
        <p:spPr>
          <a:xfrm rot="0" flipH="0" flipV="0">
            <a:off x="4953000" y="3848100"/>
            <a:ext cx="6667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一套只有自己懂的语言不可能成立——打掉了彻底私有的内心世界。</a:t>
            </a:r>
            <a:endParaRPr/>
          </a:p>
        </p:txBody>
      </p:sp>
      <p:sp>
        <p:nvSpPr>
          <p:cNvPr id="900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在星空与道德律之间</a:t>
            </a: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教学课件</a:t>
            </a:r>
            <a:endParaRPr/>
          </a:p>
        </p:txBody>
      </p:sp>
      <p:sp>
        <p:nvSpPr>
          <p:cNvPr id="901" name="" descr="{&quot;isTemplate&quot;:true,&quot;type&quot;:&quot;text&quot;}"/>
          <p:cNvSpPr txBox="1"/>
          <p:nvPr/>
        </p:nvSpPr>
        <p:spPr>
          <a:xfrm rot="0" flipH="0" flipV="0">
            <a:off x="10820400" y="650557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12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二十世纪</a:t>
            </a:r>
            <a:endParaRPr/>
          </a:p>
        </p:txBody>
      </p:sp>
    </p:spTree>
  </p:cSld>
</p:sld>
</file>

<file path=ppt/slides/slide52.xml><?xml version="1.0" encoding="utf-8"?>
<p:sld xmlns:a="http://schemas.openxmlformats.org/drawingml/2006/main" xmlns:p="http://schemas.openxmlformats.org/presentationml/2006/main">
  <p:cSld>
    <p:spTree>
      <p:nvGrpSpPr>
        <p:cNvPr id="9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04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12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二十世纪</a:t>
            </a: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 ·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存在</a:t>
            </a:r>
            <a:endParaRPr/>
          </a:p>
        </p:txBody>
      </p:sp>
      <p:sp>
        <p:nvSpPr>
          <p:cNvPr id="905" name="" descr="{&quot;isTemplate&quot;:true,&quot;type&quot;:&quot;text&quot;}"/>
          <p:cNvSpPr txBox="1"/>
          <p:nvPr/>
        </p:nvSpPr>
        <p:spPr>
          <a:xfrm rot="0" flipH="0" flipV="0">
            <a:off x="571500" y="89535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33241F"/>
                </a:solidFill>
                <a:latin typeface="霞鹜文楷"/>
                <a:ea typeface="霞鹜文楷"/>
              </a:rPr>
              <a:t>存在先于本质：从现象学到存在主义</a:t>
            </a:r>
            <a:endParaRPr/>
          </a:p>
        </p:txBody>
      </p:sp>
      <p:sp>
        <p:nvSpPr>
          <p:cNvPr id="906" name=""/>
          <p:cNvSpPr/>
          <p:nvPr/>
        </p:nvSpPr>
        <p:spPr>
          <a:xfrm rot="0" flipH="0" flipV="0">
            <a:off x="571500" y="1495425"/>
            <a:ext cx="11049000" cy="9525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907" name=""/>
          <p:cNvSpPr/>
          <p:nvPr/>
        </p:nvSpPr>
        <p:spPr>
          <a:xfrm rot="0" flipH="0" flipV="0">
            <a:off x="571500" y="175260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908" name="" descr="{&quot;isTemplate&quot;:true,&quot;type&quot;:&quot;text&quot;}"/>
          <p:cNvSpPr txBox="1"/>
          <p:nvPr/>
        </p:nvSpPr>
        <p:spPr>
          <a:xfrm rot="0" flipH="0" flipV="0">
            <a:off x="704850" y="188595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01</a:t>
            </a:r>
            <a:endParaRPr/>
          </a:p>
        </p:txBody>
      </p:sp>
      <p:sp>
        <p:nvSpPr>
          <p:cNvPr id="909" name="" descr="{&quot;isTemplate&quot;:true,&quot;type&quot;:&quot;text&quot;}"/>
          <p:cNvSpPr txBox="1"/>
          <p:nvPr/>
        </p:nvSpPr>
        <p:spPr>
          <a:xfrm rot="0" flipH="0" flipV="0">
            <a:off x="1295400" y="175260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胡塞尔：回到事物本身</a:t>
            </a:r>
            <a:endParaRPr/>
          </a:p>
        </p:txBody>
      </p:sp>
      <p:sp>
        <p:nvSpPr>
          <p:cNvPr id="910" name="" descr="{&quot;isTemplate&quot;:true,&quot;type&quot;:&quot;text&quot;}"/>
          <p:cNvSpPr txBox="1"/>
          <p:nvPr/>
        </p:nvSpPr>
        <p:spPr>
          <a:xfrm rot="0" flipH="0" flipV="0">
            <a:off x="1295400" y="206692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悬搁自然态度，描述意识如何朝向对象，即意向性。</a:t>
            </a:r>
            <a:endParaRPr/>
          </a:p>
        </p:txBody>
      </p:sp>
      <p:sp>
        <p:nvSpPr>
          <p:cNvPr id="911" name=""/>
          <p:cNvSpPr/>
          <p:nvPr/>
        </p:nvSpPr>
        <p:spPr>
          <a:xfrm rot="0" flipH="0" flipV="0">
            <a:off x="571500" y="257175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912" name="" descr="{&quot;isTemplate&quot;:true,&quot;type&quot;:&quot;text&quot;}"/>
          <p:cNvSpPr txBox="1"/>
          <p:nvPr/>
        </p:nvSpPr>
        <p:spPr>
          <a:xfrm rot="0" flipH="0" flipV="0">
            <a:off x="704850" y="270510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02</a:t>
            </a:r>
            <a:endParaRPr/>
          </a:p>
        </p:txBody>
      </p:sp>
      <p:sp>
        <p:nvSpPr>
          <p:cNvPr id="913" name="" descr="{&quot;isTemplate&quot;:true,&quot;type&quot;:&quot;text&quot;}"/>
          <p:cNvSpPr txBox="1"/>
          <p:nvPr/>
        </p:nvSpPr>
        <p:spPr>
          <a:xfrm rot="0" flipH="0" flipV="0">
            <a:off x="1295400" y="257175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海德格尔：此在</a:t>
            </a:r>
            <a:endParaRPr/>
          </a:p>
        </p:txBody>
      </p:sp>
      <p:sp>
        <p:nvSpPr>
          <p:cNvPr id="914" name="" descr="{&quot;isTemplate&quot;:true,&quot;type&quot;:&quot;text&quot;}"/>
          <p:cNvSpPr txBox="1"/>
          <p:nvPr/>
        </p:nvSpPr>
        <p:spPr>
          <a:xfrm rot="0" flipH="0" flipV="0">
            <a:off x="1295400" y="288607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人不是旁观者，是被抛入世界、面向死亡的存在；技术会遮蔽存在。</a:t>
            </a:r>
            <a:endParaRPr/>
          </a:p>
        </p:txBody>
      </p:sp>
      <p:sp>
        <p:nvSpPr>
          <p:cNvPr id="915" name=""/>
          <p:cNvSpPr/>
          <p:nvPr/>
        </p:nvSpPr>
        <p:spPr>
          <a:xfrm rot="0" flipH="0" flipV="0">
            <a:off x="571500" y="339090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916" name="" descr="{&quot;isTemplate&quot;:true,&quot;type&quot;:&quot;text&quot;}"/>
          <p:cNvSpPr txBox="1"/>
          <p:nvPr/>
        </p:nvSpPr>
        <p:spPr>
          <a:xfrm rot="0" flipH="0" flipV="0">
            <a:off x="704850" y="352425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03</a:t>
            </a:r>
            <a:endParaRPr/>
          </a:p>
        </p:txBody>
      </p:sp>
      <p:sp>
        <p:nvSpPr>
          <p:cNvPr id="917" name="" descr="{&quot;isTemplate&quot;:true,&quot;type&quot;:&quot;text&quot;}"/>
          <p:cNvSpPr txBox="1"/>
          <p:nvPr/>
        </p:nvSpPr>
        <p:spPr>
          <a:xfrm rot="0" flipH="0" flipV="0">
            <a:off x="1295400" y="339090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萨特：存在先于本质</a:t>
            </a:r>
            <a:endParaRPr/>
          </a:p>
        </p:txBody>
      </p:sp>
      <p:sp>
        <p:nvSpPr>
          <p:cNvPr id="918" name="" descr="{&quot;isTemplate&quot;:true,&quot;type&quot;:&quot;text&quot;}"/>
          <p:cNvSpPr txBox="1"/>
          <p:nvPr/>
        </p:nvSpPr>
        <p:spPr>
          <a:xfrm rot="0" flipH="0" flipV="0">
            <a:off x="1295400" y="370522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人没有预定本性，被判定为自由，逃避自由就是「自欺」。</a:t>
            </a:r>
            <a:endParaRPr/>
          </a:p>
        </p:txBody>
      </p:sp>
      <p:sp>
        <p:nvSpPr>
          <p:cNvPr id="919" name=""/>
          <p:cNvSpPr/>
          <p:nvPr/>
        </p:nvSpPr>
        <p:spPr>
          <a:xfrm rot="0" flipH="0" flipV="0">
            <a:off x="571500" y="421005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920" name="" descr="{&quot;isTemplate&quot;:true,&quot;type&quot;:&quot;text&quot;}"/>
          <p:cNvSpPr txBox="1"/>
          <p:nvPr/>
        </p:nvSpPr>
        <p:spPr>
          <a:xfrm rot="0" flipH="0" flipV="0">
            <a:off x="704850" y="434340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04</a:t>
            </a:r>
            <a:endParaRPr/>
          </a:p>
        </p:txBody>
      </p:sp>
      <p:sp>
        <p:nvSpPr>
          <p:cNvPr id="921" name="" descr="{&quot;isTemplate&quot;:true,&quot;type&quot;:&quot;text&quot;}"/>
          <p:cNvSpPr txBox="1"/>
          <p:nvPr/>
        </p:nvSpPr>
        <p:spPr>
          <a:xfrm rot="0" flipH="0" flipV="0">
            <a:off x="1295400" y="421005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加缪：荒谬</a:t>
            </a:r>
            <a:endParaRPr/>
          </a:p>
        </p:txBody>
      </p:sp>
      <p:sp>
        <p:nvSpPr>
          <p:cNvPr id="922" name="" descr="{&quot;isTemplate&quot;:true,&quot;type&quot;:&quot;text&quot;}"/>
          <p:cNvSpPr txBox="1"/>
          <p:nvPr/>
        </p:nvSpPr>
        <p:spPr>
          <a:xfrm rot="0" flipH="0" flipV="0">
            <a:off x="1295400" y="452437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推石上山是徒劳的，但我们必须想象西西弗是幸福的。</a:t>
            </a:r>
            <a:endParaRPr/>
          </a:p>
        </p:txBody>
      </p:sp>
      <p:sp>
        <p:nvSpPr>
          <p:cNvPr id="923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在星空与道德律之间</a:t>
            </a: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教学课件</a:t>
            </a:r>
            <a:endParaRPr/>
          </a:p>
        </p:txBody>
      </p:sp>
      <p:sp>
        <p:nvSpPr>
          <p:cNvPr id="924" name="" descr="{&quot;isTemplate&quot;:true,&quot;type&quot;:&quot;text&quot;}"/>
          <p:cNvSpPr txBox="1"/>
          <p:nvPr/>
        </p:nvSpPr>
        <p:spPr>
          <a:xfrm rot="0" flipH="0" flipV="0">
            <a:off x="10820400" y="650557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12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二十世纪</a:t>
            </a:r>
            <a:endParaRPr/>
          </a:p>
        </p:txBody>
      </p:sp>
    </p:spTree>
  </p:cSld>
</p:sld>
</file>

<file path=ppt/slides/slide53.xml><?xml version="1.0" encoding="utf-8"?>
<p:sld xmlns:a="http://schemas.openxmlformats.org/drawingml/2006/main" xmlns:p="http://schemas.openxmlformats.org/presentationml/2006/main">
  <p:cSld>
    <p:spTree>
      <p:nvGrpSpPr>
        <p:cNvPr id="9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27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12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二十世纪</a:t>
            </a: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 ·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后半场</a:t>
            </a:r>
            <a:endParaRPr/>
          </a:p>
        </p:txBody>
      </p:sp>
      <p:sp>
        <p:nvSpPr>
          <p:cNvPr id="928" name="" descr="{&quot;isTemplate&quot;:true,&quot;type&quot;:&quot;text&quot;}"/>
          <p:cNvSpPr txBox="1"/>
          <p:nvPr/>
        </p:nvSpPr>
        <p:spPr>
          <a:xfrm rot="0" flipH="0" flipV="0">
            <a:off x="571500" y="89535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33241F"/>
                </a:solidFill>
                <a:latin typeface="霞鹜文楷"/>
                <a:ea typeface="霞鹜文楷"/>
              </a:rPr>
              <a:t>权力、解构与正义：二十世纪后半场</a:t>
            </a:r>
            <a:endParaRPr/>
          </a:p>
        </p:txBody>
      </p:sp>
      <p:sp>
        <p:nvSpPr>
          <p:cNvPr id="929" name=""/>
          <p:cNvSpPr/>
          <p:nvPr/>
        </p:nvSpPr>
        <p:spPr>
          <a:xfrm rot="0" flipH="0" flipV="0">
            <a:off x="571500" y="1495425"/>
            <a:ext cx="11049000" cy="9525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930" name=""/>
          <p:cNvSpPr/>
          <p:nvPr/>
        </p:nvSpPr>
        <p:spPr>
          <a:xfrm rot="0" flipH="0" flipV="0">
            <a:off x="571500" y="1752600"/>
            <a:ext cx="11049000" cy="2714625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E2DED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31" name=""/>
          <p:cNvSpPr/>
          <p:nvPr/>
        </p:nvSpPr>
        <p:spPr>
          <a:xfrm rot="0" flipH="0" flipV="0">
            <a:off x="762000" y="1943100"/>
            <a:ext cx="10668000" cy="390525"/>
          </a:xfrm>
          <a:prstGeom prst="roundRect">
            <a:avLst>
              <a:gd name="adj" fmla="val 19512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932" name="" descr="{&quot;isTemplate&quot;:true,&quot;type&quot;:&quot;text&quot;}"/>
          <p:cNvSpPr txBox="1"/>
          <p:nvPr/>
        </p:nvSpPr>
        <p:spPr>
          <a:xfrm rot="0" flipH="0" flipV="0">
            <a:off x="857250" y="2038350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EFCF8"/>
                </a:solidFill>
                <a:latin typeface="思源黑体"/>
                <a:ea typeface="思源黑体"/>
              </a:rPr>
              <a:t>人物</a:t>
            </a:r>
            <a:endParaRPr/>
          </a:p>
        </p:txBody>
      </p:sp>
      <p:sp>
        <p:nvSpPr>
          <p:cNvPr id="933" name="" descr="{&quot;isTemplate&quot;:true,&quot;type&quot;:&quot;text&quot;}"/>
          <p:cNvSpPr txBox="1"/>
          <p:nvPr/>
        </p:nvSpPr>
        <p:spPr>
          <a:xfrm rot="0" flipH="0" flipV="0">
            <a:off x="2476500" y="2038350"/>
            <a:ext cx="247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EFCF8"/>
                </a:solidFill>
                <a:latin typeface="思源黑体"/>
                <a:ea typeface="思源黑体"/>
              </a:rPr>
              <a:t>关键概念</a:t>
            </a:r>
            <a:endParaRPr/>
          </a:p>
        </p:txBody>
      </p:sp>
      <p:sp>
        <p:nvSpPr>
          <p:cNvPr id="934" name="" descr="{&quot;isTemplate&quot;:true,&quot;type&quot;:&quot;text&quot;}"/>
          <p:cNvSpPr txBox="1"/>
          <p:nvPr/>
        </p:nvSpPr>
        <p:spPr>
          <a:xfrm rot="0" flipH="0" flipV="0">
            <a:off x="5143500" y="2038350"/>
            <a:ext cx="6000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EFCF8"/>
                </a:solidFill>
                <a:latin typeface="思源黑体"/>
                <a:ea typeface="思源黑体"/>
              </a:rPr>
              <a:t>一句话</a:t>
            </a:r>
            <a:endParaRPr/>
          </a:p>
        </p:txBody>
      </p:sp>
      <p:sp>
        <p:nvSpPr>
          <p:cNvPr id="935" name=""/>
          <p:cNvSpPr/>
          <p:nvPr/>
        </p:nvSpPr>
        <p:spPr>
          <a:xfrm rot="0" flipH="0" flipV="0">
            <a:off x="762000" y="2343150"/>
            <a:ext cx="10668000" cy="4857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936" name=""/>
          <p:cNvSpPr/>
          <p:nvPr/>
        </p:nvSpPr>
        <p:spPr>
          <a:xfrm rot="0" flipH="0" flipV="0">
            <a:off x="762000" y="2333625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937" name="" descr="{&quot;isTemplate&quot;:true,&quot;type&quot;:&quot;text&quot;}"/>
          <p:cNvSpPr txBox="1"/>
          <p:nvPr/>
        </p:nvSpPr>
        <p:spPr>
          <a:xfrm rot="0" flipH="0" flipV="0">
            <a:off x="857250" y="2438400"/>
            <a:ext cx="142875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福柯</a:t>
            </a:r>
            <a:endParaRPr/>
          </a:p>
        </p:txBody>
      </p:sp>
      <p:sp>
        <p:nvSpPr>
          <p:cNvPr id="938" name="" descr="{&quot;isTemplate&quot;:true,&quot;type&quot;:&quot;text&quot;}"/>
          <p:cNvSpPr txBox="1"/>
          <p:nvPr/>
        </p:nvSpPr>
        <p:spPr>
          <a:xfrm rot="0" flipH="0" flipV="0">
            <a:off x="2476500" y="2438400"/>
            <a:ext cx="2476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知识—权力</a:t>
            </a:r>
            <a:endParaRPr/>
          </a:p>
        </p:txBody>
      </p:sp>
      <p:sp>
        <p:nvSpPr>
          <p:cNvPr id="939" name="" descr="{&quot;isTemplate&quot;:true,&quot;type&quot;:&quot;text&quot;}"/>
          <p:cNvSpPr txBox="1"/>
          <p:nvPr/>
        </p:nvSpPr>
        <p:spPr>
          <a:xfrm rot="0" flipH="0" flipV="0">
            <a:off x="5143500" y="2438400"/>
            <a:ext cx="600075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疯癫、监狱、性，都伴随一套把人分类的知识装置</a:t>
            </a:r>
            <a:endParaRPr/>
          </a:p>
        </p:txBody>
      </p:sp>
      <p:sp>
        <p:nvSpPr>
          <p:cNvPr id="940" name=""/>
          <p:cNvSpPr/>
          <p:nvPr/>
        </p:nvSpPr>
        <p:spPr>
          <a:xfrm rot="0" flipH="0" flipV="0">
            <a:off x="762000" y="2828925"/>
            <a:ext cx="10668000" cy="485775"/>
          </a:xfrm>
          <a:prstGeom prst="rect">
            <a:avLst/>
          </a:prstGeom>
          <a:solidFill>
            <a:srgbClr val="F5F1EC"/>
          </a:solidFill>
          <a:ln/>
        </p:spPr>
        <p:txBody>
          <a:bodyPr/>
          <a:p>
            <a:pPr/>
            <a:endParaRPr/>
          </a:p>
        </p:txBody>
      </p:sp>
      <p:sp>
        <p:nvSpPr>
          <p:cNvPr id="941" name=""/>
          <p:cNvSpPr/>
          <p:nvPr/>
        </p:nvSpPr>
        <p:spPr>
          <a:xfrm rot="0" flipH="0" flipV="0">
            <a:off x="762000" y="2819400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942" name="" descr="{&quot;isTemplate&quot;:true,&quot;type&quot;:&quot;text&quot;}"/>
          <p:cNvSpPr txBox="1"/>
          <p:nvPr/>
        </p:nvSpPr>
        <p:spPr>
          <a:xfrm rot="0" flipH="0" flipV="0">
            <a:off x="857250" y="2924175"/>
            <a:ext cx="142875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德里达</a:t>
            </a:r>
            <a:endParaRPr/>
          </a:p>
        </p:txBody>
      </p:sp>
      <p:sp>
        <p:nvSpPr>
          <p:cNvPr id="943" name="" descr="{&quot;isTemplate&quot;:true,&quot;type&quot;:&quot;text&quot;}"/>
          <p:cNvSpPr txBox="1"/>
          <p:nvPr/>
        </p:nvSpPr>
        <p:spPr>
          <a:xfrm rot="0" flipH="0" flipV="0">
            <a:off x="2476500" y="2924175"/>
            <a:ext cx="2476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延异与解构</a:t>
            </a:r>
            <a:endParaRPr/>
          </a:p>
        </p:txBody>
      </p:sp>
      <p:sp>
        <p:nvSpPr>
          <p:cNvPr id="944" name="" descr="{&quot;isTemplate&quot;:true,&quot;type&quot;:&quot;text&quot;}"/>
          <p:cNvSpPr txBox="1"/>
          <p:nvPr/>
        </p:nvSpPr>
        <p:spPr>
          <a:xfrm rot="0" flipH="0" flipV="0">
            <a:off x="5143500" y="2924175"/>
            <a:ext cx="600075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意义永远被推迟，文本没有唯一的最终解释</a:t>
            </a:r>
            <a:endParaRPr/>
          </a:p>
        </p:txBody>
      </p:sp>
      <p:sp>
        <p:nvSpPr>
          <p:cNvPr id="945" name=""/>
          <p:cNvSpPr/>
          <p:nvPr/>
        </p:nvSpPr>
        <p:spPr>
          <a:xfrm rot="0" flipH="0" flipV="0">
            <a:off x="762000" y="3314700"/>
            <a:ext cx="10668000" cy="4857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946" name=""/>
          <p:cNvSpPr/>
          <p:nvPr/>
        </p:nvSpPr>
        <p:spPr>
          <a:xfrm rot="0" flipH="0" flipV="0">
            <a:off x="762000" y="3305175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947" name="" descr="{&quot;isTemplate&quot;:true,&quot;type&quot;:&quot;text&quot;}"/>
          <p:cNvSpPr txBox="1"/>
          <p:nvPr/>
        </p:nvSpPr>
        <p:spPr>
          <a:xfrm rot="0" flipH="0" flipV="0">
            <a:off x="857250" y="3409950"/>
            <a:ext cx="142875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利奥塔</a:t>
            </a:r>
            <a:endParaRPr/>
          </a:p>
        </p:txBody>
      </p:sp>
      <p:sp>
        <p:nvSpPr>
          <p:cNvPr id="948" name="" descr="{&quot;isTemplate&quot;:true,&quot;type&quot;:&quot;text&quot;}"/>
          <p:cNvSpPr txBox="1"/>
          <p:nvPr/>
        </p:nvSpPr>
        <p:spPr>
          <a:xfrm rot="0" flipH="0" flipV="0">
            <a:off x="2476500" y="3409950"/>
            <a:ext cx="2476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宏大叙事的终结</a:t>
            </a:r>
            <a:endParaRPr/>
          </a:p>
        </p:txBody>
      </p:sp>
      <p:sp>
        <p:nvSpPr>
          <p:cNvPr id="949" name="" descr="{&quot;isTemplate&quot;:true,&quot;type&quot;:&quot;text&quot;}"/>
          <p:cNvSpPr txBox="1"/>
          <p:nvPr/>
        </p:nvSpPr>
        <p:spPr>
          <a:xfrm rot="0" flipH="0" flipV="0">
            <a:off x="5143500" y="3409950"/>
            <a:ext cx="600075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不再相信有一个统一的历史剧本</a:t>
            </a:r>
            <a:endParaRPr/>
          </a:p>
        </p:txBody>
      </p:sp>
      <p:sp>
        <p:nvSpPr>
          <p:cNvPr id="950" name=""/>
          <p:cNvSpPr/>
          <p:nvPr/>
        </p:nvSpPr>
        <p:spPr>
          <a:xfrm rot="0" flipH="0" flipV="0">
            <a:off x="762000" y="3800475"/>
            <a:ext cx="10668000" cy="485775"/>
          </a:xfrm>
          <a:prstGeom prst="rect">
            <a:avLst/>
          </a:prstGeom>
          <a:solidFill>
            <a:srgbClr val="F5F1EC"/>
          </a:solidFill>
          <a:ln/>
        </p:spPr>
        <p:txBody>
          <a:bodyPr/>
          <a:p>
            <a:pPr/>
            <a:endParaRPr/>
          </a:p>
        </p:txBody>
      </p:sp>
      <p:sp>
        <p:nvSpPr>
          <p:cNvPr id="951" name=""/>
          <p:cNvSpPr/>
          <p:nvPr/>
        </p:nvSpPr>
        <p:spPr>
          <a:xfrm rot="0" flipH="0" flipV="0">
            <a:off x="762000" y="3790950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952" name="" descr="{&quot;isTemplate&quot;:true,&quot;type&quot;:&quot;text&quot;}"/>
          <p:cNvSpPr txBox="1"/>
          <p:nvPr/>
        </p:nvSpPr>
        <p:spPr>
          <a:xfrm rot="0" flipH="0" flipV="0">
            <a:off x="857250" y="3895725"/>
            <a:ext cx="142875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罗尔斯</a:t>
            </a:r>
            <a:endParaRPr/>
          </a:p>
        </p:txBody>
      </p:sp>
      <p:sp>
        <p:nvSpPr>
          <p:cNvPr id="953" name="" descr="{&quot;isTemplate&quot;:true,&quot;type&quot;:&quot;text&quot;}"/>
          <p:cNvSpPr txBox="1"/>
          <p:nvPr/>
        </p:nvSpPr>
        <p:spPr>
          <a:xfrm rot="0" flipH="0" flipV="0">
            <a:off x="2476500" y="3895725"/>
            <a:ext cx="2476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无知之幕</a:t>
            </a:r>
            <a:endParaRPr/>
          </a:p>
        </p:txBody>
      </p:sp>
      <p:sp>
        <p:nvSpPr>
          <p:cNvPr id="954" name="" descr="{&quot;isTemplate&quot;:true,&quot;type&quot;:&quot;text&quot;}"/>
          <p:cNvSpPr txBox="1"/>
          <p:nvPr/>
        </p:nvSpPr>
        <p:spPr>
          <a:xfrm rot="0" flipH="0" flipV="0">
            <a:off x="5143500" y="3895725"/>
            <a:ext cx="600075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若不知道自己的位置，你会选择怎样的正义原则</a:t>
            </a:r>
            <a:endParaRPr/>
          </a:p>
        </p:txBody>
      </p:sp>
      <p:sp>
        <p:nvSpPr>
          <p:cNvPr id="955" name=""/>
          <p:cNvSpPr/>
          <p:nvPr/>
        </p:nvSpPr>
        <p:spPr>
          <a:xfrm rot="0" flipH="0" flipV="0">
            <a:off x="571500" y="4619625"/>
            <a:ext cx="11049000" cy="619125"/>
          </a:xfrm>
          <a:prstGeom prst="roundRect">
            <a:avLst>
              <a:gd name="adj" fmla="val 24615"/>
            </a:avLst>
          </a:prstGeom>
          <a:solidFill>
            <a:srgbClr val="E3EEF1"/>
          </a:solidFill>
          <a:ln/>
        </p:spPr>
        <p:txBody>
          <a:bodyPr/>
          <a:p>
            <a:pPr/>
            <a:endParaRPr/>
          </a:p>
        </p:txBody>
      </p:sp>
      <p:sp>
        <p:nvSpPr>
          <p:cNvPr id="956" name="" descr="{&quot;isTemplate&quot;:true,&quot;type&quot;:&quot;text&quot;}"/>
          <p:cNvSpPr txBox="1"/>
          <p:nvPr/>
        </p:nvSpPr>
        <p:spPr>
          <a:xfrm rot="0" flipH="0" flipV="0">
            <a:off x="723900" y="4772025"/>
            <a:ext cx="10744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503C36"/>
                </a:solidFill>
                <a:latin typeface="思源黑体"/>
                <a:ea typeface="思源黑体"/>
              </a:rPr>
              <a:t>前半场拆掉确定性的地基，后半场开始问：拆完之后，我们还能怎样共同生活。</a:t>
            </a:r>
            <a:endParaRPr/>
          </a:p>
        </p:txBody>
      </p:sp>
      <p:sp>
        <p:nvSpPr>
          <p:cNvPr id="957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在星空与道德律之间</a:t>
            </a: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教学课件</a:t>
            </a:r>
            <a:endParaRPr/>
          </a:p>
        </p:txBody>
      </p:sp>
      <p:sp>
        <p:nvSpPr>
          <p:cNvPr id="958" name="" descr="{&quot;isTemplate&quot;:true,&quot;type&quot;:&quot;text&quot;}"/>
          <p:cNvSpPr txBox="1"/>
          <p:nvPr/>
        </p:nvSpPr>
        <p:spPr>
          <a:xfrm rot="0" flipH="0" flipV="0">
            <a:off x="10820400" y="650557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12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二十世纪</a:t>
            </a:r>
            <a:endParaRPr/>
          </a:p>
        </p:txBody>
      </p:sp>
    </p:spTree>
  </p:cSld>
</p:sld>
</file>

<file path=ppt/slides/slide54.xml><?xml version="1.0" encoding="utf-8"?>
<p:sld xmlns:a="http://schemas.openxmlformats.org/drawingml/2006/main" xmlns:p="http://schemas.openxmlformats.org/presentationml/2006/main">
  <p:cSld>
    <p:spTree>
      <p:nvGrpSpPr>
        <p:cNvPr id="9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61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12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二十世纪</a:t>
            </a: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 ·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气质</a:t>
            </a:r>
            <a:endParaRPr/>
          </a:p>
        </p:txBody>
      </p:sp>
      <p:sp>
        <p:nvSpPr>
          <p:cNvPr id="962" name="" descr="{&quot;isTemplate&quot;:true,&quot;type&quot;:&quot;text&quot;}"/>
          <p:cNvSpPr txBox="1"/>
          <p:nvPr/>
        </p:nvSpPr>
        <p:spPr>
          <a:xfrm rot="0" flipH="0" flipV="0">
            <a:off x="571500" y="89535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33241F"/>
                </a:solidFill>
                <a:latin typeface="霞鹜文楷"/>
                <a:ea typeface="霞鹜文楷"/>
              </a:rPr>
              <a:t>分析哲学与大陆哲学：两种气质</a:t>
            </a:r>
            <a:endParaRPr/>
          </a:p>
        </p:txBody>
      </p:sp>
      <p:sp>
        <p:nvSpPr>
          <p:cNvPr id="963" name=""/>
          <p:cNvSpPr/>
          <p:nvPr/>
        </p:nvSpPr>
        <p:spPr>
          <a:xfrm rot="0" flipH="0" flipV="0">
            <a:off x="571500" y="1495425"/>
            <a:ext cx="11049000" cy="9525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964" name=""/>
          <p:cNvSpPr/>
          <p:nvPr/>
        </p:nvSpPr>
        <p:spPr>
          <a:xfrm rot="0" flipH="0" flipV="0">
            <a:off x="571500" y="1752600"/>
            <a:ext cx="5048250" cy="1838325"/>
          </a:xfrm>
          <a:prstGeom prst="roundRect">
            <a:avLst>
              <a:gd name="adj" fmla="val 8290"/>
            </a:avLst>
          </a:prstGeom>
          <a:solidFill>
            <a:srgbClr val="E3EEF1"/>
          </a:solidFill>
          <a:ln/>
        </p:spPr>
        <p:txBody>
          <a:bodyPr/>
          <a:p>
            <a:pPr/>
            <a:endParaRPr/>
          </a:p>
        </p:txBody>
      </p:sp>
      <p:sp>
        <p:nvSpPr>
          <p:cNvPr id="965" name="" descr="{&quot;isTemplate&quot;:true,&quot;type&quot;:&quot;text&quot;}"/>
          <p:cNvSpPr txBox="1"/>
          <p:nvPr/>
        </p:nvSpPr>
        <p:spPr>
          <a:xfrm rot="0" flipH="0" flipV="0">
            <a:off x="838200" y="2019300"/>
            <a:ext cx="4514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分析传统</a:t>
            </a:r>
            <a:endParaRPr/>
          </a:p>
        </p:txBody>
      </p:sp>
      <p:sp>
        <p:nvSpPr>
          <p:cNvPr id="966" name="" descr="{&quot;isTemplate&quot;:true,&quot;type&quot;:&quot;text&quot;}"/>
          <p:cNvSpPr txBox="1"/>
          <p:nvPr/>
        </p:nvSpPr>
        <p:spPr>
          <a:xfrm rot="0" flipH="0" flipV="0">
            <a:off x="838200" y="2390775"/>
            <a:ext cx="45148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重论证、重清晰、重语言与逻辑。问题可以分解，答案可以一步步逼近。</a:t>
            </a:r>
            <a:endParaRPr/>
          </a:p>
        </p:txBody>
      </p:sp>
      <p:sp>
        <p:nvSpPr>
          <p:cNvPr id="967" name=""/>
          <p:cNvSpPr/>
          <p:nvPr/>
        </p:nvSpPr>
        <p:spPr>
          <a:xfrm rot="0" flipH="0" flipV="0">
            <a:off x="5810250" y="1752600"/>
            <a:ext cx="3238500" cy="1838325"/>
          </a:xfrm>
          <a:prstGeom prst="roundRect">
            <a:avLst>
              <a:gd name="adj" fmla="val 8290"/>
            </a:avLst>
          </a:prstGeom>
          <a:solidFill>
            <a:srgbClr val="E3EEF1"/>
          </a:solidFill>
          <a:ln/>
        </p:spPr>
        <p:txBody>
          <a:bodyPr/>
          <a:p>
            <a:pPr/>
            <a:endParaRPr/>
          </a:p>
        </p:txBody>
      </p:sp>
      <p:sp>
        <p:nvSpPr>
          <p:cNvPr id="968" name="" descr="{&quot;isTemplate&quot;:true,&quot;type&quot;:&quot;text&quot;}"/>
          <p:cNvSpPr txBox="1"/>
          <p:nvPr/>
        </p:nvSpPr>
        <p:spPr>
          <a:xfrm rot="0" flipH="0" flipV="0">
            <a:off x="6076950" y="2019300"/>
            <a:ext cx="270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欧陆传统</a:t>
            </a:r>
            <a:endParaRPr/>
          </a:p>
        </p:txBody>
      </p:sp>
      <p:sp>
        <p:nvSpPr>
          <p:cNvPr id="969" name="" descr="{&quot;isTemplate&quot;:true,&quot;type&quot;:&quot;text&quot;}"/>
          <p:cNvSpPr txBox="1"/>
          <p:nvPr/>
        </p:nvSpPr>
        <p:spPr>
          <a:xfrm rot="0" flipH="0" flipV="0">
            <a:off x="6076950" y="2390775"/>
            <a:ext cx="27051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重历史、重体验、重权力与意义。问题是境遇性的，要在历史中理解。</a:t>
            </a:r>
            <a:endParaRPr/>
          </a:p>
        </p:txBody>
      </p:sp>
      <p:sp>
        <p:nvSpPr>
          <p:cNvPr id="970" name=""/>
          <p:cNvSpPr/>
          <p:nvPr/>
        </p:nvSpPr>
        <p:spPr>
          <a:xfrm rot="0" flipH="0" flipV="0">
            <a:off x="9239250" y="1752600"/>
            <a:ext cx="2381250" cy="1838325"/>
          </a:xfrm>
          <a:prstGeom prst="roundRect">
            <a:avLst>
              <a:gd name="adj" fmla="val 8290"/>
            </a:avLst>
          </a:prstGeom>
          <a:solidFill>
            <a:srgbClr val="E3EEF1"/>
          </a:solidFill>
          <a:ln/>
        </p:spPr>
        <p:txBody>
          <a:bodyPr/>
          <a:p>
            <a:pPr/>
            <a:endParaRPr/>
          </a:p>
        </p:txBody>
      </p:sp>
      <p:sp>
        <p:nvSpPr>
          <p:cNvPr id="971" name="" descr="{&quot;isTemplate&quot;:true,&quot;type&quot;:&quot;text&quot;}"/>
          <p:cNvSpPr txBox="1"/>
          <p:nvPr/>
        </p:nvSpPr>
        <p:spPr>
          <a:xfrm rot="0" flipH="0" flipV="0">
            <a:off x="9505950" y="2019300"/>
            <a:ext cx="1847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今天的走向</a:t>
            </a:r>
            <a:endParaRPr/>
          </a:p>
        </p:txBody>
      </p:sp>
      <p:sp>
        <p:nvSpPr>
          <p:cNvPr id="972" name="" descr="{&quot;isTemplate&quot;:true,&quot;type&quot;:&quot;text&quot;}"/>
          <p:cNvSpPr txBox="1"/>
          <p:nvPr/>
        </p:nvSpPr>
        <p:spPr>
          <a:xfrm rot="0" flipH="0" flipV="0">
            <a:off x="9505950" y="2390775"/>
            <a:ext cx="18478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两者互相渗透：心灵哲学、政治哲学、认知科学都在跨界。</a:t>
            </a:r>
            <a:endParaRPr/>
          </a:p>
        </p:txBody>
      </p:sp>
      <p:sp>
        <p:nvSpPr>
          <p:cNvPr id="973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在星空与道德律之间</a:t>
            </a: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教学课件</a:t>
            </a:r>
            <a:endParaRPr/>
          </a:p>
        </p:txBody>
      </p:sp>
      <p:sp>
        <p:nvSpPr>
          <p:cNvPr id="974" name="" descr="{&quot;isTemplate&quot;:true,&quot;type&quot;:&quot;text&quot;}"/>
          <p:cNvSpPr txBox="1"/>
          <p:nvPr/>
        </p:nvSpPr>
        <p:spPr>
          <a:xfrm rot="0" flipH="0" flipV="0">
            <a:off x="10820400" y="650557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12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二十世纪</a:t>
            </a:r>
            <a:endParaRPr/>
          </a:p>
        </p:txBody>
      </p:sp>
    </p:spTree>
  </p:cSld>
</p:sld>
</file>

<file path=ppt/slides/slide55.xml><?xml version="1.0" encoding="utf-8"?>
<p:sld xmlns:a="http://schemas.openxmlformats.org/drawingml/2006/main" xmlns:p="http://schemas.openxmlformats.org/presentationml/2006/main">
  <p:cSld>
    <p:spTree>
      <p:nvGrpSpPr>
        <p:cNvPr id="9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C1411"/>
          </a:solidFill>
          <a:ln/>
        </p:spPr>
        <p:txBody>
          <a:bodyPr/>
          <a:p>
            <a:pPr/>
            <a:endParaRPr/>
          </a:p>
        </p:txBody>
      </p:sp>
      <p:sp>
        <p:nvSpPr>
          <p:cNvPr id="977" name="" descr="{&quot;isTemplate&quot;:true,&quot;type&quot;:&quot;text&quot;}"/>
          <p:cNvSpPr txBox="1"/>
          <p:nvPr/>
        </p:nvSpPr>
        <p:spPr>
          <a:xfrm rot="0" flipH="0" flipV="0">
            <a:off x="571500" y="2571750"/>
            <a:ext cx="160020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BBB0AD"/>
                </a:solidFill>
                <a:latin typeface="霞鹜文楷"/>
                <a:ea typeface="霞鹜文楷"/>
              </a:rPr>
              <a:t>13</a:t>
            </a:r>
            <a:endParaRPr/>
          </a:p>
        </p:txBody>
      </p:sp>
      <p:sp>
        <p:nvSpPr>
          <p:cNvPr id="978" name="" descr="{&quot;isTemplate&quot;:true,&quot;type&quot;:&quot;text&quot;}"/>
          <p:cNvSpPr txBox="1"/>
          <p:nvPr/>
        </p:nvSpPr>
        <p:spPr>
          <a:xfrm rot="0" flipH="0" flipV="0">
            <a:off x="2552700" y="2781300"/>
            <a:ext cx="9067800" cy="571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000" b="1">
                <a:solidFill>
                  <a:srgbClr val="FEFCF8"/>
                </a:solidFill>
                <a:latin typeface="霞鹜文楷"/>
                <a:ea typeface="霞鹜文楷"/>
              </a:rPr>
              <a:t>结语</a:t>
            </a:r>
            <a:r>
              <a:rPr lang="en-US" sz="3000" b="1">
                <a:solidFill>
                  <a:srgbClr val="FEFCF8"/>
                </a:solidFill>
                <a:latin typeface="霞鹜文楷"/>
                <a:ea typeface="霞鹜文楷"/>
              </a:rPr>
              <a:t> </a:t>
            </a:r>
            <a:r>
              <a:rPr lang="zh-CN" sz="3000" b="1">
                <a:solidFill>
                  <a:srgbClr val="FEFCF8"/>
                </a:solidFill>
                <a:latin typeface="霞鹜文楷"/>
                <a:ea typeface="霞鹜文楷"/>
              </a:rPr>
              <a:t>哲学还活着吗？</a:t>
            </a:r>
            <a:endParaRPr/>
          </a:p>
        </p:txBody>
      </p:sp>
      <p:sp>
        <p:nvSpPr>
          <p:cNvPr id="979" name=""/>
          <p:cNvSpPr/>
          <p:nvPr/>
        </p:nvSpPr>
        <p:spPr>
          <a:xfrm rot="0" flipH="0" flipV="0">
            <a:off x="2552700" y="3524250"/>
            <a:ext cx="838200" cy="19050"/>
          </a:xfrm>
          <a:prstGeom prst="rect">
            <a:avLst/>
          </a:prstGeom>
          <a:solidFill>
            <a:srgbClr val="8FA8A5"/>
          </a:solidFill>
          <a:ln/>
        </p:spPr>
        <p:txBody>
          <a:bodyPr/>
          <a:p>
            <a:pPr/>
            <a:endParaRPr/>
          </a:p>
        </p:txBody>
      </p:sp>
      <p:sp>
        <p:nvSpPr>
          <p:cNvPr id="980" name="" descr="{&quot;isTemplate&quot;:true,&quot;type&quot;:&quot;text&quot;}"/>
          <p:cNvSpPr txBox="1"/>
          <p:nvPr/>
        </p:nvSpPr>
        <p:spPr>
          <a:xfrm rot="0" flipH="0" flipV="0">
            <a:off x="2552700" y="3714750"/>
            <a:ext cx="90678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BBB0AD"/>
                </a:solidFill>
                <a:latin typeface="思源黑体"/>
                <a:ea typeface="思源黑体"/>
              </a:rPr>
              <a:t>三次转向之后，问题换了地方，追问没有换</a:t>
            </a:r>
            <a:endParaRPr/>
          </a:p>
        </p:txBody>
      </p:sp>
    </p:spTree>
  </p:cSld>
</p:sld>
</file>

<file path=ppt/slides/slide56.xml><?xml version="1.0" encoding="utf-8"?>
<p:sld xmlns:a="http://schemas.openxmlformats.org/drawingml/2006/main" xmlns:p="http://schemas.openxmlformats.org/presentationml/2006/main">
  <p:cSld>
    <p:spTree>
      <p:nvGrpSpPr>
        <p:cNvPr id="9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83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13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结语</a:t>
            </a: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 ·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复盘</a:t>
            </a:r>
            <a:endParaRPr/>
          </a:p>
        </p:txBody>
      </p:sp>
      <p:sp>
        <p:nvSpPr>
          <p:cNvPr id="984" name="" descr="{&quot;isTemplate&quot;:true,&quot;type&quot;:&quot;text&quot;}"/>
          <p:cNvSpPr txBox="1"/>
          <p:nvPr/>
        </p:nvSpPr>
        <p:spPr>
          <a:xfrm rot="0" flipH="0" flipV="0">
            <a:off x="571500" y="89535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33241F"/>
                </a:solidFill>
                <a:latin typeface="霞鹜文楷"/>
                <a:ea typeface="霞鹜文楷"/>
              </a:rPr>
              <a:t>三次转向复盘：问题换过，追问没换</a:t>
            </a:r>
            <a:endParaRPr/>
          </a:p>
        </p:txBody>
      </p:sp>
      <p:sp>
        <p:nvSpPr>
          <p:cNvPr id="985" name=""/>
          <p:cNvSpPr/>
          <p:nvPr/>
        </p:nvSpPr>
        <p:spPr>
          <a:xfrm rot="0" flipH="0" flipV="0">
            <a:off x="571500" y="1495425"/>
            <a:ext cx="11049000" cy="9525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986" name=""/>
          <p:cNvSpPr/>
          <p:nvPr/>
        </p:nvSpPr>
        <p:spPr>
          <a:xfrm rot="0" flipH="0" flipV="0">
            <a:off x="571500" y="175260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987" name="" descr="{&quot;isTemplate&quot;:true,&quot;type&quot;:&quot;text&quot;}"/>
          <p:cNvSpPr txBox="1"/>
          <p:nvPr/>
        </p:nvSpPr>
        <p:spPr>
          <a:xfrm rot="0" flipH="0" flipV="0">
            <a:off x="704850" y="188595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01</a:t>
            </a:r>
            <a:endParaRPr/>
          </a:p>
        </p:txBody>
      </p:sp>
      <p:sp>
        <p:nvSpPr>
          <p:cNvPr id="988" name="" descr="{&quot;isTemplate&quot;:true,&quot;type&quot;:&quot;text&quot;}"/>
          <p:cNvSpPr txBox="1"/>
          <p:nvPr/>
        </p:nvSpPr>
        <p:spPr>
          <a:xfrm rot="0" flipH="0" flipV="0">
            <a:off x="1295400" y="175260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认识论转向（近代）</a:t>
            </a:r>
            <a:endParaRPr/>
          </a:p>
        </p:txBody>
      </p:sp>
      <p:sp>
        <p:nvSpPr>
          <p:cNvPr id="989" name="" descr="{&quot;isTemplate&quot;:true,&quot;type&quot;:&quot;text&quot;}"/>
          <p:cNvSpPr txBox="1"/>
          <p:nvPr/>
        </p:nvSpPr>
        <p:spPr>
          <a:xfrm rot="0" flipH="0" flipV="0">
            <a:off x="1295400" y="206692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先问「我怎么能知道」，再谈世界是什么——笛卡尔到康德。</a:t>
            </a:r>
            <a:endParaRPr/>
          </a:p>
        </p:txBody>
      </p:sp>
      <p:sp>
        <p:nvSpPr>
          <p:cNvPr id="990" name=""/>
          <p:cNvSpPr/>
          <p:nvPr/>
        </p:nvSpPr>
        <p:spPr>
          <a:xfrm rot="0" flipH="0" flipV="0">
            <a:off x="571500" y="257175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991" name="" descr="{&quot;isTemplate&quot;:true,&quot;type&quot;:&quot;text&quot;}"/>
          <p:cNvSpPr txBox="1"/>
          <p:nvPr/>
        </p:nvSpPr>
        <p:spPr>
          <a:xfrm rot="0" flipH="0" flipV="0">
            <a:off x="704850" y="270510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02</a:t>
            </a:r>
            <a:endParaRPr/>
          </a:p>
        </p:txBody>
      </p:sp>
      <p:sp>
        <p:nvSpPr>
          <p:cNvPr id="992" name="" descr="{&quot;isTemplate&quot;:true,&quot;type&quot;:&quot;text&quot;}"/>
          <p:cNvSpPr txBox="1"/>
          <p:nvPr/>
        </p:nvSpPr>
        <p:spPr>
          <a:xfrm rot="0" flipH="0" flipV="0">
            <a:off x="1295400" y="257175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生存论转向（十九世纪）</a:t>
            </a:r>
            <a:endParaRPr/>
          </a:p>
        </p:txBody>
      </p:sp>
      <p:sp>
        <p:nvSpPr>
          <p:cNvPr id="993" name="" descr="{&quot;isTemplate&quot;:true,&quot;type&quot;:&quot;text&quot;}"/>
          <p:cNvSpPr txBox="1"/>
          <p:nvPr/>
        </p:nvSpPr>
        <p:spPr>
          <a:xfrm rot="0" flipH="0" flipV="0">
            <a:off x="1295400" y="288607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先问「我是谁、我怎么活」，再谈体系——克尔凯郭尔到存在主义。</a:t>
            </a:r>
            <a:endParaRPr/>
          </a:p>
        </p:txBody>
      </p:sp>
      <p:sp>
        <p:nvSpPr>
          <p:cNvPr id="994" name=""/>
          <p:cNvSpPr/>
          <p:nvPr/>
        </p:nvSpPr>
        <p:spPr>
          <a:xfrm rot="0" flipH="0" flipV="0">
            <a:off x="571500" y="339090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995" name="" descr="{&quot;isTemplate&quot;:true,&quot;type&quot;:&quot;text&quot;}"/>
          <p:cNvSpPr txBox="1"/>
          <p:nvPr/>
        </p:nvSpPr>
        <p:spPr>
          <a:xfrm rot="0" flipH="0" flipV="0">
            <a:off x="704850" y="352425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03</a:t>
            </a:r>
            <a:endParaRPr/>
          </a:p>
        </p:txBody>
      </p:sp>
      <p:sp>
        <p:nvSpPr>
          <p:cNvPr id="996" name="" descr="{&quot;isTemplate&quot;:true,&quot;type&quot;:&quot;text&quot;}"/>
          <p:cNvSpPr txBox="1"/>
          <p:nvPr/>
        </p:nvSpPr>
        <p:spPr>
          <a:xfrm rot="0" flipH="0" flipV="0">
            <a:off x="1295400" y="339090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语言学转向（二十世纪）</a:t>
            </a:r>
            <a:endParaRPr/>
          </a:p>
        </p:txBody>
      </p:sp>
      <p:sp>
        <p:nvSpPr>
          <p:cNvPr id="997" name="" descr="{&quot;isTemplate&quot;:true,&quot;type&quot;:&quot;text&quot;}"/>
          <p:cNvSpPr txBox="1"/>
          <p:nvPr/>
        </p:nvSpPr>
        <p:spPr>
          <a:xfrm rot="0" flipH="0" flipV="0">
            <a:off x="1295400" y="370522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先问「这句话什么意思」，再谈真假——弗雷格到维特根斯坦。</a:t>
            </a:r>
            <a:endParaRPr/>
          </a:p>
        </p:txBody>
      </p:sp>
      <p:sp>
        <p:nvSpPr>
          <p:cNvPr id="998" name=""/>
          <p:cNvSpPr/>
          <p:nvPr/>
        </p:nvSpPr>
        <p:spPr>
          <a:xfrm rot="0" flipH="0" flipV="0">
            <a:off x="571500" y="421005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999" name="" descr="{&quot;isTemplate&quot;:true,&quot;type&quot;:&quot;text&quot;}"/>
          <p:cNvSpPr txBox="1"/>
          <p:nvPr/>
        </p:nvSpPr>
        <p:spPr>
          <a:xfrm rot="0" flipH="0" flipV="0">
            <a:off x="704850" y="4343400"/>
            <a:ext cx="266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EFCF8"/>
                </a:solidFill>
                <a:latin typeface="思源黑体"/>
                <a:ea typeface="思源黑体"/>
              </a:rPr>
              <a:t>04</a:t>
            </a:r>
            <a:endParaRPr/>
          </a:p>
        </p:txBody>
      </p:sp>
      <p:sp>
        <p:nvSpPr>
          <p:cNvPr id="1000" name="" descr="{&quot;isTemplate&quot;:true,&quot;type&quot;:&quot;text&quot;}"/>
          <p:cNvSpPr txBox="1"/>
          <p:nvPr/>
        </p:nvSpPr>
        <p:spPr>
          <a:xfrm rot="0" flipH="0" flipV="0">
            <a:off x="1295400" y="4210050"/>
            <a:ext cx="10325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没换的那半边</a:t>
            </a:r>
            <a:endParaRPr/>
          </a:p>
        </p:txBody>
      </p:sp>
      <p:sp>
        <p:nvSpPr>
          <p:cNvPr id="1001" name="" descr="{&quot;isTemplate&quot;:true,&quot;type&quot;:&quot;text&quot;}"/>
          <p:cNvSpPr txBox="1"/>
          <p:nvPr/>
        </p:nvSpPr>
        <p:spPr>
          <a:xfrm rot="0" flipH="0" flipV="0">
            <a:off x="1295400" y="4524375"/>
            <a:ext cx="10325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道德律那条线一直在：孔子的仁、康德的绝对命令、罗尔斯的正义。</a:t>
            </a:r>
            <a:endParaRPr/>
          </a:p>
        </p:txBody>
      </p:sp>
      <p:sp>
        <p:nvSpPr>
          <p:cNvPr id="1002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在星空与道德律之间</a:t>
            </a: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教学课件</a:t>
            </a:r>
            <a:endParaRPr/>
          </a:p>
        </p:txBody>
      </p:sp>
      <p:sp>
        <p:nvSpPr>
          <p:cNvPr id="1003" name="" descr="{&quot;isTemplate&quot;:true,&quot;type&quot;:&quot;text&quot;}"/>
          <p:cNvSpPr txBox="1"/>
          <p:nvPr/>
        </p:nvSpPr>
        <p:spPr>
          <a:xfrm rot="0" flipH="0" flipV="0">
            <a:off x="11087100" y="65055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13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结语</a:t>
            </a:r>
            <a:endParaRPr/>
          </a:p>
        </p:txBody>
      </p:sp>
    </p:spTree>
  </p:cSld>
</p:sld>
</file>

<file path=ppt/slides/slide57.xml><?xml version="1.0" encoding="utf-8"?>
<p:sld xmlns:a="http://schemas.openxmlformats.org/drawingml/2006/main" xmlns:p="http://schemas.openxmlformats.org/presentationml/2006/main">
  <p:cSld>
    <p:spTree>
      <p:nvGrpSpPr>
        <p:cNvPr id="10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06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13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结语</a:t>
            </a: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 ·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当代</a:t>
            </a:r>
            <a:endParaRPr/>
          </a:p>
        </p:txBody>
      </p:sp>
      <p:sp>
        <p:nvSpPr>
          <p:cNvPr id="1007" name="" descr="{&quot;isTemplate&quot;:true,&quot;type&quot;:&quot;text&quot;}"/>
          <p:cNvSpPr txBox="1"/>
          <p:nvPr/>
        </p:nvSpPr>
        <p:spPr>
          <a:xfrm rot="0" flipH="0" flipV="0">
            <a:off x="571500" y="89535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550" b="1">
                <a:solidFill>
                  <a:srgbClr val="33241F"/>
                </a:solidFill>
                <a:latin typeface="霞鹜文楷"/>
                <a:ea typeface="霞鹜文楷"/>
              </a:rPr>
              <a:t>AI </a:t>
            </a:r>
            <a:r>
              <a:rPr lang="zh-CN" sz="2550" b="1">
                <a:solidFill>
                  <a:srgbClr val="33241F"/>
                </a:solidFill>
                <a:latin typeface="霞鹜文楷"/>
                <a:ea typeface="霞鹜文楷"/>
              </a:rPr>
              <a:t>时代，哲学为什么更缺不得</a:t>
            </a:r>
            <a:endParaRPr/>
          </a:p>
        </p:txBody>
      </p:sp>
      <p:sp>
        <p:nvSpPr>
          <p:cNvPr id="1008" name=""/>
          <p:cNvSpPr/>
          <p:nvPr/>
        </p:nvSpPr>
        <p:spPr>
          <a:xfrm rot="0" flipH="0" flipV="0">
            <a:off x="571500" y="1495425"/>
            <a:ext cx="11049000" cy="9525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1009" name=""/>
          <p:cNvSpPr/>
          <p:nvPr/>
        </p:nvSpPr>
        <p:spPr>
          <a:xfrm rot="0" flipH="0" flipV="0">
            <a:off x="571500" y="1752600"/>
            <a:ext cx="4000500" cy="2428875"/>
          </a:xfrm>
          <a:prstGeom prst="roundRect">
            <a:avLst>
              <a:gd name="adj" fmla="val 6275"/>
            </a:avLst>
          </a:prstGeom>
          <a:solidFill>
            <a:srgbClr val="1C1411"/>
          </a:solidFill>
          <a:ln/>
        </p:spPr>
        <p:txBody>
          <a:bodyPr/>
          <a:p>
            <a:pPr/>
            <a:endParaRPr/>
          </a:p>
        </p:txBody>
      </p:sp>
      <p:sp>
        <p:nvSpPr>
          <p:cNvPr id="1010" name="" descr="{&quot;isTemplate&quot;:true,&quot;type&quot;:&quot;text&quot;}"/>
          <p:cNvSpPr txBox="1"/>
          <p:nvPr/>
        </p:nvSpPr>
        <p:spPr>
          <a:xfrm rot="0" flipH="0" flipV="0">
            <a:off x="876300" y="2057400"/>
            <a:ext cx="3390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BB0AD"/>
                </a:solidFill>
                <a:latin typeface="思源黑体"/>
                <a:ea typeface="思源黑体"/>
              </a:rPr>
              <a:t>能力不等于理解</a:t>
            </a:r>
            <a:endParaRPr/>
          </a:p>
        </p:txBody>
      </p:sp>
      <p:sp>
        <p:nvSpPr>
          <p:cNvPr id="1011" name="" descr="{&quot;isTemplate&quot;:true,&quot;type&quot;:&quot;text&quot;}"/>
          <p:cNvSpPr txBox="1"/>
          <p:nvPr/>
        </p:nvSpPr>
        <p:spPr>
          <a:xfrm rot="0" flipH="0" flipV="0">
            <a:off x="876300" y="2381250"/>
            <a:ext cx="3390900" cy="4286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EFCF8"/>
                </a:solidFill>
                <a:latin typeface="霞鹜文楷"/>
                <a:ea typeface="霞鹜文楷"/>
              </a:rPr>
              <a:t>它会写，但它懂吗？</a:t>
            </a:r>
            <a:endParaRPr/>
          </a:p>
        </p:txBody>
      </p:sp>
      <p:sp>
        <p:nvSpPr>
          <p:cNvPr id="1012" name="" descr="{&quot;isTemplate&quot;:true,&quot;type&quot;:&quot;text&quot;}"/>
          <p:cNvSpPr txBox="1"/>
          <p:nvPr/>
        </p:nvSpPr>
        <p:spPr>
          <a:xfrm rot="0" flipH="0" flipV="0">
            <a:off x="876300" y="2943225"/>
            <a:ext cx="33909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BBB0AD"/>
                </a:solidFill>
                <a:latin typeface="思源黑体"/>
                <a:ea typeface="思源黑体"/>
              </a:rPr>
              <a:t>模型能作诗、下棋、答题，可它有没有感受、有没有理解，这仍是哲学问题而非工程问题。</a:t>
            </a:r>
            <a:endParaRPr/>
          </a:p>
        </p:txBody>
      </p:sp>
      <p:sp>
        <p:nvSpPr>
          <p:cNvPr id="1013" name="" descr="{&quot;isTemplate&quot;:true,&quot;type&quot;:&quot;text&quot;}"/>
          <p:cNvSpPr txBox="1"/>
          <p:nvPr/>
        </p:nvSpPr>
        <p:spPr>
          <a:xfrm rot="0" flipH="0" flipV="0">
            <a:off x="4953000" y="1781175"/>
            <a:ext cx="666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意识与感受质</a:t>
            </a:r>
            <a:endParaRPr/>
          </a:p>
        </p:txBody>
      </p:sp>
      <p:sp>
        <p:nvSpPr>
          <p:cNvPr id="1014" name="" descr="{&quot;isTemplate&quot;:true,&quot;type&quot;:&quot;text&quot;}"/>
          <p:cNvSpPr txBox="1"/>
          <p:nvPr/>
        </p:nvSpPr>
        <p:spPr>
          <a:xfrm rot="0" flipH="0" flipV="0">
            <a:off x="4953000" y="2095500"/>
            <a:ext cx="6667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行为上无法区分，不等于没有区分——蝙蝠之问又回来了。</a:t>
            </a:r>
            <a:endParaRPr/>
          </a:p>
        </p:txBody>
      </p:sp>
      <p:sp>
        <p:nvSpPr>
          <p:cNvPr id="1015" name="" descr="{&quot;isTemplate&quot;:true,&quot;type&quot;:&quot;text&quot;}"/>
          <p:cNvSpPr txBox="1"/>
          <p:nvPr/>
        </p:nvSpPr>
        <p:spPr>
          <a:xfrm rot="0" flipH="0" flipV="0">
            <a:off x="4953000" y="2657475"/>
            <a:ext cx="666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责任归属</a:t>
            </a:r>
            <a:endParaRPr/>
          </a:p>
        </p:txBody>
      </p:sp>
      <p:sp>
        <p:nvSpPr>
          <p:cNvPr id="1016" name="" descr="{&quot;isTemplate&quot;:true,&quot;type&quot;:&quot;text&quot;}"/>
          <p:cNvSpPr txBox="1"/>
          <p:nvPr/>
        </p:nvSpPr>
        <p:spPr>
          <a:xfrm rot="0" flipH="0" flipV="0">
            <a:off x="4953000" y="2971800"/>
            <a:ext cx="6667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算法造成的损害，责任在开发者、使用者还是模型？</a:t>
            </a:r>
            <a:endParaRPr/>
          </a:p>
        </p:txBody>
      </p:sp>
      <p:sp>
        <p:nvSpPr>
          <p:cNvPr id="1017" name="" descr="{&quot;isTemplate&quot;:true,&quot;type&quot;:&quot;text&quot;}"/>
          <p:cNvSpPr txBox="1"/>
          <p:nvPr/>
        </p:nvSpPr>
        <p:spPr>
          <a:xfrm rot="0" flipH="0" flipV="0">
            <a:off x="4953000" y="3533775"/>
            <a:ext cx="666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3241F"/>
                </a:solidFill>
                <a:latin typeface="霞鹜文楷"/>
                <a:ea typeface="霞鹜文楷"/>
              </a:rPr>
              <a:t>注意力与自主</a:t>
            </a:r>
            <a:endParaRPr/>
          </a:p>
        </p:txBody>
      </p:sp>
      <p:sp>
        <p:nvSpPr>
          <p:cNvPr id="1018" name="" descr="{&quot;isTemplate&quot;:true,&quot;type&quot;:&quot;text&quot;}"/>
          <p:cNvSpPr txBox="1"/>
          <p:nvPr/>
        </p:nvSpPr>
        <p:spPr>
          <a:xfrm rot="0" flipH="0" flipV="0">
            <a:off x="4953000" y="3848100"/>
            <a:ext cx="6667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73A35"/>
                </a:solidFill>
                <a:latin typeface="思源黑体"/>
                <a:ea typeface="思源黑体"/>
              </a:rPr>
              <a:t>推荐系统在替你选择，「自主决定」的前提正被侵蚀。</a:t>
            </a:r>
            <a:endParaRPr/>
          </a:p>
        </p:txBody>
      </p:sp>
      <p:sp>
        <p:nvSpPr>
          <p:cNvPr id="1019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在星空与道德律之间</a:t>
            </a: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教学课件</a:t>
            </a:r>
            <a:endParaRPr/>
          </a:p>
        </p:txBody>
      </p:sp>
      <p:sp>
        <p:nvSpPr>
          <p:cNvPr id="1020" name="" descr="{&quot;isTemplate&quot;:true,&quot;type&quot;:&quot;text&quot;}"/>
          <p:cNvSpPr txBox="1"/>
          <p:nvPr/>
        </p:nvSpPr>
        <p:spPr>
          <a:xfrm rot="0" flipH="0" flipV="0">
            <a:off x="11087100" y="65055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13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结语</a:t>
            </a:r>
            <a:endParaRPr/>
          </a:p>
        </p:txBody>
      </p:sp>
    </p:spTree>
  </p:cSld>
</p:sld>
</file>

<file path=ppt/slides/slide58.xml><?xml version="1.0" encoding="utf-8"?>
<p:sld xmlns:a="http://schemas.openxmlformats.org/drawingml/2006/main" xmlns:p="http://schemas.openxmlformats.org/presentationml/2006/main">
  <p:cSld>
    <p:spTree>
      <p:nvGrpSpPr>
        <p:cNvPr id="10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EFC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23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104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13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结语</a:t>
            </a:r>
            <a:r>
              <a:rPr lang="en-US" sz="1200">
                <a:solidFill>
                  <a:srgbClr val="4E6E66"/>
                </a:solidFill>
                <a:latin typeface="思源黑体"/>
                <a:ea typeface="思源黑体"/>
              </a:rPr>
              <a:t> · </a:t>
            </a:r>
            <a:r>
              <a:rPr lang="zh-CN" sz="1200">
                <a:solidFill>
                  <a:srgbClr val="4E6E66"/>
                </a:solidFill>
                <a:latin typeface="思源黑体"/>
                <a:ea typeface="思源黑体"/>
              </a:rPr>
              <a:t>路径</a:t>
            </a:r>
            <a:endParaRPr/>
          </a:p>
        </p:txBody>
      </p:sp>
      <p:sp>
        <p:nvSpPr>
          <p:cNvPr id="1024" name="" descr="{&quot;isTemplate&quot;:true,&quot;type&quot;:&quot;text&quot;}"/>
          <p:cNvSpPr txBox="1"/>
          <p:nvPr/>
        </p:nvSpPr>
        <p:spPr>
          <a:xfrm rot="0" flipH="0" flipV="0">
            <a:off x="571500" y="895350"/>
            <a:ext cx="11049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33241F"/>
                </a:solidFill>
                <a:latin typeface="霞鹜文楷"/>
                <a:ea typeface="霞鹜文楷"/>
              </a:rPr>
              <a:t>继续往哪里读：一条可执行的进阶路径</a:t>
            </a:r>
            <a:endParaRPr/>
          </a:p>
        </p:txBody>
      </p:sp>
      <p:sp>
        <p:nvSpPr>
          <p:cNvPr id="1025" name=""/>
          <p:cNvSpPr/>
          <p:nvPr/>
        </p:nvSpPr>
        <p:spPr>
          <a:xfrm rot="0" flipH="0" flipV="0">
            <a:off x="571500" y="1495425"/>
            <a:ext cx="11049000" cy="9525"/>
          </a:xfrm>
          <a:prstGeom prst="rect">
            <a:avLst/>
          </a:pr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1026" name=""/>
          <p:cNvSpPr/>
          <p:nvPr/>
        </p:nvSpPr>
        <p:spPr>
          <a:xfrm rot="0" flipH="0" flipV="0">
            <a:off x="571500" y="1752600"/>
            <a:ext cx="11049000" cy="2714625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E2DED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27" name=""/>
          <p:cNvSpPr/>
          <p:nvPr/>
        </p:nvSpPr>
        <p:spPr>
          <a:xfrm rot="0" flipH="0" flipV="0">
            <a:off x="762000" y="1943100"/>
            <a:ext cx="10668000" cy="390525"/>
          </a:xfrm>
          <a:prstGeom prst="roundRect">
            <a:avLst>
              <a:gd name="adj" fmla="val 19512"/>
            </a:avLst>
          </a:prstGeom>
          <a:solidFill>
            <a:srgbClr val="684F4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28" name="" descr="{&quot;isTemplate&quot;:true,&quot;type&quot;:&quot;text&quot;}"/>
          <p:cNvSpPr txBox="1"/>
          <p:nvPr/>
        </p:nvSpPr>
        <p:spPr>
          <a:xfrm rot="0" flipH="0" flipV="0">
            <a:off x="857250" y="2038350"/>
            <a:ext cx="1333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EFCF8"/>
                </a:solidFill>
                <a:latin typeface="思源黑体"/>
                <a:ea typeface="思源黑体"/>
              </a:rPr>
              <a:t>阶段</a:t>
            </a:r>
            <a:endParaRPr/>
          </a:p>
        </p:txBody>
      </p:sp>
      <p:sp>
        <p:nvSpPr>
          <p:cNvPr id="1029" name="" descr="{&quot;isTemplate&quot;:true,&quot;type&quot;:&quot;text&quot;}"/>
          <p:cNvSpPr txBox="1"/>
          <p:nvPr/>
        </p:nvSpPr>
        <p:spPr>
          <a:xfrm rot="0" flipH="0" flipV="0">
            <a:off x="2381250" y="2038350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EFCF8"/>
                </a:solidFill>
                <a:latin typeface="思源黑体"/>
                <a:ea typeface="思源黑体"/>
              </a:rPr>
              <a:t>读什么</a:t>
            </a:r>
            <a:endParaRPr/>
          </a:p>
        </p:txBody>
      </p:sp>
      <p:sp>
        <p:nvSpPr>
          <p:cNvPr id="1030" name="" descr="{&quot;isTemplate&quot;:true,&quot;type&quot;:&quot;text&quot;}"/>
          <p:cNvSpPr txBox="1"/>
          <p:nvPr/>
        </p:nvSpPr>
        <p:spPr>
          <a:xfrm rot="0" flipH="0" flipV="0">
            <a:off x="6953250" y="2038350"/>
            <a:ext cx="4191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EFCF8"/>
                </a:solidFill>
                <a:latin typeface="思源黑体"/>
                <a:ea typeface="思源黑体"/>
              </a:rPr>
              <a:t>目标</a:t>
            </a:r>
            <a:endParaRPr/>
          </a:p>
        </p:txBody>
      </p:sp>
      <p:sp>
        <p:nvSpPr>
          <p:cNvPr id="1031" name=""/>
          <p:cNvSpPr/>
          <p:nvPr/>
        </p:nvSpPr>
        <p:spPr>
          <a:xfrm rot="0" flipH="0" flipV="0">
            <a:off x="762000" y="2343150"/>
            <a:ext cx="10668000" cy="4857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032" name=""/>
          <p:cNvSpPr/>
          <p:nvPr/>
        </p:nvSpPr>
        <p:spPr>
          <a:xfrm rot="0" flipH="0" flipV="0">
            <a:off x="762000" y="2333625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1033" name="" descr="{&quot;isTemplate&quot;:true,&quot;type&quot;:&quot;text&quot;}"/>
          <p:cNvSpPr txBox="1"/>
          <p:nvPr/>
        </p:nvSpPr>
        <p:spPr>
          <a:xfrm rot="0" flipH="0" flipV="0">
            <a:off x="857250" y="2438400"/>
            <a:ext cx="1333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入门</a:t>
            </a:r>
            <a:endParaRPr/>
          </a:p>
        </p:txBody>
      </p:sp>
      <p:sp>
        <p:nvSpPr>
          <p:cNvPr id="1034" name="" descr="{&quot;isTemplate&quot;:true,&quot;type&quot;:&quot;text&quot;}"/>
          <p:cNvSpPr txBox="1"/>
          <p:nvPr/>
        </p:nvSpPr>
        <p:spPr>
          <a:xfrm rot="0" flipH="0" flipV="0">
            <a:off x="2381250" y="2438400"/>
            <a:ext cx="4381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罗素《西方哲学史》、冯友兰《中国哲学简史》</a:t>
            </a:r>
            <a:endParaRPr/>
          </a:p>
        </p:txBody>
      </p:sp>
      <p:sp>
        <p:nvSpPr>
          <p:cNvPr id="1035" name="" descr="{&quot;isTemplate&quot;:true,&quot;type&quot;:&quot;text&quot;}"/>
          <p:cNvSpPr txBox="1"/>
          <p:nvPr/>
        </p:nvSpPr>
        <p:spPr>
          <a:xfrm rot="0" flipH="0" flipV="0">
            <a:off x="6953250" y="2438400"/>
            <a:ext cx="4191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先建立地图，别急着深挖</a:t>
            </a:r>
            <a:endParaRPr/>
          </a:p>
        </p:txBody>
      </p:sp>
      <p:sp>
        <p:nvSpPr>
          <p:cNvPr id="1036" name=""/>
          <p:cNvSpPr/>
          <p:nvPr/>
        </p:nvSpPr>
        <p:spPr>
          <a:xfrm rot="0" flipH="0" flipV="0">
            <a:off x="762000" y="2828925"/>
            <a:ext cx="10668000" cy="485775"/>
          </a:xfrm>
          <a:prstGeom prst="rect">
            <a:avLst/>
          </a:prstGeom>
          <a:solidFill>
            <a:srgbClr val="F5F1EC"/>
          </a:solidFill>
          <a:ln/>
        </p:spPr>
        <p:txBody>
          <a:bodyPr/>
          <a:p>
            <a:pPr/>
            <a:endParaRPr/>
          </a:p>
        </p:txBody>
      </p:sp>
      <p:sp>
        <p:nvSpPr>
          <p:cNvPr id="1037" name=""/>
          <p:cNvSpPr/>
          <p:nvPr/>
        </p:nvSpPr>
        <p:spPr>
          <a:xfrm rot="0" flipH="0" flipV="0">
            <a:off x="762000" y="2819400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1038" name="" descr="{&quot;isTemplate&quot;:true,&quot;type&quot;:&quot;text&quot;}"/>
          <p:cNvSpPr txBox="1"/>
          <p:nvPr/>
        </p:nvSpPr>
        <p:spPr>
          <a:xfrm rot="0" flipH="0" flipV="0">
            <a:off x="857250" y="2924175"/>
            <a:ext cx="1333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原典</a:t>
            </a:r>
            <a:endParaRPr/>
          </a:p>
        </p:txBody>
      </p:sp>
      <p:sp>
        <p:nvSpPr>
          <p:cNvPr id="1039" name="" descr="{&quot;isTemplate&quot;:true,&quot;type&quot;:&quot;text&quot;}"/>
          <p:cNvSpPr txBox="1"/>
          <p:nvPr/>
        </p:nvSpPr>
        <p:spPr>
          <a:xfrm rot="0" flipH="0" flipV="0">
            <a:off x="2381250" y="2924175"/>
            <a:ext cx="4381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《理想国》《沉思录》《第一哲学沉思集》《论语》</a:t>
            </a:r>
            <a:endParaRPr/>
          </a:p>
        </p:txBody>
      </p:sp>
      <p:sp>
        <p:nvSpPr>
          <p:cNvPr id="1040" name="" descr="{&quot;isTemplate&quot;:true,&quot;type&quot;:&quot;text&quot;}"/>
          <p:cNvSpPr txBox="1"/>
          <p:nvPr/>
        </p:nvSpPr>
        <p:spPr>
          <a:xfrm rot="0" flipH="0" flipV="0">
            <a:off x="6953250" y="2924175"/>
            <a:ext cx="4191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直接读一手文本，体会论证</a:t>
            </a:r>
            <a:endParaRPr/>
          </a:p>
        </p:txBody>
      </p:sp>
      <p:sp>
        <p:nvSpPr>
          <p:cNvPr id="1041" name=""/>
          <p:cNvSpPr/>
          <p:nvPr/>
        </p:nvSpPr>
        <p:spPr>
          <a:xfrm rot="0" flipH="0" flipV="0">
            <a:off x="762000" y="3314700"/>
            <a:ext cx="10668000" cy="4857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042" name=""/>
          <p:cNvSpPr/>
          <p:nvPr/>
        </p:nvSpPr>
        <p:spPr>
          <a:xfrm rot="0" flipH="0" flipV="0">
            <a:off x="762000" y="3305175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1043" name="" descr="{&quot;isTemplate&quot;:true,&quot;type&quot;:&quot;text&quot;}"/>
          <p:cNvSpPr txBox="1"/>
          <p:nvPr/>
        </p:nvSpPr>
        <p:spPr>
          <a:xfrm rot="0" flipH="0" flipV="0">
            <a:off x="857250" y="3409950"/>
            <a:ext cx="1333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进阶</a:t>
            </a:r>
            <a:endParaRPr/>
          </a:p>
        </p:txBody>
      </p:sp>
      <p:sp>
        <p:nvSpPr>
          <p:cNvPr id="1044" name="" descr="{&quot;isTemplate&quot;:true,&quot;type&quot;:&quot;text&quot;}"/>
          <p:cNvSpPr txBox="1"/>
          <p:nvPr/>
        </p:nvSpPr>
        <p:spPr>
          <a:xfrm rot="0" flipH="0" flipV="0">
            <a:off x="2381250" y="3409950"/>
            <a:ext cx="4381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康德《纯粹理性批判》，配康蒲·斯密《解义》</a:t>
            </a:r>
            <a:endParaRPr/>
          </a:p>
        </p:txBody>
      </p:sp>
      <p:sp>
        <p:nvSpPr>
          <p:cNvPr id="1045" name="" descr="{&quot;isTemplate&quot;:true,&quot;type&quot;:&quot;text&quot;}"/>
          <p:cNvSpPr txBox="1"/>
          <p:nvPr/>
        </p:nvSpPr>
        <p:spPr>
          <a:xfrm rot="0" flipH="0" flipV="0">
            <a:off x="6953250" y="3409950"/>
            <a:ext cx="4191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啃硬骨头必须配导引</a:t>
            </a:r>
            <a:endParaRPr/>
          </a:p>
        </p:txBody>
      </p:sp>
      <p:sp>
        <p:nvSpPr>
          <p:cNvPr id="1046" name=""/>
          <p:cNvSpPr/>
          <p:nvPr/>
        </p:nvSpPr>
        <p:spPr>
          <a:xfrm rot="0" flipH="0" flipV="0">
            <a:off x="762000" y="3800475"/>
            <a:ext cx="10668000" cy="485775"/>
          </a:xfrm>
          <a:prstGeom prst="rect">
            <a:avLst/>
          </a:prstGeom>
          <a:solidFill>
            <a:srgbClr val="F5F1EC"/>
          </a:solidFill>
          <a:ln/>
        </p:spPr>
        <p:txBody>
          <a:bodyPr/>
          <a:p>
            <a:pPr/>
            <a:endParaRPr/>
          </a:p>
        </p:txBody>
      </p:sp>
      <p:sp>
        <p:nvSpPr>
          <p:cNvPr id="1047" name=""/>
          <p:cNvSpPr/>
          <p:nvPr/>
        </p:nvSpPr>
        <p:spPr>
          <a:xfrm rot="0" flipH="0" flipV="0">
            <a:off x="762000" y="3790950"/>
            <a:ext cx="10668000" cy="495300"/>
          </a:xfrm>
          <a:custGeom>
            <a:pathLst>
              <a:path w="1120" h="52">
                <a:moveTo>
                  <a:pt x="0" y="0"/>
                </a:moveTo>
                <a:lnTo>
                  <a:pt x="1120" y="0"/>
                </a:lnTo>
                <a:lnTo>
                  <a:pt x="11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DEDA"/>
          </a:solidFill>
          <a:ln/>
        </p:spPr>
        <p:txBody>
          <a:bodyPr/>
          <a:p>
            <a:pPr/>
            <a:endParaRPr/>
          </a:p>
        </p:txBody>
      </p:sp>
      <p:sp>
        <p:nvSpPr>
          <p:cNvPr id="1048" name="" descr="{&quot;isTemplate&quot;:true,&quot;type&quot;:&quot;text&quot;}"/>
          <p:cNvSpPr txBox="1"/>
          <p:nvPr/>
        </p:nvSpPr>
        <p:spPr>
          <a:xfrm rot="0" flipH="0" flipV="0">
            <a:off x="857250" y="3895725"/>
            <a:ext cx="1333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当代</a:t>
            </a:r>
            <a:endParaRPr/>
          </a:p>
        </p:txBody>
      </p:sp>
      <p:sp>
        <p:nvSpPr>
          <p:cNvPr id="1049" name="" descr="{&quot;isTemplate&quot;:true,&quot;type&quot;:&quot;text&quot;}"/>
          <p:cNvSpPr txBox="1"/>
          <p:nvPr/>
        </p:nvSpPr>
        <p:spPr>
          <a:xfrm rot="0" flipH="0" flipV="0">
            <a:off x="2381250" y="3895725"/>
            <a:ext cx="43815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桑德尔《公正》、内格尔《你的第一本哲学书》</a:t>
            </a:r>
            <a:endParaRPr/>
          </a:p>
        </p:txBody>
      </p:sp>
      <p:sp>
        <p:nvSpPr>
          <p:cNvPr id="1050" name="" descr="{&quot;isTemplate&quot;:true,&quot;type&quot;:&quot;text&quot;}"/>
          <p:cNvSpPr txBox="1"/>
          <p:nvPr/>
        </p:nvSpPr>
        <p:spPr>
          <a:xfrm rot="0" flipH="0" flipV="0">
            <a:off x="6953250" y="3895725"/>
            <a:ext cx="4191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473A35"/>
                </a:solidFill>
                <a:latin typeface="思源黑体"/>
                <a:ea typeface="思源黑体"/>
              </a:rPr>
              <a:t>把问题接回此刻的生活</a:t>
            </a:r>
            <a:endParaRPr/>
          </a:p>
        </p:txBody>
      </p:sp>
      <p:sp>
        <p:nvSpPr>
          <p:cNvPr id="1051" name=""/>
          <p:cNvSpPr/>
          <p:nvPr/>
        </p:nvSpPr>
        <p:spPr>
          <a:xfrm rot="0" flipH="0" flipV="0">
            <a:off x="571500" y="4619625"/>
            <a:ext cx="11049000" cy="619125"/>
          </a:xfrm>
          <a:prstGeom prst="roundRect">
            <a:avLst>
              <a:gd name="adj" fmla="val 24615"/>
            </a:avLst>
          </a:prstGeom>
          <a:solidFill>
            <a:srgbClr val="E3EEF1"/>
          </a:solidFill>
          <a:ln/>
        </p:spPr>
        <p:txBody>
          <a:bodyPr/>
          <a:p>
            <a:pPr/>
            <a:endParaRPr/>
          </a:p>
        </p:txBody>
      </p:sp>
      <p:sp>
        <p:nvSpPr>
          <p:cNvPr id="1052" name="" descr="{&quot;isTemplate&quot;:true,&quot;type&quot;:&quot;text&quot;}"/>
          <p:cNvSpPr txBox="1"/>
          <p:nvPr/>
        </p:nvSpPr>
        <p:spPr>
          <a:xfrm rot="0" flipH="0" flipV="0">
            <a:off x="723900" y="4772025"/>
            <a:ext cx="107442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503C36"/>
                </a:solidFill>
                <a:latin typeface="思源黑体"/>
                <a:ea typeface="思源黑体"/>
              </a:rPr>
              <a:t>书单不是目的：能用一句话说清自己为什么这样想，才是。</a:t>
            </a:r>
            <a:endParaRPr/>
          </a:p>
        </p:txBody>
      </p:sp>
      <p:sp>
        <p:nvSpPr>
          <p:cNvPr id="1053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在星空与道德律之间</a:t>
            </a: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教学课件</a:t>
            </a:r>
            <a:endParaRPr/>
          </a:p>
        </p:txBody>
      </p:sp>
      <p:sp>
        <p:nvSpPr>
          <p:cNvPr id="1054" name="" descr="{&quot;isTemplate&quot;:true,&quot;type&quot;:&quot;text&quot;}"/>
          <p:cNvSpPr txBox="1"/>
          <p:nvPr/>
        </p:nvSpPr>
        <p:spPr>
          <a:xfrm rot="0" flipH="0" flipV="0">
            <a:off x="11087100" y="65055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E8581"/>
                </a:solidFill>
                <a:latin typeface="思源黑体"/>
                <a:ea typeface="思源黑体"/>
              </a:rPr>
              <a:t>13 · </a:t>
            </a:r>
            <a:r>
              <a:rPr lang="zh-CN" sz="1050">
                <a:solidFill>
                  <a:srgbClr val="8E8581"/>
                </a:solidFill>
                <a:latin typeface="思源黑体"/>
                <a:ea typeface="思源黑体"/>
              </a:rPr>
              <a:t>结语</a:t>
            </a:r>
            <a:endParaRPr/>
          </a:p>
        </p:txBody>
      </p:sp>
    </p:spTree>
  </p:cSld>
</p:sld>
</file>

<file path=ppt/slides/slide59.xml><?xml version="1.0" encoding="utf-8"?>
<p:sld xmlns:a="http://schemas.openxmlformats.org/drawingml/2006/main" xmlns:p="http://schemas.openxmlformats.org/presentationml/2006/main">
  <p:cSld>
    <p:spTree>
      <p:nvGrpSpPr>
        <p:cNvPr id="10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C1411"/>
          </a:solidFill>
          <a:ln/>
        </p:spPr>
        <p:txBody>
          <a:bodyPr/>
          <a:p>
            <a:pPr/>
            <a:endParaRPr/>
          </a:p>
        </p:txBody>
      </p:sp>
      <p:sp>
        <p:nvSpPr>
          <p:cNvPr id="1057" name=""/>
          <p:cNvSpPr/>
          <p:nvPr/>
        </p:nvSpPr>
        <p:spPr>
          <a:xfrm rot="0" flipH="0" flipV="0">
            <a:off x="571500" y="2209800"/>
            <a:ext cx="914400" cy="38100"/>
          </a:xfrm>
          <a:prstGeom prst="rect">
            <a:avLst/>
          </a:prstGeom>
          <a:solidFill>
            <a:srgbClr val="8FA8A5"/>
          </a:solidFill>
          <a:ln/>
        </p:spPr>
        <p:txBody>
          <a:bodyPr/>
          <a:p>
            <a:pPr/>
            <a:endParaRPr/>
          </a:p>
        </p:txBody>
      </p:sp>
      <p:sp>
        <p:nvSpPr>
          <p:cNvPr id="1058" name="" descr="{&quot;isTemplate&quot;:true,&quot;type&quot;:&quot;text&quot;}"/>
          <p:cNvSpPr txBox="1"/>
          <p:nvPr/>
        </p:nvSpPr>
        <p:spPr>
          <a:xfrm rot="0" flipH="0" flipV="0">
            <a:off x="571500" y="2552700"/>
            <a:ext cx="11049000" cy="1409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3300" b="1">
                <a:solidFill>
                  <a:srgbClr val="FEFCF8"/>
                </a:solidFill>
                <a:latin typeface="霞鹜文楷"/>
                <a:ea typeface="霞鹜文楷"/>
              </a:rPr>
              <a:t>有两样东西，愈是思索愈觉神奇：</a:t>
            </a:r>
            <a:r>
              <a:rPr lang="en-US" sz="3300" b="1">
                <a:solidFill>
                  <a:srgbClr val="FEFCF8"/>
                </a:solidFill>
                <a:latin typeface="霞鹜文楷"/>
                <a:ea typeface="霞鹜文楷"/>
              </a:rPr>
              <a:t> </a:t>
            </a:r>
            <a:r>
              <a:rPr lang="zh-CN" sz="3300" b="1">
                <a:solidFill>
                  <a:srgbClr val="FEFCF8"/>
                </a:solidFill>
                <a:latin typeface="霞鹜文楷"/>
                <a:ea typeface="霞鹜文楷"/>
              </a:rPr>
              <a:t>头顶的星空与心中的道德律。</a:t>
            </a:r>
            <a:endParaRPr/>
          </a:p>
        </p:txBody>
      </p:sp>
      <p:sp>
        <p:nvSpPr>
          <p:cNvPr id="1059" name="" descr="{&quot;isTemplate&quot;:true,&quot;type&quot;:&quot;text&quot;}"/>
          <p:cNvSpPr txBox="1"/>
          <p:nvPr/>
        </p:nvSpPr>
        <p:spPr>
          <a:xfrm rot="0" flipH="0" flipV="0">
            <a:off x="571500" y="4267200"/>
            <a:ext cx="11049000" cy="3810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500">
                <a:solidFill>
                  <a:srgbClr val="BBB0AD"/>
                </a:solidFill>
                <a:latin typeface="思源黑体"/>
                <a:ea typeface="思源黑体"/>
              </a:rPr>
              <a:t>星空对应「我能知道什么」，道德律对应「我应当做什么」。这部哲学史，就是在两者之间往返。</a:t>
            </a:r>
            <a:endParaRPr/>
          </a:p>
        </p:txBody>
      </p:sp>
    </p:spTree>
  </p:cSld>
</p:sld>
</file>

<file path=ppt/slides/slide60.xml><?xml version="1.0" encoding="utf-8"?>
<p:sld xmlns:a="http://schemas.openxmlformats.org/drawingml/2006/main" xmlns:p="http://schemas.openxmlformats.org/presentationml/2006/main">
  <p:cSld>
    <p:spTree>
      <p:nvGrpSpPr>
        <p:cNvPr id="10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C1411"/>
          </a:solidFill>
          <a:ln/>
        </p:spPr>
        <p:txBody>
          <a:bodyPr/>
          <a:p>
            <a:pPr/>
            <a:endParaRPr/>
          </a:p>
        </p:txBody>
      </p:sp>
      <p:sp>
        <p:nvSpPr>
          <p:cNvPr id="1068" name=""/>
          <p:cNvSpPr/>
          <p:nvPr/>
        </p:nvSpPr>
        <p:spPr>
          <a:xfrm rot="0" flipH="0" flipV="0">
            <a:off x="571500" y="2619375"/>
            <a:ext cx="914400" cy="38100"/>
          </a:xfrm>
          <a:prstGeom prst="rect">
            <a:avLst/>
          </a:prstGeom>
          <a:solidFill>
            <a:srgbClr val="8FA8A5"/>
          </a:solidFill>
          <a:ln/>
        </p:spPr>
        <p:txBody>
          <a:bodyPr/>
          <a:p>
            <a:pPr/>
            <a:endParaRPr/>
          </a:p>
        </p:txBody>
      </p:sp>
      <p:sp>
        <p:nvSpPr>
          <p:cNvPr id="1069" name="" descr="{&quot;isTemplate&quot;:true,&quot;type&quot;:&quot;text&quot;}"/>
          <p:cNvSpPr txBox="1"/>
          <p:nvPr/>
        </p:nvSpPr>
        <p:spPr>
          <a:xfrm rot="0" flipH="0" flipV="0">
            <a:off x="571500" y="2962275"/>
            <a:ext cx="11049000" cy="676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3150" b="1">
                <a:solidFill>
                  <a:srgbClr val="FEFCF8"/>
                </a:solidFill>
                <a:latin typeface="霞鹜文楷"/>
                <a:ea typeface="霞鹜文楷"/>
              </a:rPr>
              <a:t>哲学留下的不是答案，</a:t>
            </a:r>
            <a:r>
              <a:rPr lang="en-US" sz="3150" b="1">
                <a:solidFill>
                  <a:srgbClr val="FEFCF8"/>
                </a:solidFill>
                <a:latin typeface="霞鹜文楷"/>
                <a:ea typeface="霞鹜文楷"/>
              </a:rPr>
              <a:t> </a:t>
            </a:r>
            <a:r>
              <a:rPr lang="zh-CN" sz="3150" b="1">
                <a:solidFill>
                  <a:srgbClr val="FEFCF8"/>
                </a:solidFill>
                <a:latin typeface="霞鹜文楷"/>
                <a:ea typeface="霞鹜文楷"/>
              </a:rPr>
              <a:t>而是一套继续提问的方式。</a:t>
            </a:r>
            <a:endParaRPr/>
          </a:p>
        </p:txBody>
      </p:sp>
      <p:sp>
        <p:nvSpPr>
          <p:cNvPr id="1070" name="" descr="{&quot;isTemplate&quot;:true,&quot;type&quot;:&quot;text&quot;}"/>
          <p:cNvSpPr txBox="1"/>
          <p:nvPr/>
        </p:nvSpPr>
        <p:spPr>
          <a:xfrm rot="0" flipH="0" flipV="0">
            <a:off x="571500" y="4019550"/>
            <a:ext cx="11049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BBB0AD"/>
                </a:solidFill>
                <a:latin typeface="思源黑体"/>
                <a:ea typeface="思源黑体"/>
              </a:rPr>
              <a:t>《在星空与道德律之间：一部有趣的哲学史》·</a:t>
            </a:r>
            <a:r>
              <a:rPr lang="en-US" sz="1500">
                <a:solidFill>
                  <a:srgbClr val="BBB0AD"/>
                </a:solidFill>
                <a:latin typeface="思源黑体"/>
                <a:ea typeface="思源黑体"/>
              </a:rPr>
              <a:t> </a:t>
            </a:r>
            <a:r>
              <a:rPr lang="zh-CN" sz="1500">
                <a:solidFill>
                  <a:srgbClr val="BBB0AD"/>
                </a:solidFill>
                <a:latin typeface="思源黑体"/>
                <a:ea typeface="思源黑体"/>
              </a:rPr>
              <a:t>教学课件</a:t>
            </a:r>
            <a:r>
              <a:rPr lang="en-US" sz="1500">
                <a:solidFill>
                  <a:srgbClr val="BBB0AD"/>
                </a:solidFill>
                <a:latin typeface="思源黑体"/>
                <a:ea typeface="思源黑体"/>
              </a:rPr>
              <a:t> · </a:t>
            </a:r>
            <a:r>
              <a:rPr lang="zh-CN" sz="1500">
                <a:solidFill>
                  <a:srgbClr val="BBB0AD"/>
                </a:solidFill>
                <a:latin typeface="思源黑体"/>
                <a:ea typeface="思源黑体"/>
              </a:rPr>
              <a:t>共</a:t>
            </a:r>
            <a:r>
              <a:rPr lang="en-US" sz="1500">
                <a:solidFill>
                  <a:srgbClr val="BBB0AD"/>
                </a:solidFill>
                <a:latin typeface="思源黑体"/>
                <a:ea typeface="思源黑体"/>
              </a:rPr>
              <a:t> 60 </a:t>
            </a:r>
            <a:r>
              <a:rPr lang="zh-CN" sz="1500">
                <a:solidFill>
                  <a:srgbClr val="BBB0AD"/>
                </a:solidFill>
                <a:latin typeface="思源黑体"/>
                <a:ea typeface="思源黑体"/>
              </a:rPr>
              <a:t>页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2026-10-30T07:27:40Z</dcterms:created>
  <dcterms:modified xsi:type="dcterms:W3CDTF">2026-10-30T07:27:40Z</dcterms:modified>
</cp:coreProperties>
</file>